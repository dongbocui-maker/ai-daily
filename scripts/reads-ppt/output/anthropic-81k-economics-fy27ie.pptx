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accenture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1783080" y="310896"/>
            <a:ext cx="118872" cy="118872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A100FF"/>
                </a:solidFill>
                <a:latin typeface="Calibri"/>
              </a:rPr>
              <a:t>AI DAILY READS · EXECUTIVE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Economics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44752"/>
            <a:ext cx="11247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4A4A5E"/>
                </a:solidFill>
                <a:latin typeface="Calibri"/>
              </a:rPr>
              <a:t>What 81,000 Claude users told Anthropic about productivity, exposure, and the fear of displacement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228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A100FF"/>
                </a:solidFill>
                <a:latin typeface="Calibri"/>
              </a:rPr>
              <a:t>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6539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6B80"/>
                </a:solidFill>
                <a:latin typeface="Calibri"/>
              </a:rPr>
              <a:t>Copyright © 2026 aidigest.club · AI Daily Reads · Executive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6B6B80"/>
                </a:solidFill>
                <a:latin typeface="Calibri"/>
              </a:rPr>
              <a:t>01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6B80"/>
                </a:solidFill>
                <a:latin typeface="Calibri"/>
              </a:rPr>
              <a:t>Anthropic Economic Index · Massenkoff &amp; Huang ·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91840"/>
            <a:ext cx="2695879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291840"/>
            <a:ext cx="2695879" cy="36576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2695879" cy="8686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460073"/>
                </a:solidFill>
                <a:latin typeface="Calibri"/>
              </a:rPr>
              <a:t>81,000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30819" y="4709160"/>
            <a:ext cx="548640" cy="22860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892040"/>
            <a:ext cx="2421559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4A4A5E"/>
                </a:solidFill>
                <a:latin typeface="Calibri"/>
              </a:rPr>
              <a:t>Sample size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7671" y="3291840"/>
            <a:ext cx="2695879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17671" y="3291840"/>
            <a:ext cx="2695879" cy="36576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7671" y="3611880"/>
            <a:ext cx="2695879" cy="8686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460073"/>
                </a:solidFill>
                <a:latin typeface="Calibri"/>
              </a:rPr>
              <a:t>5.1 / 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1291" y="4709160"/>
            <a:ext cx="548640" cy="22860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4831" y="4892040"/>
            <a:ext cx="2421559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4A4A5E"/>
                </a:solidFill>
                <a:latin typeface="Calibri"/>
              </a:rPr>
              <a:t>Mean productivity rating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8143" y="3291840"/>
            <a:ext cx="2695879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8143" y="3291840"/>
            <a:ext cx="2695879" cy="36576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8143" y="3611880"/>
            <a:ext cx="2695879" cy="8686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460073"/>
                </a:solidFill>
                <a:latin typeface="Calibri"/>
              </a:rPr>
              <a:t>1 in 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51763" y="4709160"/>
            <a:ext cx="548640" cy="22860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5303" y="4892040"/>
            <a:ext cx="2421559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4A4A5E"/>
                </a:solidFill>
                <a:latin typeface="Calibri"/>
              </a:rPr>
              <a:t>Voice displacement concern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38615" y="3291840"/>
            <a:ext cx="2695879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38615" y="3291840"/>
            <a:ext cx="2695879" cy="36576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38615" y="3611880"/>
            <a:ext cx="2695879" cy="8686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 i="0">
                <a:solidFill>
                  <a:srgbClr val="460073"/>
                </a:solidFill>
                <a:latin typeface="Calibri"/>
              </a:rPr>
              <a:t>Open-ended survey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112235" y="4709160"/>
            <a:ext cx="548640" cy="22860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75775" y="4892040"/>
            <a:ext cx="2421559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4A4A5E"/>
                </a:solidFill>
                <a:latin typeface="Calibri"/>
              </a:rPr>
              <a:t>Method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accenture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1783080" y="310896"/>
            <a:ext cx="118872" cy="118872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A100FF"/>
                </a:solidFill>
                <a:latin typeface="Calibri"/>
              </a:rPr>
              <a:t>CONTEXT · 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From What AI Does → To How Users Feel About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44752"/>
            <a:ext cx="11247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4A4A5E"/>
                </a:solidFill>
                <a:latin typeface="Calibri"/>
              </a:rPr>
              <a:t>First large-scale qualitative bridge between observed Claude usage and worker sentiment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228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A100FF"/>
                </a:solidFill>
                <a:latin typeface="Calibri"/>
              </a:rPr>
              <a:t>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6539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6B80"/>
                </a:solidFill>
                <a:latin typeface="Calibri"/>
              </a:rPr>
              <a:t>Copyright © 2026 aidigest.club · AI Daily Reads · Executive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6B6B80"/>
                </a:solidFill>
                <a:latin typeface="Calibri"/>
              </a:rPr>
              <a:t>02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11277295" cy="384048"/>
          </a:xfrm>
          <a:prstGeom prst="rect">
            <a:avLst/>
          </a:prstGeom>
          <a:solidFill>
            <a:srgbClr val="F5EFFA"/>
          </a:solidFill>
          <a:ln w="6350">
            <a:solidFill>
              <a:srgbClr val="E6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91440" cy="384048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920240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50" b="0" i="1">
                <a:solidFill>
                  <a:srgbClr val="460073"/>
                </a:solidFill>
                <a:latin typeface="Calibri"/>
              </a:rPr>
              <a:t>Prior Anthropic work measured what Claude is used for. This survey measures what those users feel.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50592"/>
            <a:ext cx="54864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651760"/>
            <a:ext cx="49743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6B6B80"/>
                </a:solidFill>
                <a:latin typeface="Calibri"/>
              </a:rPr>
              <a:t>FROM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926080"/>
            <a:ext cx="49743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4A4A5E"/>
                </a:solidFill>
                <a:latin typeface="Calibri"/>
              </a:rPr>
              <a:t>What we knew before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474720"/>
            <a:ext cx="4974336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900" b="1" i="0">
                <a:solidFill>
                  <a:srgbClr val="6B6B80"/>
                </a:solidFill>
                <a:latin typeface="Calibri"/>
              </a:rPr>
              <a:t>●  </a:t>
            </a:r>
            <a:r>
              <a:rPr sz="1000" b="0" i="0">
                <a:solidFill>
                  <a:srgbClr val="4A4A5E"/>
                </a:solidFill>
                <a:latin typeface="Calibri"/>
              </a:rPr>
              <a:t>Economic Index: tasks Claude performs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900" b="1" i="0">
                <a:solidFill>
                  <a:srgbClr val="6B6B80"/>
                </a:solidFill>
                <a:latin typeface="Calibri"/>
              </a:rPr>
              <a:t>●  </a:t>
            </a:r>
            <a:r>
              <a:rPr sz="1000" b="0" i="0">
                <a:solidFill>
                  <a:srgbClr val="4A4A5E"/>
                </a:solidFill>
                <a:latin typeface="Calibri"/>
              </a:rPr>
              <a:t>Observed exposure: % of a role's tasks Claude touches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900" b="1" i="0">
                <a:solidFill>
                  <a:srgbClr val="6B6B80"/>
                </a:solidFill>
                <a:latin typeface="Calibri"/>
              </a:rPr>
              <a:t>●  </a:t>
            </a:r>
            <a:r>
              <a:rPr sz="1000" b="0" i="0">
                <a:solidFill>
                  <a:srgbClr val="4A4A5E"/>
                </a:solidFill>
                <a:latin typeface="Calibri"/>
              </a:rPr>
              <a:t>Quantified usage — not perceptions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900" b="1" i="0">
                <a:solidFill>
                  <a:srgbClr val="6B6B80"/>
                </a:solidFill>
                <a:latin typeface="Calibri"/>
              </a:rPr>
              <a:t>●  </a:t>
            </a:r>
            <a:r>
              <a:rPr sz="1000" b="0" i="0">
                <a:solidFill>
                  <a:srgbClr val="4A4A5E"/>
                </a:solidFill>
                <a:latin typeface="Calibri"/>
              </a:rPr>
              <a:t>No causal link to worker sentiment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8095" y="2450592"/>
            <a:ext cx="54864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8095" y="2450592"/>
            <a:ext cx="5486400" cy="36576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04127" y="2651760"/>
            <a:ext cx="49743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A100FF"/>
                </a:solidFill>
                <a:latin typeface="Calibri"/>
              </a:rPr>
              <a:t>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4127" y="2926080"/>
            <a:ext cx="49743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What this study adds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4127" y="3474720"/>
            <a:ext cx="4974336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900" b="1" i="0">
                <a:solidFill>
                  <a:srgbClr val="A100FF"/>
                </a:solidFill>
                <a:latin typeface="Calibri"/>
              </a:rPr>
              <a:t>●  </a:t>
            </a:r>
            <a:r>
              <a:rPr sz="1000" b="0" i="0">
                <a:solidFill>
                  <a:srgbClr val="4A4A5E"/>
                </a:solidFill>
                <a:latin typeface="Calibri"/>
              </a:rPr>
              <a:t>81,000 self-selected Claude users surveyed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900" b="1" i="0">
                <a:solidFill>
                  <a:srgbClr val="A100FF"/>
                </a:solidFill>
                <a:latin typeface="Calibri"/>
              </a:rPr>
              <a:t>●  </a:t>
            </a:r>
            <a:r>
              <a:rPr sz="1000" b="0" i="0">
                <a:solidFill>
                  <a:srgbClr val="4A4A5E"/>
                </a:solidFill>
                <a:latin typeface="Calibri"/>
              </a:rPr>
              <a:t>Open-ended interview inside Claude.ai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900" b="1" i="0">
                <a:solidFill>
                  <a:srgbClr val="A100FF"/>
                </a:solidFill>
                <a:latin typeface="Calibri"/>
              </a:rPr>
              <a:t>●  </a:t>
            </a:r>
            <a:r>
              <a:rPr sz="1000" b="0" i="0">
                <a:solidFill>
                  <a:srgbClr val="4A4A5E"/>
                </a:solidFill>
                <a:latin typeface="Calibri"/>
              </a:rPr>
              <a:t>LLM classifiers extract occupation, sentiment, stage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900" b="1" i="0">
                <a:solidFill>
                  <a:srgbClr val="A100FF"/>
                </a:solidFill>
                <a:latin typeface="Calibri"/>
              </a:rPr>
              <a:t>●  </a:t>
            </a:r>
            <a:r>
              <a:rPr sz="1000" b="0" i="0">
                <a:solidFill>
                  <a:srgbClr val="4A4A5E"/>
                </a:solidFill>
                <a:latin typeface="Calibri"/>
              </a:rPr>
              <a:t>Direct link between exposure data and felt threat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998464"/>
            <a:ext cx="11277295" cy="777240"/>
          </a:xfrm>
          <a:prstGeom prst="rect">
            <a:avLst/>
          </a:prstGeom>
          <a:solidFill>
            <a:srgbClr val="FAFAFC"/>
          </a:solidFill>
          <a:ln w="6350">
            <a:solidFill>
              <a:srgbClr val="D9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089904"/>
            <a:ext cx="375909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460073"/>
                </a:solidFill>
                <a:latin typeface="Calibri"/>
              </a:rPr>
              <a:t>81,000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375909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1">
                <a:solidFill>
                  <a:srgbClr val="4A4A5E"/>
                </a:solidFill>
                <a:latin typeface="Calibri"/>
              </a:rPr>
              <a:t>users surveyed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16298" y="6089904"/>
            <a:ext cx="4572" cy="594360"/>
          </a:xfrm>
          <a:prstGeom prst="rect">
            <a:avLst/>
          </a:prstGeom>
          <a:solidFill>
            <a:srgbClr val="D9D9E3"/>
          </a:solidFill>
          <a:ln w="6350">
            <a:solidFill>
              <a:srgbClr val="D9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16298" y="6089904"/>
            <a:ext cx="375909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460073"/>
                </a:solidFill>
                <a:latin typeface="Calibri"/>
              </a:rPr>
              <a:t>1 –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16298" y="6473952"/>
            <a:ext cx="375909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1">
                <a:solidFill>
                  <a:srgbClr val="4A4A5E"/>
                </a:solidFill>
                <a:latin typeface="Calibri"/>
              </a:rPr>
              <a:t>productivity rating scale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75396" y="6089904"/>
            <a:ext cx="4572" cy="594360"/>
          </a:xfrm>
          <a:prstGeom prst="rect">
            <a:avLst/>
          </a:prstGeom>
          <a:solidFill>
            <a:srgbClr val="D9D9E3"/>
          </a:solidFill>
          <a:ln w="6350">
            <a:solidFill>
              <a:srgbClr val="D9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75396" y="6089904"/>
            <a:ext cx="375909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460073"/>
                </a:solidFill>
                <a:latin typeface="Calibri"/>
              </a:rPr>
              <a:t>Open-ended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75396" y="6473952"/>
            <a:ext cx="375909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1">
                <a:solidFill>
                  <a:srgbClr val="4A4A5E"/>
                </a:solidFill>
                <a:latin typeface="Calibri"/>
              </a:rPr>
              <a:t>interview format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accenture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1783080" y="310896"/>
            <a:ext cx="118872" cy="118872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A100FF"/>
                </a:solidFill>
                <a:latin typeface="Calibri"/>
              </a:rPr>
              <a:t>DECK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Five 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44752"/>
            <a:ext cx="11247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4A4A5E"/>
                </a:solidFill>
                <a:latin typeface="Calibri"/>
              </a:rPr>
              <a:t>What this briefing covers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228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A100FF"/>
                </a:solidFill>
                <a:latin typeface="Calibri"/>
              </a:rPr>
              <a:t>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6539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6B80"/>
                </a:solidFill>
                <a:latin typeface="Calibri"/>
              </a:rPr>
              <a:t>Copyright © 2026 aidigest.club · AI Daily Reads · Executive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6B6B80"/>
                </a:solidFill>
                <a:latin typeface="Calibri"/>
              </a:rPr>
              <a:t>03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2145731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2145731" cy="36576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606040"/>
            <a:ext cx="2145731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460073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74720"/>
            <a:ext cx="1962851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Findings &amp; Trends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01465" y="4251960"/>
            <a:ext cx="457200" cy="18288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389120"/>
            <a:ext cx="1871411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0" i="1">
                <a:solidFill>
                  <a:srgbClr val="4A4A5E"/>
                </a:solidFill>
                <a:latin typeface="Calibri"/>
              </a:rPr>
              <a:t>Three headline patterns from the survey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0091" y="2286000"/>
            <a:ext cx="2145731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0091" y="2286000"/>
            <a:ext cx="2145731" cy="36576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0091" y="2606040"/>
            <a:ext cx="2145731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460073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1531" y="3474720"/>
            <a:ext cx="1962851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Core Views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84356" y="4251960"/>
            <a:ext cx="457200" cy="18288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77251" y="4389120"/>
            <a:ext cx="1871411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0" i="1">
                <a:solidFill>
                  <a:srgbClr val="4A4A5E"/>
                </a:solidFill>
                <a:latin typeface="Calibri"/>
              </a:rPr>
              <a:t>Sentiment tracks exposure · career stage matters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2982" y="2286000"/>
            <a:ext cx="2145731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2982" y="2286000"/>
            <a:ext cx="2145731" cy="36576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2982" y="2606040"/>
            <a:ext cx="2145731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460073"/>
                </a:solidFill>
                <a:latin typeface="Calibr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14422" y="3474720"/>
            <a:ext cx="1962851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Thematic Analysis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67247" y="4251960"/>
            <a:ext cx="457200" cy="18288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60142" y="4389120"/>
            <a:ext cx="1871411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0" i="1">
                <a:solidFill>
                  <a:srgbClr val="4A4A5E"/>
                </a:solidFill>
                <a:latin typeface="Calibri"/>
              </a:rPr>
              <a:t>Who fears AI · who actually benefits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05873" y="2286000"/>
            <a:ext cx="2145731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05873" y="2286000"/>
            <a:ext cx="2145731" cy="36576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05873" y="2606040"/>
            <a:ext cx="2145731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460073"/>
                </a:solidFill>
                <a:latin typeface="Calibr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97313" y="3474720"/>
            <a:ext cx="1962851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Strategic Insights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50138" y="4251960"/>
            <a:ext cx="457200" cy="18288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43033" y="4389120"/>
            <a:ext cx="1871411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0" i="1">
                <a:solidFill>
                  <a:srgbClr val="4A4A5E"/>
                </a:solidFill>
                <a:latin typeface="Calibri"/>
              </a:rPr>
              <a:t>The U-shaped speedup-anxiety paradox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88764" y="2286000"/>
            <a:ext cx="2145731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88764" y="2286000"/>
            <a:ext cx="2145731" cy="36576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88764" y="2606040"/>
            <a:ext cx="2145731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460073"/>
                </a:solidFill>
                <a:latin typeface="Calibri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80204" y="3474720"/>
            <a:ext cx="1962851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Actions &amp; Recommendations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433029" y="4251960"/>
            <a:ext cx="457200" cy="18288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25924" y="4389120"/>
            <a:ext cx="1871411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0" i="1">
                <a:solidFill>
                  <a:srgbClr val="4A4A5E"/>
                </a:solidFill>
                <a:latin typeface="Calibri"/>
              </a:rPr>
              <a:t>Five concrete moves for enterprise leaders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 w="635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accenture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74519" y="347472"/>
            <a:ext cx="118872" cy="118872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2743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 spc="400">
                <a:solidFill>
                  <a:srgbClr val="A100FF"/>
                </a:solidFill>
                <a:latin typeface="Calibri"/>
              </a:rPr>
              <a:t>ACT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400">
                <a:solidFill>
                  <a:srgbClr val="A100FF"/>
                </a:solidFill>
                <a:latin typeface="Calibri"/>
              </a:rPr>
              <a:t>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32004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0" b="1" i="0">
                <a:solidFill>
                  <a:srgbClr val="A100FF"/>
                </a:solidFill>
                <a:latin typeface="Calibri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2194560"/>
            <a:ext cx="18288" cy="3108960"/>
          </a:xfrm>
          <a:prstGeom prst="rect">
            <a:avLst/>
          </a:prstGeom>
          <a:solidFill>
            <a:srgbClr val="E6D7F5"/>
          </a:solidFill>
          <a:ln w="6350">
            <a:solidFill>
              <a:srgbClr val="E6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240280"/>
            <a:ext cx="7315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Findings &amp; Trends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29184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E6D7F5"/>
                </a:solidFill>
                <a:latin typeface="Calibri"/>
              </a:rPr>
              <a:t>What the data shows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3886199"/>
            <a:ext cx="731520" cy="22860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40233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A100FF"/>
                </a:solidFill>
                <a:latin typeface="Calibri"/>
              </a:rPr>
              <a:t>WHAT'S INSIDE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343400"/>
            <a:ext cx="73152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1" i="0">
                <a:solidFill>
                  <a:srgbClr val="A100FF"/>
                </a:solidFill>
                <a:latin typeface="Calibri"/>
              </a:rPr>
              <a:t>●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Exposure correlates with displacement fear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1" i="0">
                <a:solidFill>
                  <a:srgbClr val="A100FF"/>
                </a:solidFill>
                <a:latin typeface="Calibri"/>
              </a:rPr>
              <a:t>●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High AND low wage groups gain the most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1" i="0">
                <a:solidFill>
                  <a:srgbClr val="A100FF"/>
                </a:solidFill>
                <a:latin typeface="Calibri"/>
              </a:rPr>
              <a:t>●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Speedup feels empowering and threatening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565392"/>
            <a:ext cx="228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A100FF"/>
                </a:solidFill>
                <a:latin typeface="Calibri"/>
              </a:rPr>
              <a:t>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56539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E6D7F5"/>
                </a:solidFill>
                <a:latin typeface="Calibri"/>
              </a:rPr>
              <a:t>Copyright © 2026 aidigest.club · AI Daily Reads · Executive Brief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565392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E6D7F5"/>
                </a:solidFill>
                <a:latin typeface="Calibri"/>
              </a:rPr>
              <a:t>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accenture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1783080" y="310896"/>
            <a:ext cx="118872" cy="118872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A100FF"/>
                </a:solidFill>
                <a:latin typeface="Calibri"/>
              </a:rPr>
              <a:t>ACT 01 · 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The Headline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44752"/>
            <a:ext cx="11247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4A4A5E"/>
                </a:solidFill>
                <a:latin typeface="Calibri"/>
              </a:rPr>
              <a:t>Productivity gains are real and large — anxiety scales with exposure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228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A100FF"/>
                </a:solidFill>
                <a:latin typeface="Calibri"/>
              </a:rPr>
              <a:t>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6539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6B80"/>
                </a:solidFill>
                <a:latin typeface="Calibri"/>
              </a:rPr>
              <a:t>Copyright © 2026 aidigest.club · AI Daily Reads · Executive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6B6B80"/>
                </a:solidFill>
                <a:latin typeface="Calibri"/>
              </a:rPr>
              <a:t>05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2716453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011680"/>
            <a:ext cx="2716453" cy="36576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86000"/>
            <a:ext cx="2716453" cy="8686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460073"/>
                </a:solidFill>
                <a:latin typeface="Calibri"/>
              </a:rPr>
              <a:t>5.1 / 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41106" y="3310128"/>
            <a:ext cx="548640" cy="22860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456432"/>
            <a:ext cx="2442133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A1A2E"/>
                </a:solidFill>
                <a:latin typeface="Calibri"/>
              </a:rPr>
              <a:t>Mean productivity rating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023360"/>
            <a:ext cx="2442133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 i="1">
                <a:solidFill>
                  <a:srgbClr val="4A4A5E"/>
                </a:solidFill>
                <a:latin typeface="Calibri"/>
              </a:rPr>
              <a:t>Self-reported on 1–7 scale · 5 ≈ substantially more productive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029200"/>
            <a:ext cx="2442133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i="1">
                <a:solidFill>
                  <a:srgbClr val="6B6B80"/>
                </a:solidFill>
                <a:latin typeface="Calibri"/>
              </a:rPr>
              <a:t>§Who benefits from AI?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10813" y="2011680"/>
            <a:ext cx="2716453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10813" y="2011680"/>
            <a:ext cx="2716453" cy="36576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10813" y="2286000"/>
            <a:ext cx="2716453" cy="8686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460073"/>
                </a:solidFill>
                <a:latin typeface="Calibri"/>
              </a:rPr>
              <a:t>1 in 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94720" y="3310128"/>
            <a:ext cx="548640" cy="22860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47973" y="3456432"/>
            <a:ext cx="2442133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A1A2E"/>
                </a:solidFill>
                <a:latin typeface="Calibri"/>
              </a:rPr>
              <a:t>Voice job-displacement concern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47973" y="4023360"/>
            <a:ext cx="2442133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 i="1">
                <a:solidFill>
                  <a:srgbClr val="4A4A5E"/>
                </a:solidFill>
                <a:latin typeface="Calibri"/>
              </a:rPr>
              <a:t>20% of respondents directly expressed worry about losing their role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47973" y="5029200"/>
            <a:ext cx="2442133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i="1">
                <a:solidFill>
                  <a:srgbClr val="6B6B80"/>
                </a:solidFill>
                <a:latin typeface="Calibri"/>
              </a:rPr>
              <a:t>§Who worries about displacement?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64427" y="2011680"/>
            <a:ext cx="2716453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64427" y="2011680"/>
            <a:ext cx="2716453" cy="36576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64427" y="2286000"/>
            <a:ext cx="2716453" cy="8686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460073"/>
                </a:solidFill>
                <a:latin typeface="Calibri"/>
              </a:rPr>
              <a:t>3×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48334" y="3310128"/>
            <a:ext cx="548640" cy="22860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1587" y="3456432"/>
            <a:ext cx="2442133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A1A2E"/>
                </a:solidFill>
                <a:latin typeface="Calibri"/>
              </a:rPr>
              <a:t>Top vs bottom exposure quartile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1587" y="4023360"/>
            <a:ext cx="2442133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 i="1">
                <a:solidFill>
                  <a:srgbClr val="4A4A5E"/>
                </a:solidFill>
                <a:latin typeface="Calibri"/>
              </a:rPr>
              <a:t>+1.3pt threat per 10pt exposure increase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1587" y="5029200"/>
            <a:ext cx="2442133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i="1">
                <a:solidFill>
                  <a:srgbClr val="6B6B80"/>
                </a:solidFill>
                <a:latin typeface="Calibri"/>
              </a:rPr>
              <a:t>Figure 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18041" y="2011680"/>
            <a:ext cx="2716453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18041" y="2011680"/>
            <a:ext cx="2716453" cy="36576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18041" y="2286000"/>
            <a:ext cx="2716453" cy="8686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200" b="1" i="0">
                <a:solidFill>
                  <a:srgbClr val="460073"/>
                </a:solidFill>
                <a:latin typeface="Calibri"/>
              </a:rPr>
              <a:t>48% · 40%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101948" y="3310128"/>
            <a:ext cx="548640" cy="22860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55201" y="3456432"/>
            <a:ext cx="2442133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A1A2E"/>
                </a:solidFill>
                <a:latin typeface="Calibri"/>
              </a:rPr>
              <a:t>Cite scope · speed gains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55201" y="4023360"/>
            <a:ext cx="2442133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 i="1">
                <a:solidFill>
                  <a:srgbClr val="4A4A5E"/>
                </a:solidFill>
                <a:latin typeface="Calibri"/>
              </a:rPr>
              <a:t>Scope: “I'm a non-tech guy but now I'm a full-stack developer”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55201" y="5029200"/>
            <a:ext cx="2442133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i="1">
                <a:solidFill>
                  <a:srgbClr val="6B6B80"/>
                </a:solidFill>
                <a:latin typeface="Calibri"/>
              </a:rPr>
              <a:t>§Scope and speed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760720"/>
            <a:ext cx="11277295" cy="548640"/>
          </a:xfrm>
          <a:prstGeom prst="rect">
            <a:avLst/>
          </a:prstGeom>
          <a:solidFill>
            <a:srgbClr val="1A1A2E"/>
          </a:solidFill>
          <a:ln w="635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5760720"/>
            <a:ext cx="91440" cy="548640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5760720"/>
            <a:ext cx="1088136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1">
                <a:solidFill>
                  <a:srgbClr val="FFFFFF"/>
                </a:solidFill>
                <a:latin typeface="Calibri"/>
              </a:rPr>
              <a:t>Two stories sit on top of each other: AI makes people meaningfully more productive — and the same people, especially those most exposed, are increasingly nervous about what comes next.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 w="635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accenture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74519" y="347472"/>
            <a:ext cx="118872" cy="118872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2743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 spc="400">
                <a:solidFill>
                  <a:srgbClr val="A100FF"/>
                </a:solidFill>
                <a:latin typeface="Calibri"/>
              </a:rPr>
              <a:t>ACT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400">
                <a:solidFill>
                  <a:srgbClr val="A100FF"/>
                </a:solidFill>
                <a:latin typeface="Calibri"/>
              </a:rPr>
              <a:t>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32004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0" b="1" i="0">
                <a:solidFill>
                  <a:srgbClr val="A100FF"/>
                </a:solidFill>
                <a:latin typeface="Calibri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2194560"/>
            <a:ext cx="18288" cy="3108960"/>
          </a:xfrm>
          <a:prstGeom prst="rect">
            <a:avLst/>
          </a:prstGeom>
          <a:solidFill>
            <a:srgbClr val="E6D7F5"/>
          </a:solidFill>
          <a:ln w="6350">
            <a:solidFill>
              <a:srgbClr val="E6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240280"/>
            <a:ext cx="7315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Core 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29184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E6D7F5"/>
                </a:solidFill>
                <a:latin typeface="Calibri"/>
              </a:rPr>
              <a:t>What the authors are arguing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3886199"/>
            <a:ext cx="731520" cy="22860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40233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A100FF"/>
                </a:solidFill>
                <a:latin typeface="Calibri"/>
              </a:rPr>
              <a:t>WHAT'S INSIDE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343400"/>
            <a:ext cx="73152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1" i="0">
                <a:solidFill>
                  <a:srgbClr val="A100FF"/>
                </a:solidFill>
                <a:latin typeface="Calibri"/>
              </a:rPr>
              <a:t>●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Sentiment tracks observed exposure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1" i="0">
                <a:solidFill>
                  <a:srgbClr val="A100FF"/>
                </a:solidFill>
                <a:latin typeface="Calibri"/>
              </a:rPr>
              <a:t>●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Career stage shapes everything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1" i="0">
                <a:solidFill>
                  <a:srgbClr val="A100FF"/>
                </a:solidFill>
                <a:latin typeface="Calibri"/>
              </a:rPr>
              <a:t>●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Benefits ≠ feeling safe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565392"/>
            <a:ext cx="228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A100FF"/>
                </a:solidFill>
                <a:latin typeface="Calibri"/>
              </a:rPr>
              <a:t>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56539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E6D7F5"/>
                </a:solidFill>
                <a:latin typeface="Calibri"/>
              </a:rPr>
              <a:t>Copyright © 2026 aidigest.club · AI Daily Reads · Executive Brief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565392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E6D7F5"/>
                </a:solidFill>
                <a:latin typeface="Calibri"/>
              </a:rPr>
              <a:t>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accenture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1783080" y="310896"/>
            <a:ext cx="118872" cy="118872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A100FF"/>
                </a:solidFill>
                <a:latin typeface="Calibri"/>
              </a:rPr>
              <a:t>ACT 02 ·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People's Intuitions Match the Usage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44752"/>
            <a:ext cx="11247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4A4A5E"/>
                </a:solidFill>
                <a:latin typeface="Calibri"/>
              </a:rPr>
              <a:t>Worker anxiety is concentrated where Claude is most active — not paranoia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228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A100FF"/>
                </a:solidFill>
                <a:latin typeface="Calibri"/>
              </a:rPr>
              <a:t>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6539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6B80"/>
                </a:solidFill>
                <a:latin typeface="Calibri"/>
              </a:rPr>
              <a:t>Copyright © 2026 aidigest.club · AI Daily Reads · Executive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6B6B80"/>
                </a:solidFill>
                <a:latin typeface="Calibri"/>
              </a:rPr>
              <a:t>07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65960"/>
            <a:ext cx="548640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965960"/>
            <a:ext cx="5486400" cy="36576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75688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A100FF"/>
                </a:solidFill>
                <a:latin typeface="Calibri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34640"/>
            <a:ext cx="48463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4A4A5E"/>
                </a:solidFill>
                <a:latin typeface="Calibri"/>
              </a:rPr>
              <a:t>People's intuitions track the usage data: they worry most about AI's effect in the jobs where we observe Claude doing the most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920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80"/>
                </a:solidFill>
                <a:latin typeface="Calibri"/>
              </a:rPr>
              <a:t>— Anthropic Research · Discussion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8095" y="1965960"/>
            <a:ext cx="548640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8095" y="1965960"/>
            <a:ext cx="5486400" cy="36576"/>
          </a:xfrm>
          <a:prstGeom prst="rect">
            <a:avLst/>
          </a:prstGeom>
          <a:solidFill>
            <a:srgbClr val="00BFA5"/>
          </a:solidFill>
          <a:ln w="6350">
            <a:solidFill>
              <a:srgbClr val="00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0975" y="2075688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00BFA5"/>
                </a:solidFill>
                <a:latin typeface="Calibri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8135" y="2834640"/>
            <a:ext cx="48463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4A4A5E"/>
                </a:solidFill>
                <a:latin typeface="Calibri"/>
              </a:rPr>
              <a:t>Like anyone who has a white collar job these days, I'm 100% concerned, pretty much 24/7 concerned about losing my job eventually to A.I.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8135" y="48920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80"/>
                </a:solidFill>
                <a:latin typeface="Calibri"/>
              </a:rPr>
              <a:t>— Software engineer · survey respondent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577840"/>
            <a:ext cx="11277295" cy="822960"/>
          </a:xfrm>
          <a:prstGeom prst="rect">
            <a:avLst/>
          </a:prstGeom>
          <a:solidFill>
            <a:srgbClr val="1A1A2E"/>
          </a:solidFill>
          <a:ln w="635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577840"/>
            <a:ext cx="109728" cy="822960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577840"/>
            <a:ext cx="10881360" cy="82296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00" b="1" i="0" spc="200">
                <a:solidFill>
                  <a:srgbClr val="A100FF"/>
                </a:solidFill>
                <a:latin typeface="Calibri"/>
              </a:rPr>
              <a:t>WHY THIS MATTERS  ·  </a:t>
            </a:r>
            <a:r>
              <a:rPr sz="1100" b="0" i="1">
                <a:solidFill>
                  <a:srgbClr val="FFFFFF"/>
                </a:solidFill>
                <a:latin typeface="Calibri"/>
              </a:rPr>
              <a:t>Workers can feel the diffusion of AI in their own occupations long before formal labor statistics show displacement. The fear is rational — and concentrated where Claude is most active.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accenture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1783080" y="310896"/>
            <a:ext cx="118872" cy="118872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A100FF"/>
                </a:solidFill>
                <a:latin typeface="Calibri"/>
              </a:rPr>
              <a:t>ACT 02 ·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Three Patterns Behind the Headlines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44752"/>
            <a:ext cx="11247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4A4A5E"/>
                </a:solidFill>
                <a:latin typeface="Calibri"/>
              </a:rPr>
              <a:t>Productivity, threat perception, and benefit flow each follow distinct distributions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228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A100FF"/>
                </a:solidFill>
                <a:latin typeface="Calibri"/>
              </a:rPr>
              <a:t>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6539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6B80"/>
                </a:solidFill>
                <a:latin typeface="Calibri"/>
              </a:rPr>
              <a:t>Copyright © 2026 aidigest.club · AI Daily Reads · Executive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6B6B80"/>
                </a:solidFill>
                <a:latin typeface="Calibri"/>
              </a:rPr>
              <a:t>08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65960"/>
            <a:ext cx="3637178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965960"/>
            <a:ext cx="3637178" cy="36576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167128"/>
            <a:ext cx="317997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A100FF"/>
                </a:solidFill>
                <a:latin typeface="Calibri"/>
              </a:rPr>
              <a:t>PATTERN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441448"/>
            <a:ext cx="317997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1A1A2E"/>
                </a:solidFill>
                <a:latin typeface="Calibri"/>
              </a:rPr>
              <a:t>Exposure → Threat Perception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264408"/>
            <a:ext cx="457200" cy="22860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317997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A4A5E"/>
                </a:solidFill>
                <a:latin typeface="Calibri"/>
              </a:rPr>
              <a:t>The more AI does in your occupation, the more you fear displacement. Linear, measurable, and consistent.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5074920"/>
            <a:ext cx="3179978" cy="1005840"/>
          </a:xfrm>
          <a:prstGeom prst="rect">
            <a:avLst/>
          </a:prstGeom>
          <a:solidFill>
            <a:srgbClr val="F5EFFA"/>
          </a:solidFill>
          <a:ln w="6350">
            <a:solidFill>
              <a:srgbClr val="E6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166360"/>
            <a:ext cx="299709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1" i="0" spc="200">
                <a:solidFill>
                  <a:srgbClr val="A100FF"/>
                </a:solidFill>
                <a:latin typeface="Calibri"/>
              </a:rPr>
              <a:t>EVIDENCE  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00" b="0" i="1">
                <a:solidFill>
                  <a:srgbClr val="460073"/>
                </a:solidFill>
                <a:latin typeface="Calibri"/>
              </a:rPr>
              <a:t>+1.3pt threat per 10pt exposure. Top quartile mentions worry 3× as often as bottom quartile.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153912"/>
            <a:ext cx="317997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6B6B80"/>
                </a:solidFill>
                <a:latin typeface="Calibri"/>
              </a:rPr>
              <a:t>— Figure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7258" y="1965960"/>
            <a:ext cx="3637178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77258" y="1965960"/>
            <a:ext cx="3637178" cy="36576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05858" y="2167128"/>
            <a:ext cx="317997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A100FF"/>
                </a:solidFill>
                <a:latin typeface="Calibri"/>
              </a:rPr>
              <a:t>PATTERN 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5858" y="2441448"/>
            <a:ext cx="317997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1A1A2E"/>
                </a:solidFill>
                <a:latin typeface="Calibri"/>
              </a:rPr>
              <a:t>Wage Distribution Is Bimodal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05858" y="3264408"/>
            <a:ext cx="457200" cy="22860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05858" y="3401568"/>
            <a:ext cx="317997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A4A5E"/>
                </a:solidFill>
                <a:latin typeface="Calibri"/>
              </a:rPr>
              <a:t>Highest- and lowest-wage occupations report the largest productivity gains. Middle-wage gains least.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05858" y="5074920"/>
            <a:ext cx="3179978" cy="1005840"/>
          </a:xfrm>
          <a:prstGeom prst="rect">
            <a:avLst/>
          </a:prstGeom>
          <a:solidFill>
            <a:srgbClr val="F5EFFA"/>
          </a:solidFill>
          <a:ln w="6350">
            <a:solidFill>
              <a:srgbClr val="E6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7298" y="5166360"/>
            <a:ext cx="299709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1" i="0" spc="200">
                <a:solidFill>
                  <a:srgbClr val="A100FF"/>
                </a:solidFill>
                <a:latin typeface="Calibri"/>
              </a:rPr>
              <a:t>EVIDENCE  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00" b="0" i="1">
                <a:solidFill>
                  <a:srgbClr val="460073"/>
                </a:solidFill>
                <a:latin typeface="Calibri"/>
              </a:rPr>
              <a:t>Software developers report top gains — but so do customer service reps building side businesses.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05858" y="6153912"/>
            <a:ext cx="317997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6B6B80"/>
                </a:solidFill>
                <a:latin typeface="Calibri"/>
              </a:rPr>
              <a:t>— Figure 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97316" y="1965960"/>
            <a:ext cx="3637178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97316" y="1965960"/>
            <a:ext cx="3637178" cy="36576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5916" y="2167128"/>
            <a:ext cx="317997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A100FF"/>
                </a:solidFill>
                <a:latin typeface="Calibri"/>
              </a:rPr>
              <a:t>PATTERN 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5916" y="2441448"/>
            <a:ext cx="317997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1A1A2E"/>
                </a:solidFill>
                <a:latin typeface="Calibri"/>
              </a:rPr>
              <a:t>Career Stage Splits Beneficiaries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25916" y="3264408"/>
            <a:ext cx="457200" cy="22860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5916" y="3401568"/>
            <a:ext cx="317997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A4A5E"/>
                </a:solidFill>
                <a:latin typeface="Calibri"/>
              </a:rPr>
              <a:t>Early-career workers are simultaneously more anxious and less confident they personally benefit.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5916" y="5074920"/>
            <a:ext cx="3179978" cy="1005840"/>
          </a:xfrm>
          <a:prstGeom prst="rect">
            <a:avLst/>
          </a:prstGeom>
          <a:solidFill>
            <a:srgbClr val="F5EFFA"/>
          </a:solidFill>
          <a:ln w="6350">
            <a:solidFill>
              <a:srgbClr val="E6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7356" y="5166360"/>
            <a:ext cx="299709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1" i="0" spc="200">
                <a:solidFill>
                  <a:srgbClr val="A100FF"/>
                </a:solidFill>
                <a:latin typeface="Calibri"/>
              </a:rPr>
              <a:t>EVIDENCE  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00" b="0" i="1">
                <a:solidFill>
                  <a:srgbClr val="460073"/>
                </a:solidFill>
                <a:latin typeface="Calibri"/>
              </a:rPr>
              <a:t>Only 60% of early-career say they personally benefit, vs 80% of senior professionals.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5916" y="6153912"/>
            <a:ext cx="317997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6B6B80"/>
                </a:solidFill>
                <a:latin typeface="Calibri"/>
              </a:rPr>
              <a:t>— Figure 2 &amp;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 w="635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accenture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74519" y="347472"/>
            <a:ext cx="118872" cy="118872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2743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 spc="400">
                <a:solidFill>
                  <a:srgbClr val="A100FF"/>
                </a:solidFill>
                <a:latin typeface="Calibri"/>
              </a:rPr>
              <a:t>ACT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400">
                <a:solidFill>
                  <a:srgbClr val="A100FF"/>
                </a:solidFill>
                <a:latin typeface="Calibri"/>
              </a:rPr>
              <a:t>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32004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0" b="1" i="0">
                <a:solidFill>
                  <a:srgbClr val="A100FF"/>
                </a:solidFill>
                <a:latin typeface="Calibri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2194560"/>
            <a:ext cx="18288" cy="3108960"/>
          </a:xfrm>
          <a:prstGeom prst="rect">
            <a:avLst/>
          </a:prstGeom>
          <a:solidFill>
            <a:srgbClr val="E6D7F5"/>
          </a:solidFill>
          <a:ln w="6350">
            <a:solidFill>
              <a:srgbClr val="E6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240280"/>
            <a:ext cx="7315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Thematic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29184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E6D7F5"/>
                </a:solidFill>
                <a:latin typeface="Calibri"/>
              </a:rPr>
              <a:t>How AI restructures who wins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3886199"/>
            <a:ext cx="731520" cy="22860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40233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A100FF"/>
                </a:solidFill>
                <a:latin typeface="Calibri"/>
              </a:rPr>
              <a:t>WHAT'S INSIDE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343400"/>
            <a:ext cx="73152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1" i="0">
                <a:solidFill>
                  <a:srgbClr val="A100FF"/>
                </a:solidFill>
                <a:latin typeface="Calibri"/>
              </a:rPr>
              <a:t>●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Scope before speed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1" i="0">
                <a:solidFill>
                  <a:srgbClr val="A100FF"/>
                </a:solidFill>
                <a:latin typeface="Calibri"/>
              </a:rPr>
              <a:t>●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U-shape: speedup ↔ anxiety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1" i="0">
                <a:solidFill>
                  <a:srgbClr val="A100FF"/>
                </a:solidFill>
                <a:latin typeface="Calibri"/>
              </a:rPr>
              <a:t>●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Beneficiary ≠ 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565392"/>
            <a:ext cx="228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A100FF"/>
                </a:solidFill>
                <a:latin typeface="Calibri"/>
              </a:rPr>
              <a:t>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56539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E6D7F5"/>
                </a:solidFill>
                <a:latin typeface="Calibri"/>
              </a:rPr>
              <a:t>Copyright © 2026 aidigest.club · AI Daily Reads · Executive Brief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565392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E6D7F5"/>
                </a:solidFill>
                <a:latin typeface="Calibri"/>
              </a:rPr>
              <a:t>09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accenture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1783080" y="310896"/>
            <a:ext cx="118872" cy="118872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A100FF"/>
                </a:solidFill>
                <a:latin typeface="Calibri"/>
              </a:rPr>
              <a:t>ACT 03 · THEME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Scope and Speed — Not Just Speed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44752"/>
            <a:ext cx="11247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4A4A5E"/>
                </a:solidFill>
                <a:latin typeface="Calibri"/>
              </a:rPr>
              <a:t>Most users describe AI unlocking new abilities, not just faster 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228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A100FF"/>
                </a:solidFill>
                <a:latin typeface="Calibri"/>
              </a:rPr>
              <a:t>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6539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6B80"/>
                </a:solidFill>
                <a:latin typeface="Calibri"/>
              </a:rPr>
              <a:t>Copyright © 2026 aidigest.club · AI Daily Reads · Executive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6B6B80"/>
                </a:solidFill>
                <a:latin typeface="Calibri"/>
              </a:rPr>
              <a:t>10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65960"/>
            <a:ext cx="548640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965960"/>
            <a:ext cx="5486400" cy="36576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167128"/>
            <a:ext cx="49743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A100FF"/>
                </a:solidFill>
                <a:latin typeface="Calibri"/>
              </a:rPr>
              <a:t>SCOPE · 48%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459736"/>
            <a:ext cx="497433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A1A2E"/>
                </a:solidFill>
                <a:latin typeface="Calibri"/>
              </a:rPr>
              <a:t>Access to new capabilities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3008376"/>
            <a:ext cx="457200" cy="22860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145536"/>
            <a:ext cx="4974336" cy="2112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950" b="1" i="0">
                <a:solidFill>
                  <a:srgbClr val="A100FF"/>
                </a:solidFill>
                <a:latin typeface="Calibri"/>
              </a:rPr>
              <a:t>●  </a:t>
            </a:r>
            <a:r>
              <a:rPr sz="1000" b="0" i="0">
                <a:solidFill>
                  <a:srgbClr val="4A4A5E"/>
                </a:solidFill>
                <a:latin typeface="Calibri"/>
              </a:rPr>
              <a:t>“I'm a non-tech guy but now I'm a full-stack developer”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950" b="1" i="0">
                <a:solidFill>
                  <a:srgbClr val="A100FF"/>
                </a:solidFill>
                <a:latin typeface="Calibri"/>
              </a:rPr>
              <a:t>●  </a:t>
            </a:r>
            <a:r>
              <a:rPr sz="1000" b="0" i="0">
                <a:solidFill>
                  <a:srgbClr val="4A4A5E"/>
                </a:solidFill>
                <a:latin typeface="Calibri"/>
              </a:rPr>
              <a:t>Customer service rep starts e-commerce business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950" b="1" i="0">
                <a:solidFill>
                  <a:srgbClr val="A100FF"/>
                </a:solidFill>
                <a:latin typeface="Calibri"/>
              </a:rPr>
              <a:t>●  </a:t>
            </a:r>
            <a:r>
              <a:rPr sz="1000" b="0" i="0">
                <a:solidFill>
                  <a:srgbClr val="4A4A5E"/>
                </a:solidFill>
                <a:latin typeface="Calibri"/>
              </a:rPr>
              <a:t>Landscaper builds a music application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950" b="1" i="0">
                <a:solidFill>
                  <a:srgbClr val="A100FF"/>
                </a:solidFill>
                <a:latin typeface="Calibri"/>
              </a:rPr>
              <a:t>●  </a:t>
            </a:r>
            <a:r>
              <a:rPr sz="1000" b="0" i="0">
                <a:solidFill>
                  <a:srgbClr val="4A4A5E"/>
                </a:solidFill>
                <a:latin typeface="Calibri"/>
              </a:rPr>
              <a:t>Users attempt tasks they could not do before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8095" y="1965960"/>
            <a:ext cx="548640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8095" y="1965960"/>
            <a:ext cx="5486400" cy="36576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4127" y="2167128"/>
            <a:ext cx="49743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A100FF"/>
                </a:solidFill>
                <a:latin typeface="Calibri"/>
              </a:rPr>
              <a:t>SPEED · 40%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4127" y="2459736"/>
            <a:ext cx="497433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A1A2E"/>
                </a:solidFill>
                <a:latin typeface="Calibri"/>
              </a:rPr>
              <a:t>Faster execution of existing work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04127" y="3008376"/>
            <a:ext cx="457200" cy="22860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4127" y="3145536"/>
            <a:ext cx="4974336" cy="2112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950" b="1" i="0">
                <a:solidFill>
                  <a:srgbClr val="A100FF"/>
                </a:solidFill>
                <a:latin typeface="Calibri"/>
              </a:rPr>
              <a:t>●  </a:t>
            </a:r>
            <a:r>
              <a:rPr sz="1000" b="0" i="0">
                <a:solidFill>
                  <a:srgbClr val="4A4A5E"/>
                </a:solidFill>
                <a:latin typeface="Calibri"/>
              </a:rPr>
              <a:t>“15 minutes that used to take 2 hours” — accountant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950" b="1" i="0">
                <a:solidFill>
                  <a:srgbClr val="A100FF"/>
                </a:solidFill>
                <a:latin typeface="Calibri"/>
              </a:rPr>
              <a:t>●  </a:t>
            </a:r>
            <a:r>
              <a:rPr sz="1000" b="0" i="0">
                <a:solidFill>
                  <a:srgbClr val="4A4A5E"/>
                </a:solidFill>
                <a:latin typeface="Calibri"/>
              </a:rPr>
              <a:t>Faster code reviews, contract checks, paperwork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950" b="1" i="0">
                <a:solidFill>
                  <a:srgbClr val="A100FF"/>
                </a:solidFill>
                <a:latin typeface="Calibri"/>
              </a:rPr>
              <a:t>●  </a:t>
            </a:r>
            <a:r>
              <a:rPr sz="1000" b="0" i="0">
                <a:solidFill>
                  <a:srgbClr val="4A4A5E"/>
                </a:solidFill>
                <a:latin typeface="Calibri"/>
              </a:rPr>
              <a:t>Quality gains via more thorough verification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950" b="1" i="0">
                <a:solidFill>
                  <a:srgbClr val="A100FF"/>
                </a:solidFill>
                <a:latin typeface="Calibri"/>
              </a:rPr>
              <a:t>●  </a:t>
            </a:r>
            <a:r>
              <a:rPr sz="1000" b="0" i="0">
                <a:solidFill>
                  <a:srgbClr val="4A4A5E"/>
                </a:solidFill>
                <a:latin typeface="Calibri"/>
              </a:rPr>
              <a:t>Cost gains: replace work that exceeded budget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577840"/>
            <a:ext cx="11277295" cy="777240"/>
          </a:xfrm>
          <a:prstGeom prst="rect">
            <a:avLst/>
          </a:prstGeom>
          <a:solidFill>
            <a:srgbClr val="1A1A2E"/>
          </a:solidFill>
          <a:ln w="635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5577840"/>
            <a:ext cx="109728" cy="777240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577840"/>
            <a:ext cx="10881360" cy="77724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00" b="1" i="0" spc="200">
                <a:solidFill>
                  <a:srgbClr val="A100FF"/>
                </a:solidFill>
                <a:latin typeface="Calibri"/>
              </a:rPr>
              <a:t>WHY THIS MATTERS  ·  </a:t>
            </a:r>
            <a:r>
              <a:rPr sz="1100" b="0" i="1">
                <a:solidFill>
                  <a:srgbClr val="FFFFFF"/>
                </a:solidFill>
                <a:latin typeface="Calibri"/>
              </a:rPr>
              <a:t>AI is not just an efficiency tool — for many users, it is an access tool. The distinction shapes who gains and how.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11277295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6B6B80"/>
                </a:solidFill>
                <a:latin typeface="Calibri"/>
              </a:rPr>
              <a:t>Source: §Scope and speed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accenture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1783080" y="310896"/>
            <a:ext cx="118872" cy="118872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A100FF"/>
                </a:solidFill>
                <a:latin typeface="Calibri"/>
              </a:rPr>
              <a:t>ACT 03 · THEME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Speedup and Anxiety Form a U-Shape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44752"/>
            <a:ext cx="11247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4A4A5E"/>
                </a:solidFill>
                <a:latin typeface="Calibri"/>
              </a:rPr>
              <a:t>Both extremes — being slowed down and being sped up the most — correlate with the highest job threat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228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A100FF"/>
                </a:solidFill>
                <a:latin typeface="Calibri"/>
              </a:rPr>
              <a:t>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6539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6B80"/>
                </a:solidFill>
                <a:latin typeface="Calibri"/>
              </a:rPr>
              <a:t>Copyright © 2026 aidigest.club · AI Daily Reads · Executive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6B6B80"/>
                </a:solidFill>
                <a:latin typeface="Calibri"/>
              </a:rPr>
              <a:t>11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65960"/>
            <a:ext cx="548640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965960"/>
            <a:ext cx="5486400" cy="36576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167128"/>
            <a:ext cx="49743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A100FF"/>
                </a:solidFill>
                <a:latin typeface="Calibri"/>
              </a:rPr>
              <a:t>LEFT 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459736"/>
            <a:ext cx="497433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A1A2E"/>
                </a:solidFill>
                <a:latin typeface="Calibri"/>
              </a:rPr>
              <a:t>Slowed-down users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3008376"/>
            <a:ext cx="457200" cy="22860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145536"/>
            <a:ext cx="4974336" cy="2112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950" b="1" i="0">
                <a:solidFill>
                  <a:srgbClr val="A100FF"/>
                </a:solidFill>
                <a:latin typeface="Calibri"/>
              </a:rPr>
              <a:t>●  </a:t>
            </a:r>
            <a:r>
              <a:rPr sz="1000" b="0" i="0">
                <a:solidFill>
                  <a:srgbClr val="4A4A5E"/>
                </a:solidFill>
                <a:latin typeface="Calibri"/>
              </a:rPr>
              <a:t>Creative workers find AI stifling and rigid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950" b="1" i="0">
                <a:solidFill>
                  <a:srgbClr val="A100FF"/>
                </a:solidFill>
                <a:latin typeface="Calibri"/>
              </a:rPr>
              <a:t>●  </a:t>
            </a:r>
            <a:r>
              <a:rPr sz="1000" b="0" i="0">
                <a:solidFill>
                  <a:srgbClr val="4A4A5E"/>
                </a:solidFill>
                <a:latin typeface="Calibri"/>
              </a:rPr>
              <a:t>Still fear AI diffusion into their field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950" b="1" i="0">
                <a:solidFill>
                  <a:srgbClr val="A100FF"/>
                </a:solidFill>
                <a:latin typeface="Calibri"/>
              </a:rPr>
              <a:t>●  </a:t>
            </a:r>
            <a:r>
              <a:rPr sz="1000" b="0" i="0">
                <a:solidFill>
                  <a:srgbClr val="4A4A5E"/>
                </a:solidFill>
                <a:latin typeface="Calibri"/>
              </a:rPr>
              <a:t>Examples: fine artists, certain writers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950" b="1" i="0">
                <a:solidFill>
                  <a:srgbClr val="A100FF"/>
                </a:solidFill>
                <a:latin typeface="Calibri"/>
              </a:rPr>
              <a:t>●  </a:t>
            </a:r>
            <a:r>
              <a:rPr sz="1000" b="0" i="0">
                <a:solidFill>
                  <a:srgbClr val="4A4A5E"/>
                </a:solidFill>
                <a:latin typeface="Calibri"/>
              </a:rPr>
              <a:t>Highest threat perception among groups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8095" y="1965960"/>
            <a:ext cx="548640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8095" y="1965960"/>
            <a:ext cx="5486400" cy="36576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4127" y="2167128"/>
            <a:ext cx="49743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A100FF"/>
                </a:solidFill>
                <a:latin typeface="Calibri"/>
              </a:rPr>
              <a:t>RIGHT TAIL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4127" y="2459736"/>
            <a:ext cx="497433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A1A2E"/>
                </a:solidFill>
                <a:latin typeface="Calibri"/>
              </a:rPr>
              <a:t>Sped-up users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04127" y="3008376"/>
            <a:ext cx="457200" cy="22860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4127" y="3145536"/>
            <a:ext cx="4974336" cy="2112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950" b="1" i="0">
                <a:solidFill>
                  <a:srgbClr val="A100FF"/>
                </a:solidFill>
                <a:latin typeface="Calibri"/>
              </a:rPr>
              <a:t>●  </a:t>
            </a:r>
            <a:r>
              <a:rPr sz="1000" b="0" i="0">
                <a:solidFill>
                  <a:srgbClr val="4A4A5E"/>
                </a:solidFill>
                <a:latin typeface="Calibri"/>
              </a:rPr>
              <a:t>Largest measured productivity gains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950" b="1" i="0">
                <a:solidFill>
                  <a:srgbClr val="A100FF"/>
                </a:solidFill>
                <a:latin typeface="Calibri"/>
              </a:rPr>
              <a:t>●  </a:t>
            </a:r>
            <a:r>
              <a:rPr sz="1000" b="0" i="0">
                <a:solidFill>
                  <a:srgbClr val="4A4A5E"/>
                </a:solidFill>
                <a:latin typeface="Calibri"/>
              </a:rPr>
              <a:t>Above-baseline threat perception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950" b="1" i="0">
                <a:solidFill>
                  <a:srgbClr val="A100FF"/>
                </a:solidFill>
                <a:latin typeface="Calibri"/>
              </a:rPr>
              <a:t>●  </a:t>
            </a:r>
            <a:r>
              <a:rPr sz="1000" b="0" i="0">
                <a:solidFill>
                  <a:srgbClr val="4A4A5E"/>
                </a:solidFill>
                <a:latin typeface="Calibri"/>
              </a:rPr>
              <a:t>Logic: if tasks shrink rapidly, what is left?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950" b="1" i="0">
                <a:solidFill>
                  <a:srgbClr val="A100FF"/>
                </a:solidFill>
                <a:latin typeface="Calibri"/>
              </a:rPr>
              <a:t>●  </a:t>
            </a:r>
            <a:r>
              <a:rPr sz="1000" b="0" i="0">
                <a:solidFill>
                  <a:srgbClr val="4A4A5E"/>
                </a:solidFill>
                <a:latin typeface="Calibri"/>
              </a:rPr>
              <a:t>Speed gain does not equal job security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577840"/>
            <a:ext cx="11277295" cy="777240"/>
          </a:xfrm>
          <a:prstGeom prst="rect">
            <a:avLst/>
          </a:prstGeom>
          <a:solidFill>
            <a:srgbClr val="1A1A2E"/>
          </a:solidFill>
          <a:ln w="635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5577840"/>
            <a:ext cx="109728" cy="777240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577840"/>
            <a:ext cx="10881360" cy="77724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00" b="1" i="0" spc="200">
                <a:solidFill>
                  <a:srgbClr val="A100FF"/>
                </a:solidFill>
                <a:latin typeface="Calibri"/>
              </a:rPr>
              <a:t>STRATEGIC IMPLICATION  ·  </a:t>
            </a:r>
            <a:r>
              <a:rPr sz="1100" b="0" i="1">
                <a:solidFill>
                  <a:srgbClr val="FFFFFF"/>
                </a:solidFill>
                <a:latin typeface="Calibri"/>
              </a:rPr>
              <a:t>The narrative “AI just makes good workers more productive” misses half the story. The most-empowered users are also the most worried.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11277295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6B6B80"/>
                </a:solidFill>
                <a:latin typeface="Calibri"/>
              </a:rPr>
              <a:t>Source: Figure 6 · U-shaped relationship between speedup level and perceived job threat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 w="635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accenture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74519" y="347472"/>
            <a:ext cx="118872" cy="118872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2743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 spc="400">
                <a:solidFill>
                  <a:srgbClr val="A100FF"/>
                </a:solidFill>
                <a:latin typeface="Calibri"/>
              </a:rPr>
              <a:t>ACT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400">
                <a:solidFill>
                  <a:srgbClr val="A100FF"/>
                </a:solidFill>
                <a:latin typeface="Calibri"/>
              </a:rPr>
              <a:t>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32004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0" b="1" i="0">
                <a:solidFill>
                  <a:srgbClr val="A100FF"/>
                </a:solidFill>
                <a:latin typeface="Calibri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2194560"/>
            <a:ext cx="18288" cy="3108960"/>
          </a:xfrm>
          <a:prstGeom prst="rect">
            <a:avLst/>
          </a:prstGeom>
          <a:solidFill>
            <a:srgbClr val="E6D7F5"/>
          </a:solidFill>
          <a:ln w="6350">
            <a:solidFill>
              <a:srgbClr val="E6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240280"/>
            <a:ext cx="7315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Strategic 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29184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E6D7F5"/>
                </a:solidFill>
                <a:latin typeface="Calibri"/>
              </a:rPr>
              <a:t>Hidden structural risks behind the positive top-line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3886199"/>
            <a:ext cx="731520" cy="22860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40233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A100FF"/>
                </a:solidFill>
                <a:latin typeface="Calibri"/>
              </a:rPr>
              <a:t>WHAT'S INSIDE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343400"/>
            <a:ext cx="73152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1" i="0">
                <a:solidFill>
                  <a:srgbClr val="A100FF"/>
                </a:solidFill>
                <a:latin typeface="Calibri"/>
              </a:rPr>
              <a:t>●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Beneficiary capture by employers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1" i="0">
                <a:solidFill>
                  <a:srgbClr val="A100FF"/>
                </a:solidFill>
                <a:latin typeface="Calibri"/>
              </a:rPr>
              <a:t>●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Early-career squeeze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1" i="0">
                <a:solidFill>
                  <a:srgbClr val="A100FF"/>
                </a:solidFill>
                <a:latin typeface="Calibri"/>
              </a:rPr>
              <a:t>●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Bargaining power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565392"/>
            <a:ext cx="228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A100FF"/>
                </a:solidFill>
                <a:latin typeface="Calibri"/>
              </a:rPr>
              <a:t>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56539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E6D7F5"/>
                </a:solidFill>
                <a:latin typeface="Calibri"/>
              </a:rPr>
              <a:t>Copyright © 2026 aidigest.club · AI Daily Reads · Executive Brief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565392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E6D7F5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accenture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1783080" y="310896"/>
            <a:ext cx="118872" cy="118872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A100FF"/>
                </a:solidFill>
                <a:latin typeface="Calibri"/>
              </a:rPr>
              <a:t>ACT 04 ·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Two Long-Term Structural Risks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44752"/>
            <a:ext cx="11247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4A4A5E"/>
                </a:solidFill>
                <a:latin typeface="Calibri"/>
              </a:rPr>
              <a:t>Today's positive sentiment hides questions about who actually captures the gains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228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A100FF"/>
                </a:solidFill>
                <a:latin typeface="Calibri"/>
              </a:rPr>
              <a:t>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6539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6B80"/>
                </a:solidFill>
                <a:latin typeface="Calibri"/>
              </a:rPr>
              <a:t>Copyright © 2026 aidigest.club · AI Daily Reads · Executive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6B6B80"/>
                </a:solidFill>
                <a:latin typeface="Calibri"/>
              </a:rPr>
              <a:t>13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65960"/>
            <a:ext cx="5486400" cy="425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965960"/>
            <a:ext cx="5486400" cy="36576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2167128"/>
            <a:ext cx="873252" cy="292608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167128"/>
            <a:ext cx="87325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 spc="200">
                <a:solidFill>
                  <a:srgbClr val="FFFFFF"/>
                </a:solidFill>
                <a:latin typeface="Calibri"/>
              </a:rPr>
              <a:t>RISK 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624328"/>
            <a:ext cx="49743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1A1A2E"/>
                </a:solidFill>
                <a:latin typeface="Calibri"/>
              </a:rPr>
              <a:t>Beneficiary Capture by Employers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337560"/>
            <a:ext cx="497433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4A4A5E"/>
                </a:solidFill>
                <a:latin typeface="Calibri"/>
              </a:rPr>
              <a:t>Most workers say benefits flow to themselves — but a meaningful share report employers extracting the gains.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4389120"/>
            <a:ext cx="4974336" cy="777240"/>
          </a:xfrm>
          <a:prstGeom prst="rect">
            <a:avLst/>
          </a:prstGeom>
          <a:solidFill>
            <a:srgbClr val="F5EFFA"/>
          </a:solidFill>
          <a:ln w="6350">
            <a:solidFill>
              <a:srgbClr val="E6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462272"/>
            <a:ext cx="4791456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1" i="0" spc="200">
                <a:solidFill>
                  <a:srgbClr val="A100FF"/>
                </a:solidFill>
                <a:latin typeface="Calibri"/>
              </a:rPr>
              <a:t>SIGNAL IN THE DATA  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950" b="0" i="1">
                <a:solidFill>
                  <a:srgbClr val="460073"/>
                </a:solidFill>
                <a:latin typeface="Calibri"/>
              </a:rPr>
              <a:t>10% of respondents who named a beneficiary said their employer or clients were the ones getting more work from them.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5257800"/>
            <a:ext cx="457200" cy="18288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349240"/>
            <a:ext cx="497433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900" b="1" i="1">
                <a:solidFill>
                  <a:srgbClr val="A100FF"/>
                </a:solidFill>
                <a:latin typeface="Calibri"/>
              </a:rPr>
              <a:t>Implication:  </a:t>
            </a:r>
            <a:r>
              <a:rPr sz="950" b="0" i="1">
                <a:solidFill>
                  <a:srgbClr val="4A4A5E"/>
                </a:solidFill>
                <a:latin typeface="Calibri"/>
              </a:rPr>
              <a:t>Productivity gain ≠ wage gain. Without bargaining power, the surplus accrues to firms, not workers.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095" y="1965960"/>
            <a:ext cx="5486400" cy="425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48095" y="1965960"/>
            <a:ext cx="5486400" cy="36576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04127" y="2167128"/>
            <a:ext cx="873252" cy="292608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4127" y="2167128"/>
            <a:ext cx="87325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 spc="200">
                <a:solidFill>
                  <a:srgbClr val="FFFFFF"/>
                </a:solidFill>
                <a:latin typeface="Calibri"/>
              </a:rPr>
              <a:t>RISK 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4127" y="2624328"/>
            <a:ext cx="49743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1A1A2E"/>
                </a:solidFill>
                <a:latin typeface="Calibri"/>
              </a:rPr>
              <a:t>Early-Career Squeeze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4127" y="3337560"/>
            <a:ext cx="497433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4A4A5E"/>
                </a:solidFill>
                <a:latin typeface="Calibri"/>
              </a:rPr>
              <a:t>The cohort with the most anxiety is also the cohort least confident they personally benefit — a structural mismatch.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04127" y="4389120"/>
            <a:ext cx="4974336" cy="777240"/>
          </a:xfrm>
          <a:prstGeom prst="rect">
            <a:avLst/>
          </a:prstGeom>
          <a:solidFill>
            <a:srgbClr val="F5EFFA"/>
          </a:solidFill>
          <a:ln w="6350">
            <a:solidFill>
              <a:srgbClr val="E6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95567" y="4462272"/>
            <a:ext cx="4791456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1" i="0" spc="200">
                <a:solidFill>
                  <a:srgbClr val="A100FF"/>
                </a:solidFill>
                <a:latin typeface="Calibri"/>
              </a:rPr>
              <a:t>AUTHOR FRAMING  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950" b="0" i="1">
                <a:solidFill>
                  <a:srgbClr val="460073"/>
                </a:solidFill>
                <a:latin typeface="Calibri"/>
              </a:rPr>
              <a:t>Only 60% of early-career workers see themselves benefiting (vs 80% of senior). Hiring of recent grads already slowing in the U.S.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04127" y="5257800"/>
            <a:ext cx="457200" cy="18288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04127" y="5349240"/>
            <a:ext cx="497433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900" b="1" i="1">
                <a:solidFill>
                  <a:srgbClr val="A100FF"/>
                </a:solidFill>
                <a:latin typeface="Calibri"/>
              </a:rPr>
              <a:t>Implication:  </a:t>
            </a:r>
            <a:r>
              <a:rPr sz="950" b="0" i="1">
                <a:solidFill>
                  <a:srgbClr val="4A4A5E"/>
                </a:solidFill>
                <a:latin typeface="Calibri"/>
              </a:rPr>
              <a:t>The traditional ‘climb the ladder’ career path may be eroding from the bottom rungs first.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355080"/>
            <a:ext cx="11277295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1">
                <a:solidFill>
                  <a:srgbClr val="6B6B80"/>
                </a:solidFill>
                <a:latin typeface="Calibri"/>
              </a:rPr>
              <a:t>Source: Figure 4 · Discussion section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 w="635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accenture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74519" y="347472"/>
            <a:ext cx="118872" cy="118872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2743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 spc="400">
                <a:solidFill>
                  <a:srgbClr val="A100FF"/>
                </a:solidFill>
                <a:latin typeface="Calibri"/>
              </a:rPr>
              <a:t>ACT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400">
                <a:solidFill>
                  <a:srgbClr val="A100FF"/>
                </a:solidFill>
                <a:latin typeface="Calibri"/>
              </a:rPr>
              <a:t>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32004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0" b="1" i="0">
                <a:solidFill>
                  <a:srgbClr val="A100FF"/>
                </a:solidFill>
                <a:latin typeface="Calibri"/>
              </a:rP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2194560"/>
            <a:ext cx="18288" cy="3108960"/>
          </a:xfrm>
          <a:prstGeom prst="rect">
            <a:avLst/>
          </a:prstGeom>
          <a:solidFill>
            <a:srgbClr val="E6D7F5"/>
          </a:solidFill>
          <a:ln w="6350">
            <a:solidFill>
              <a:srgbClr val="E6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240280"/>
            <a:ext cx="7315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Actions &amp; Recommendations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29184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E6D7F5"/>
                </a:solidFill>
                <a:latin typeface="Calibri"/>
              </a:rPr>
              <a:t>What enterprise leaders should do now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3886199"/>
            <a:ext cx="731520" cy="22860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40233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A100FF"/>
                </a:solidFill>
                <a:latin typeface="Calibri"/>
              </a:rPr>
              <a:t>WHAT'S INSIDE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343400"/>
            <a:ext cx="73152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1" i="0">
                <a:solidFill>
                  <a:srgbClr val="A100FF"/>
                </a:solidFill>
                <a:latin typeface="Calibri"/>
              </a:rPr>
              <a:t>●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Map internal exposure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1" i="0">
                <a:solidFill>
                  <a:srgbClr val="A100FF"/>
                </a:solidFill>
                <a:latin typeface="Calibri"/>
              </a:rPr>
              <a:t>●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Reframe AI as access tool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1" i="0">
                <a:solidFill>
                  <a:srgbClr val="A100FF"/>
                </a:solidFill>
                <a:latin typeface="Calibri"/>
              </a:rPr>
              <a:t>●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Share productivity upside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565392"/>
            <a:ext cx="228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A100FF"/>
                </a:solidFill>
                <a:latin typeface="Calibri"/>
              </a:rPr>
              <a:t>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56539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E6D7F5"/>
                </a:solidFill>
                <a:latin typeface="Calibri"/>
              </a:rPr>
              <a:t>Copyright © 2026 aidigest.club · AI Daily Reads · Executive Brief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565392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E6D7F5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accenture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1783080" y="310896"/>
            <a:ext cx="118872" cy="118872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A100FF"/>
                </a:solidFill>
                <a:latin typeface="Calibri"/>
              </a:rPr>
              <a:t>ACT 05 · PLAYBOOK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Five Moves for Enterprise Leaders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44752"/>
            <a:ext cx="11247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4A4A5E"/>
                </a:solidFill>
                <a:latin typeface="Calibri"/>
              </a:rPr>
              <a:t>Workers' fear of AI is rational and predictable — you can act on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228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A100FF"/>
                </a:solidFill>
                <a:latin typeface="Calibri"/>
              </a:rPr>
              <a:t>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6539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6B80"/>
                </a:solidFill>
                <a:latin typeface="Calibri"/>
              </a:rPr>
              <a:t>Copyright © 2026 aidigest.club · AI Daily Reads · Executive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6B6B80"/>
                </a:solidFill>
                <a:latin typeface="Calibri"/>
              </a:rPr>
              <a:t>15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11277295" cy="384048"/>
          </a:xfrm>
          <a:prstGeom prst="rect">
            <a:avLst/>
          </a:prstGeom>
          <a:solidFill>
            <a:srgbClr val="1A1A2E"/>
          </a:solidFill>
          <a:ln w="635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50292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1" i="0" spc="20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011680"/>
            <a:ext cx="278892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50" b="1" i="0" spc="200">
                <a:solidFill>
                  <a:srgbClr val="FFFFFF"/>
                </a:solidFill>
                <a:latin typeface="Calibri"/>
              </a:rPr>
              <a:t>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011680"/>
            <a:ext cx="416052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50" b="1" i="0" spc="200">
                <a:solidFill>
                  <a:srgbClr val="FFFFFF"/>
                </a:solidFill>
                <a:latin typeface="Calibri"/>
              </a:rPr>
              <a:t>WHAT TO 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011680"/>
            <a:ext cx="3413455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50" b="1" i="0" spc="200">
                <a:solidFill>
                  <a:srgbClr val="FFFFFF"/>
                </a:solidFill>
                <a:latin typeface="Calibri"/>
              </a:rPr>
              <a:t>EXPECTED VALUE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95728"/>
            <a:ext cx="11277295" cy="79187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395728"/>
            <a:ext cx="502920" cy="7918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A100FF"/>
                </a:solidFill>
                <a:latin typeface="Calibr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395728"/>
            <a:ext cx="2743200" cy="79187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>
                <a:solidFill>
                  <a:srgbClr val="1A1A2E"/>
                </a:solidFill>
                <a:latin typeface="Calibri"/>
              </a:rPr>
              <a:t>Measure Exposure Internally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2395728"/>
            <a:ext cx="4114800" cy="79187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4A4A5E"/>
                </a:solidFill>
                <a:latin typeface="Calibri"/>
              </a:rPr>
              <a:t>Build your own observed-exposure map: % of each role's tasks done by AI today.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395728"/>
            <a:ext cx="3367735" cy="79187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460073"/>
                </a:solidFill>
                <a:latin typeface="Calibri"/>
              </a:rPr>
              <a:t>Identify which teams will feel threatened first · prioritize change management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187598"/>
            <a:ext cx="11277295" cy="791870"/>
          </a:xfrm>
          <a:prstGeom prst="rect">
            <a:avLst/>
          </a:prstGeom>
          <a:solidFill>
            <a:srgbClr val="FAFAFC"/>
          </a:solidFill>
          <a:ln w="6350">
            <a:solidFill>
              <a:srgbClr val="D9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187598"/>
            <a:ext cx="502920" cy="7918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A100FF"/>
                </a:solidFill>
                <a:latin typeface="Calibr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187598"/>
            <a:ext cx="2743200" cy="79187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>
                <a:solidFill>
                  <a:srgbClr val="1A1A2E"/>
                </a:solidFill>
                <a:latin typeface="Calibri"/>
              </a:rPr>
              <a:t>Focus on Scope, Not Just Speed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3187598"/>
            <a:ext cx="4114800" cy="79187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4A4A5E"/>
                </a:solidFill>
                <a:latin typeface="Calibri"/>
              </a:rPr>
              <a:t>Position AI as an access tool enabling new tasks — rather than a labor-cost cutter.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187598"/>
            <a:ext cx="3367735" cy="79187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460073"/>
                </a:solidFill>
                <a:latin typeface="Calibri"/>
              </a:rPr>
              <a:t>Aligns with the 48% who frame AI as scope-expansion · reduces displacement framing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979468"/>
            <a:ext cx="11277295" cy="79187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979468"/>
            <a:ext cx="502920" cy="7918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A100FF"/>
                </a:solidFill>
                <a:latin typeface="Calibr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3979468"/>
            <a:ext cx="2743200" cy="79187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>
                <a:solidFill>
                  <a:srgbClr val="1A1A2E"/>
                </a:solidFill>
                <a:latin typeface="Calibri"/>
              </a:rPr>
              <a:t>Re-design Junior Pathways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3979468"/>
            <a:ext cx="4114800" cy="79187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4A4A5E"/>
                </a:solidFill>
                <a:latin typeface="Calibri"/>
              </a:rPr>
              <a:t>Create AI-augmented apprenticeship programs that explicitly protect early-career development.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979468"/>
            <a:ext cx="3367735" cy="79187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460073"/>
                </a:solidFill>
                <a:latin typeface="Calibri"/>
              </a:rPr>
              <a:t>Counters the early-career squeeze · preserves the future senior pipeline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771339"/>
            <a:ext cx="11277295" cy="791870"/>
          </a:xfrm>
          <a:prstGeom prst="rect">
            <a:avLst/>
          </a:prstGeom>
          <a:solidFill>
            <a:srgbClr val="FAFAFC"/>
          </a:solidFill>
          <a:ln w="6350">
            <a:solidFill>
              <a:srgbClr val="D9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771339"/>
            <a:ext cx="502920" cy="7918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A100FF"/>
                </a:solidFill>
                <a:latin typeface="Calibr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771339"/>
            <a:ext cx="2743200" cy="79187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>
                <a:solidFill>
                  <a:srgbClr val="1A1A2E"/>
                </a:solidFill>
                <a:latin typeface="Calibri"/>
              </a:rPr>
              <a:t>Share Productivity Upside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4771339"/>
            <a:ext cx="4114800" cy="79187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4A4A5E"/>
                </a:solidFill>
                <a:latin typeface="Calibri"/>
              </a:rPr>
              <a:t>Explicit gain-sharing schemes — bonuses, equity, or time-off — tied to AI-driven productivity wins.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771339"/>
            <a:ext cx="3367735" cy="79187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460073"/>
                </a:solidFill>
                <a:latin typeface="Calibri"/>
              </a:rPr>
              <a:t>Closes the employer-capture gap · converts anxiety into engagement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563209"/>
            <a:ext cx="11277295" cy="79187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563209"/>
            <a:ext cx="502920" cy="7918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A100FF"/>
                </a:solidFill>
                <a:latin typeface="Calibri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563209"/>
            <a:ext cx="2743200" cy="79187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>
                <a:solidFill>
                  <a:srgbClr val="1A1A2E"/>
                </a:solidFill>
                <a:latin typeface="Calibri"/>
              </a:rPr>
              <a:t>Listen to Anxious Top Performers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23360" y="5563209"/>
            <a:ext cx="4114800" cy="79187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4A4A5E"/>
                </a:solidFill>
                <a:latin typeface="Calibri"/>
              </a:rPr>
              <a:t>Run sentiment listening explicitly with highest-speedup workers. Don't assume they feel safest.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5563209"/>
            <a:ext cx="3367735" cy="79187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460073"/>
                </a:solidFill>
                <a:latin typeface="Calibri"/>
              </a:rPr>
              <a:t>Heads off attrition in highest-leverage staff · turns U-shape insight into retention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accenture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1783080" y="310896"/>
            <a:ext cx="118872" cy="118872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A100FF"/>
                </a:solidFill>
                <a:latin typeface="Calibri"/>
              </a:rPr>
              <a:t>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The Big 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44752"/>
            <a:ext cx="11247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4A4A5E"/>
                </a:solidFill>
                <a:latin typeface="Calibri"/>
              </a:rPr>
              <a:t>AI is empowering and unsettling its users at the same time — the two feelings live in the same people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228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A100FF"/>
                </a:solidFill>
                <a:latin typeface="Calibri"/>
              </a:rPr>
              <a:t>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6539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6B80"/>
                </a:solidFill>
                <a:latin typeface="Calibri"/>
              </a:rPr>
              <a:t>Copyright © 2026 aidigest.club · AI Daily Reads · Executive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6B6B80"/>
                </a:solidFill>
                <a:latin typeface="Calibri"/>
              </a:rPr>
              <a:t>16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3637178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3637178" cy="36576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377440"/>
            <a:ext cx="3637178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800" b="1" i="0">
                <a:solidFill>
                  <a:srgbClr val="460073"/>
                </a:solidFill>
                <a:latin typeface="Calibri"/>
              </a:rPr>
              <a:t>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47189" y="3337560"/>
            <a:ext cx="457200" cy="22860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474720"/>
            <a:ext cx="3271418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What changed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069080"/>
            <a:ext cx="3234842" cy="1371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32000"/>
              </a:lnSpc>
            </a:pPr>
            <a:r>
              <a:rPr sz="1000" b="0" i="1">
                <a:solidFill>
                  <a:srgbClr val="4A4A5E"/>
                </a:solidFill>
                <a:latin typeface="Calibri"/>
              </a:rPr>
              <a:t>The first large-scale qualitative data linking observed AI usage to user sentiment. Productivity gains are real, broad-based, and skewed bimodally across the wage distribution.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7258" y="2103120"/>
            <a:ext cx="3637178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7258" y="2103120"/>
            <a:ext cx="3637178" cy="36576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7258" y="2377440"/>
            <a:ext cx="3637178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800" b="1" i="0">
                <a:solidFill>
                  <a:srgbClr val="460073"/>
                </a:solidFill>
                <a:latin typeface="Calibri"/>
              </a:rPr>
              <a:t>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67247" y="3337560"/>
            <a:ext cx="457200" cy="22860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60138" y="3474720"/>
            <a:ext cx="3271418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What it means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8426" y="4069080"/>
            <a:ext cx="3234842" cy="1371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32000"/>
              </a:lnSpc>
            </a:pPr>
            <a:r>
              <a:rPr sz="1000" b="0" i="1">
                <a:solidFill>
                  <a:srgbClr val="4A4A5E"/>
                </a:solidFill>
                <a:latin typeface="Calibri"/>
              </a:rPr>
              <a:t>Worker anxiety is not paranoia — it tracks measurable exposure. The most-empowered users are simultaneously the most worried. Career stage shapes who benefits.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97316" y="2103120"/>
            <a:ext cx="3637178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7316" y="2103120"/>
            <a:ext cx="3637178" cy="36576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7316" y="2377440"/>
            <a:ext cx="3637178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800" b="1" i="0">
                <a:solidFill>
                  <a:srgbClr val="460073"/>
                </a:solidFill>
                <a:latin typeface="Calibri"/>
              </a:rPr>
              <a:t>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87305" y="3337560"/>
            <a:ext cx="457200" cy="22860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0196" y="3474720"/>
            <a:ext cx="3271418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What to watch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8484" y="4069080"/>
            <a:ext cx="3234842" cy="1371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32000"/>
              </a:lnSpc>
            </a:pPr>
            <a:r>
              <a:rPr sz="1000" b="0" i="1">
                <a:solidFill>
                  <a:srgbClr val="4A4A5E"/>
                </a:solidFill>
                <a:latin typeface="Calibri"/>
              </a:rPr>
              <a:t>Beneficiary capture (who keeps the surplus) and the early-career squeeze (who gets in) are the two structural risks behind the positive top-line numbers.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852160"/>
            <a:ext cx="11277295" cy="502920"/>
          </a:xfrm>
          <a:prstGeom prst="rect">
            <a:avLst/>
          </a:prstGeom>
          <a:solidFill>
            <a:srgbClr val="1A1A2E"/>
          </a:solidFill>
          <a:ln w="635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5852160"/>
            <a:ext cx="109728" cy="502920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85216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1">
                <a:solidFill>
                  <a:srgbClr val="FFFFFF"/>
                </a:solidFill>
                <a:latin typeface="Calibri"/>
              </a:rPr>
              <a:t>The opportunity is not just to deploy AI — it is to do so in a way that lets the workforce share both the upside and the certainty.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accenture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1783080" y="310896"/>
            <a:ext cx="118872" cy="118872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A100FF"/>
                </a:solidFill>
                <a:latin typeface="Calibri"/>
              </a:rPr>
              <a:t>SOURCES &amp; CITATIONS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44752"/>
            <a:ext cx="11247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4A4A5E"/>
                </a:solidFill>
                <a:latin typeface="Calibri"/>
              </a:rPr>
              <a:t>Primary source, methodology, and where each statistic appears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228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A100FF"/>
                </a:solidFill>
                <a:latin typeface="Calibri"/>
              </a:rPr>
              <a:t>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6539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6B80"/>
                </a:solidFill>
                <a:latin typeface="Calibri"/>
              </a:rPr>
              <a:t>Copyright © 2026 aidigest.club · AI Daily Reads · Executive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6B6B80"/>
                </a:solidFill>
                <a:latin typeface="Calibri"/>
              </a:rPr>
              <a:t>17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65960"/>
            <a:ext cx="3637178" cy="443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965960"/>
            <a:ext cx="3637178" cy="36576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167128"/>
            <a:ext cx="317997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A100FF"/>
                </a:solidFill>
                <a:latin typeface="Calibri"/>
              </a:rPr>
              <a:t>PRIMARY SOURCE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624328"/>
            <a:ext cx="457200" cy="18288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761488"/>
            <a:ext cx="3179978" cy="3502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1" i="0">
                <a:solidFill>
                  <a:srgbClr val="A100FF"/>
                </a:solidFill>
                <a:latin typeface="Calibri"/>
              </a:rPr>
              <a:t>●  </a:t>
            </a:r>
            <a:r>
              <a:rPr sz="900" b="0" i="0">
                <a:solidFill>
                  <a:srgbClr val="4A4A5E"/>
                </a:solidFill>
                <a:latin typeface="Calibri"/>
              </a:rPr>
              <a:t>Massenkoff, M. &amp; Huang, S. (2026). What 81,000 people told us about the economics of AI. Anthropic Research / Economic Index.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1" i="0">
                <a:solidFill>
                  <a:srgbClr val="A100FF"/>
                </a:solidFill>
                <a:latin typeface="Calibri"/>
              </a:rPr>
              <a:t>●  </a:t>
            </a:r>
            <a:r>
              <a:rPr sz="900" b="0" i="0">
                <a:solidFill>
                  <a:srgbClr val="4A4A5E"/>
                </a:solidFill>
                <a:latin typeface="Calibri"/>
              </a:rPr>
              <a:t>Companion: Anthropic Economic Index March 2026 Report.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1" i="0">
                <a:solidFill>
                  <a:srgbClr val="A100FF"/>
                </a:solidFill>
                <a:latin typeface="Calibri"/>
              </a:rPr>
              <a:t>●  </a:t>
            </a:r>
            <a:r>
              <a:rPr sz="900" b="0" i="0">
                <a:solidFill>
                  <a:srgbClr val="4A4A5E"/>
                </a:solidFill>
                <a:latin typeface="Calibri"/>
              </a:rPr>
              <a:t>URL: https://www.anthropic.com/research/81k-economics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7258" y="1965960"/>
            <a:ext cx="3637178" cy="443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7258" y="1965960"/>
            <a:ext cx="3637178" cy="36576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5858" y="2167128"/>
            <a:ext cx="317997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A100FF"/>
                </a:solidFill>
                <a:latin typeface="Calibri"/>
              </a:rPr>
              <a:t>METHODOLOGY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05858" y="2624328"/>
            <a:ext cx="457200" cy="18288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05858" y="2761488"/>
            <a:ext cx="3179978" cy="3502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1" i="0">
                <a:solidFill>
                  <a:srgbClr val="A100FF"/>
                </a:solidFill>
                <a:latin typeface="Calibri"/>
              </a:rPr>
              <a:t>●  </a:t>
            </a:r>
            <a:r>
              <a:rPr sz="900" b="0" i="0">
                <a:solidFill>
                  <a:srgbClr val="4A4A5E"/>
                </a:solidFill>
                <a:latin typeface="Calibri"/>
              </a:rPr>
              <a:t>Sample: 81,000 self-selected Claude.ai personal-account users (acknowledgements cite 80,508).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1" i="0">
                <a:solidFill>
                  <a:srgbClr val="A100FF"/>
                </a:solidFill>
                <a:latin typeface="Calibri"/>
              </a:rPr>
              <a:t>●  </a:t>
            </a:r>
            <a:r>
              <a:rPr sz="900" b="0" i="0">
                <a:solidFill>
                  <a:srgbClr val="4A4A5E"/>
                </a:solidFill>
                <a:latin typeface="Calibri"/>
              </a:rPr>
              <a:t>Format: Open-ended interview embedded in Anthropic Interviewer inside Claude.ai.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1" i="0">
                <a:solidFill>
                  <a:srgbClr val="A100FF"/>
                </a:solidFill>
                <a:latin typeface="Calibri"/>
              </a:rPr>
              <a:t>●  </a:t>
            </a:r>
            <a:r>
              <a:rPr sz="900" b="0" i="0">
                <a:solidFill>
                  <a:srgbClr val="4A4A5E"/>
                </a:solidFill>
                <a:latin typeface="Calibri"/>
              </a:rPr>
              <a:t>Inference: Claude-powered classifiers extract occupation, career stage, productivity, threat, beneficiary.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7316" y="1965960"/>
            <a:ext cx="3637178" cy="443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7316" y="1965960"/>
            <a:ext cx="3637178" cy="36576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5916" y="2167128"/>
            <a:ext cx="317997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A100FF"/>
                </a:solidFill>
                <a:latin typeface="Calibri"/>
              </a:rPr>
              <a:t>WHERE EACH STATISTIC APPEARS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5916" y="2624328"/>
            <a:ext cx="457200" cy="18288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5916" y="2761488"/>
            <a:ext cx="3179978" cy="3502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1" i="0">
                <a:solidFill>
                  <a:srgbClr val="A100FF"/>
                </a:solidFill>
                <a:latin typeface="Calibri"/>
              </a:rPr>
              <a:t>●  </a:t>
            </a:r>
            <a:r>
              <a:rPr sz="900" b="0" i="0">
                <a:solidFill>
                  <a:srgbClr val="4A4A5E"/>
                </a:solidFill>
                <a:latin typeface="Calibri"/>
              </a:rPr>
              <a:t>5.1 mean productivity rating — §Who benefits from AI?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1" i="0">
                <a:solidFill>
                  <a:srgbClr val="A100FF"/>
                </a:solidFill>
                <a:latin typeface="Calibri"/>
              </a:rPr>
              <a:t>●  </a:t>
            </a:r>
            <a:r>
              <a:rPr sz="900" b="0" i="0">
                <a:solidFill>
                  <a:srgbClr val="4A4A5E"/>
                </a:solidFill>
                <a:latin typeface="Calibri"/>
              </a:rPr>
              <a:t>1 in 5 voice job-loss concern — §Who worries about displacement?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1" i="0">
                <a:solidFill>
                  <a:srgbClr val="A100FF"/>
                </a:solidFill>
                <a:latin typeface="Calibri"/>
              </a:rPr>
              <a:t>●  </a:t>
            </a:r>
            <a:r>
              <a:rPr sz="900" b="0" i="0">
                <a:solidFill>
                  <a:srgbClr val="4A4A5E"/>
                </a:solidFill>
                <a:latin typeface="Calibri"/>
              </a:rPr>
              <a:t>+1.3pt threat per 10pt exposure · 3× top-vs-bottom — Figure 1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1" i="0">
                <a:solidFill>
                  <a:srgbClr val="A100FF"/>
                </a:solidFill>
                <a:latin typeface="Calibri"/>
              </a:rPr>
              <a:t>●  </a:t>
            </a:r>
            <a:r>
              <a:rPr sz="900" b="0" i="0">
                <a:solidFill>
                  <a:srgbClr val="4A4A5E"/>
                </a:solidFill>
                <a:latin typeface="Calibri"/>
              </a:rPr>
              <a:t>48% scope · 40% speed — §Scope and speed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1" i="0">
                <a:solidFill>
                  <a:srgbClr val="A100FF"/>
                </a:solidFill>
                <a:latin typeface="Calibri"/>
              </a:rPr>
              <a:t>●  </a:t>
            </a:r>
            <a:r>
              <a:rPr sz="900" b="0" i="0">
                <a:solidFill>
                  <a:srgbClr val="4A4A5E"/>
                </a:solidFill>
                <a:latin typeface="Calibri"/>
              </a:rPr>
              <a:t>60% early-career vs 80% senior benefit — Figure 4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1" i="0">
                <a:solidFill>
                  <a:srgbClr val="A100FF"/>
                </a:solidFill>
                <a:latin typeface="Calibri"/>
              </a:rPr>
              <a:t>●  </a:t>
            </a:r>
            <a:r>
              <a:rPr sz="900" b="0" i="0">
                <a:solidFill>
                  <a:srgbClr val="4A4A5E"/>
                </a:solidFill>
                <a:latin typeface="Calibri"/>
              </a:rPr>
              <a:t>U-shape between speedup and threat — Figure 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accenture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1783080" y="310896"/>
            <a:ext cx="118872" cy="118872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A100FF"/>
                </a:solidFill>
                <a:latin typeface="Calibri"/>
              </a:rPr>
              <a:t>AI DAILY READS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44752"/>
            <a:ext cx="11247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4A4A5E"/>
                </a:solidFill>
                <a:latin typeface="Calibri"/>
              </a:rPr>
              <a:t>Curated executive briefs · aidigest.club / reads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228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A100FF"/>
                </a:solidFill>
                <a:latin typeface="Calibri"/>
              </a:rPr>
              <a:t>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6539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6B80"/>
                </a:solidFill>
                <a:latin typeface="Calibri"/>
              </a:rPr>
              <a:t>Copyright © 2026 aidigest.club · AI Daily Reads · Executive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6B6B80"/>
                </a:solidFill>
                <a:latin typeface="Calibri"/>
              </a:rPr>
              <a:t>18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23847" y="2606040"/>
            <a:ext cx="91440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23847" y="2606040"/>
            <a:ext cx="9144000" cy="36576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81047" y="32461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libri"/>
              </a:rPr>
              <a:t>Read the full report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30087" y="3931920"/>
            <a:ext cx="731520" cy="27432"/>
          </a:xfrm>
          <a:prstGeom prst="rect">
            <a:avLst/>
          </a:prstGeom>
          <a:solidFill>
            <a:srgbClr val="A10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81047" y="416052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1">
                <a:solidFill>
                  <a:srgbClr val="460073"/>
                </a:solidFill>
                <a:latin typeface="Calibri"/>
              </a:rPr>
              <a:t>https://www.anthropic.com/research/81k-economics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81047" y="51206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6B6B80"/>
                </a:solidFill>
                <a:latin typeface="Calibri"/>
              </a:rPr>
              <a:t>Curated executive briefs  ·  aidigest.club / reads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