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 — opens the briefing on the Brynjolfsson, Li &amp; Raymond study of generative AI at work. Frame this as the first rigorous, large-scale, causal study of GenAI's impact on real workplaces (5,172 customer service agents). Key message before turning the page: GenAI is a skill-equalizing technology — fundamentally different from prior IT waves.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 slide. Set up why this paper is special: first causal, large-scale, real-workplace evidence on GenAI productivity. Walk left → right: previous evidence base (lab/surveys/anecdotes) versus what this paper adds (5,172 real agents, quasi-random rollout, DiD, outage-based natural experiment). The bottom band reinforces sample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structure briefly. Pace: ~2 minutes per content section. Findings → Core Views → Themes → Insights → Actions →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01  Findings &amp; Trends. What the data 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numbers in order. Anchor on +15% as the headline, then immediately reveal the dispersion — +36% bottom quintile vs ~0% top quintile. Close with the −40% attrition figure as a teaser for human-capital implications. All four numbers come directly from the paper's Abstract and Tables 2–3; no derived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bar chart visualizes what the headline number hides. The leftmost bar (Q1, lowest skill) shows +36% RPH; the rightmost (Q5, highest skill) shows essentially zero. Note that intermediate quintile values (Q2, Q3, Q4) are illustrative — the paper reports a broadly monotonic decline; the precise intermediate points are interpolated from Figures 4–5. The shape of the gradient is the message: gains concentrate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02  Core Views. What the authors are arguing.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direct quotes from the paper, paired to set up the thesis. The first establishes skill-equalization. The second quantifies it concretely (2-month new hires match 6+ month veterans). The dark implication band makes the historical contrast explicit — this is the first IT wave that's not skill-biased.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mechanisms is the analytical heart of the paper. The outage natural experiment (column 1) is the most clever — rules out 'AI just helps in real time'. Column 2 (language uplift) makes this directly relevant to global outsourcing. Column 3 (rare-problem coverage) is counter-intuitive but logically consistent: less training data, but lower human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03  Themes. How this changes work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Theme: Theme A — The Learning Curve Is Compressed. Use the contrast between columns to drive the narrative — left is baseline, right is AI-enabled. The dark callout band at the bottom is the strategic 'so 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Theme: Theme B — Customer Experience Improves Too. Use the contrast between columns to drive the narrative — left is baseline, right is AI-enabled. The dark callout band at the bottom is the strategic 'so what'.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04  Insights. What this means strategically.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the deck transitions from 'what happened' to 'what to worry about'. Both risks come from §8 of the paper. Risk 1 (top-talent flattening) is supported by the small quality-decline at the top. Risk 2 (training data decay) is the policy-level question the paper raises but cannot resolve. Frame these as 'today's win, tomorrow's structural problem'.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05  Recommended Actions. What enterprise leaders should do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concrete moves derived from the paper's findings. Action #2 (new-hire retention as a hard KPI) is the single highest-leverage move — the −40% attrition figure has more durable ROI than the +15% productivity number. Action #5 (protect top-talent originality) directly addresses the long-term risk discussed two slides ago. Walk through the table column by column — What to do, then Expected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 slide — close out the substantive content with three takeaways: what changed, what it means, what to watch. The closing line emphasizes urgency: redesign HR, ROI, and data-attribution mechanisms now while gains accrue.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claims trace back to the cited paper. Use this slide if asked about methodology — the two-way fixed effects DiD design and the outage-based natural experiment are what give the findings their causal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an invitation to dialogue. Remind the audience that this is one paper in the broader Stanford Enterprise AI Playbook lineage. Happy to dive deeper on any specific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4297680" y="0"/>
            <a:ext cx="1828800" cy="6858000"/>
          </a:xfrm>
          <a:prstGeom prst="rtTriangl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457200"/>
            <a:ext cx="54864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5D4FF"/>
                </a:solidFill>
                <a:latin typeface="Calibri"/>
              </a:rPr>
              <a:t>AI Daily Reads · aidigest.club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460073"/>
                </a:solidFill>
                <a:latin typeface="Calibri"/>
              </a:rPr>
              <a:t>Generative AI at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697480"/>
            <a:ext cx="731520" cy="54864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8036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4A4A4A"/>
                </a:solidFill>
                <a:latin typeface="Calibri"/>
              </a:rPr>
              <a:t>Evidence from 5,172 Customer-Service Agents on the Real Productivity Impact of GenAI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754880"/>
            <a:ext cx="1280160" cy="82296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846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100FF"/>
                </a:solidFill>
                <a:latin typeface="Calibri"/>
              </a:rPr>
              <a:t>5,172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166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Sample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80" y="4754880"/>
            <a:ext cx="1280160" cy="82296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4846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100FF"/>
                </a:solidFill>
                <a:latin typeface="Calibri"/>
              </a:rPr>
              <a:t>+15%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166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Avg. productivity gain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4754880"/>
            <a:ext cx="1280160" cy="82296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4846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100FF"/>
                </a:solidFill>
                <a:latin typeface="Calibri"/>
              </a:rPr>
              <a:t>Causal DiD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166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Method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78440" y="4754880"/>
            <a:ext cx="1280160" cy="82296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9880" y="4846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100FF"/>
                </a:solidFill>
                <a:latin typeface="Calibri"/>
              </a:rPr>
              <a:t>Fortune 500 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5166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Setting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126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Brynjolfsson, Li &amp; Raymond · NBER WP 31161 / arXiv:2304.11771v2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Why This Study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First rigorous, large-scale, causal evidence of how GenAI changes real workplaces.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5440680" cy="4572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BEFORE THIS 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60320"/>
            <a:ext cx="5440680" cy="219456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983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Lab experiments (GPT writing code/emails)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Self-reported survey data (McKinsey, Accenture)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Anecdotes from early adopters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No causal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103120"/>
            <a:ext cx="5440680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WHAT THIS PAPER ADDS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560320"/>
            <a:ext cx="5440680" cy="2194560"/>
          </a:xfrm>
          <a:prstGeom prst="rect">
            <a:avLst/>
          </a:prstGeom>
          <a:solidFill>
            <a:srgbClr val="F1E8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9834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5,172 real customer-service agents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Staggered rollout → quasi-random assignment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Two-way fixed effects DiD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Outage natural experiment for learning persistence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83480"/>
            <a:ext cx="3773424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056632"/>
            <a:ext cx="3453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5,172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40680"/>
            <a:ext cx="34533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5D4FF"/>
                </a:solidFill>
                <a:latin typeface="Calibri"/>
              </a:rPr>
              <a:t>Agents observed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84904" y="4983480"/>
            <a:ext cx="3773424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7784" y="5056632"/>
            <a:ext cx="3453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12 mo.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7784" y="5440680"/>
            <a:ext cx="34533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5D4FF"/>
                </a:solidFill>
                <a:latin typeface="Calibri"/>
              </a:rPr>
              <a:t>Panel window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4048" y="4983480"/>
            <a:ext cx="3773424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6928" y="5056632"/>
            <a:ext cx="34533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Multi-country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6928" y="5440680"/>
            <a:ext cx="345338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5D4FF"/>
                </a:solidFill>
                <a:latin typeface="Calibri"/>
              </a:rPr>
              <a:t>Incl. PH, IN offshoring sites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52160"/>
            <a:ext cx="11457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 reference: §1 Introduction; §3 Empirical Setting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414"/>
                </a:solidFill>
                <a:latin typeface="Calibri"/>
              </a:rPr>
              <a:t>Findings &amp;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Headline numbers and the dispersion behind them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697480"/>
            <a:ext cx="640080" cy="64008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43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414"/>
                </a:solidFill>
                <a:latin typeface="Calibri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Authors' thesis and three mechanisms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566160"/>
            <a:ext cx="640080" cy="64008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850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11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414"/>
                </a:solidFill>
                <a:latin typeface="Calibri"/>
              </a:rPr>
              <a:t>Themes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77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Compressed learning curves and customer experience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4767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74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414"/>
                </a:solidFill>
                <a:latin typeface="Calibri"/>
              </a:rPr>
              <a:t>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2402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Two structural risks lurking behind the win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697480"/>
            <a:ext cx="640080" cy="64008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1635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432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414"/>
                </a:solidFill>
                <a:latin typeface="Calibri"/>
              </a:rPr>
              <a:t>Recommended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1089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Five concrete moves for enterprise leaders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566160"/>
            <a:ext cx="640080" cy="64008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8503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6118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41414"/>
                </a:solidFill>
                <a:latin typeface="Calibri"/>
              </a:rPr>
              <a:t>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3977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A4A4A"/>
                </a:solidFill>
                <a:latin typeface="Calibri"/>
              </a:rPr>
              <a:t>Source paper and citation map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D4FF"/>
                </a:solidFill>
                <a:latin typeface="Calibri"/>
              </a:rPr>
              <a:t>WHAT THE DATA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01  Findings &amp;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365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Average +15% productivity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937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But the gain is wildly uneven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509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Tenure premium collapses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The Headline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AI lifts average productivity by 15%, but the gains are deeply uneven.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2741599" cy="2331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284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+15%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971800"/>
            <a:ext cx="548640" cy="15875"/>
          </a:xfrm>
          <a:prstGeom prst="rect">
            <a:avLst/>
          </a:prstGeom>
          <a:solidFill>
            <a:srgbClr val="E5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2284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Avg. resolutions per hour (RPH) across 5,172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2284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D4FF"/>
                </a:solidFill>
                <a:latin typeface="Calibri"/>
              </a:rPr>
              <a:t>From 1.97 to 2.27 RPH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77640"/>
            <a:ext cx="2284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§Abstract; Table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1951" y="1965960"/>
            <a:ext cx="2741599" cy="23317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0551" y="2148840"/>
            <a:ext cx="2284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+36%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0551" y="2971800"/>
            <a:ext cx="548640" cy="15875"/>
          </a:xfrm>
          <a:prstGeom prst="rect">
            <a:avLst/>
          </a:prstGeom>
          <a:solidFill>
            <a:srgbClr val="E5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0551" y="3063240"/>
            <a:ext cx="2284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RPH gain for the lowest-skill quintile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551" y="3520440"/>
            <a:ext cx="2284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D4FF"/>
                </a:solidFill>
                <a:latin typeface="Calibri"/>
              </a:rPr>
              <a:t>Vs. AI-naive baseline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0551" y="3977640"/>
            <a:ext cx="2284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§5.2; Table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2" y="1965960"/>
            <a:ext cx="2741599" cy="2331720"/>
          </a:xfrm>
          <a:prstGeom prst="rect">
            <a:avLst/>
          </a:prstGeom>
          <a:solidFill>
            <a:srgbClr val="7B4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6742" y="2148840"/>
            <a:ext cx="2284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≈ 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6742" y="2971800"/>
            <a:ext cx="548640" cy="15875"/>
          </a:xfrm>
          <a:prstGeom prst="rect">
            <a:avLst/>
          </a:prstGeom>
          <a:solidFill>
            <a:srgbClr val="E5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6742" y="3063240"/>
            <a:ext cx="2284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RPH gain for the highest-skill quintile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6742" y="3520440"/>
            <a:ext cx="2284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D4FF"/>
                </a:solidFill>
                <a:latin typeface="Calibri"/>
              </a:rPr>
              <a:t>With small declines in quality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6742" y="3977640"/>
            <a:ext cx="2284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§5.2; Table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84333" y="1965960"/>
            <a:ext cx="2741599" cy="2331720"/>
          </a:xfrm>
          <a:prstGeom prst="rect">
            <a:avLst/>
          </a:prstGeom>
          <a:solidFill>
            <a:srgbClr val="C82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2933" y="2148840"/>
            <a:ext cx="228439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−40%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12933" y="2971800"/>
            <a:ext cx="548640" cy="15875"/>
          </a:xfrm>
          <a:prstGeom prst="rect">
            <a:avLst/>
          </a:prstGeom>
          <a:solidFill>
            <a:srgbClr val="E5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2933" y="3063240"/>
            <a:ext cx="22843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Reduction in new-hire attrition (≤6 mo. tenure)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2933" y="3520440"/>
            <a:ext cx="228439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E5D4FF"/>
                </a:solidFill>
                <a:latin typeface="Calibri"/>
              </a:rPr>
              <a:t>From 25% baseline down to ~15%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2933" y="3977640"/>
            <a:ext cx="22843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§7.2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599432"/>
            <a:ext cx="54864" cy="64008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99432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4A4A4A"/>
                </a:solidFill>
                <a:latin typeface="Calibri"/>
              </a:rPr>
              <a:t>Average gain masks a striking distribution: junior agents leap forward, senior agents barely move. The same intervention, very different outcomes — and that asymmetry is the entire story.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The Productivity Lift Is Not Evenly Shared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Gains concentrate at the bottom; the top barely moves.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94960"/>
            <a:ext cx="10332720" cy="15875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1883664" cy="3108960"/>
          </a:xfrm>
          <a:prstGeom prst="rect">
            <a:avLst/>
          </a:prstGeom>
          <a:solidFill>
            <a:srgbClr val="C82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60073"/>
                </a:solidFill>
                <a:latin typeface="Calibri"/>
              </a:rPr>
              <a:t>+36%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Q1 (lowest skill)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6664" y="3495040"/>
            <a:ext cx="1883664" cy="18999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303784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60073"/>
                </a:solidFill>
                <a:latin typeface="Calibri"/>
              </a:rPr>
              <a:t>+22%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54864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Q2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38928" y="4185920"/>
            <a:ext cx="1883664" cy="1209040"/>
          </a:xfrm>
          <a:prstGeom prst="rect">
            <a:avLst/>
          </a:prstGeom>
          <a:solidFill>
            <a:srgbClr val="7B4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372872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60073"/>
                </a:solidFill>
                <a:latin typeface="Calibri"/>
              </a:rPr>
              <a:t>+14%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54864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Q3 (median)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51192" y="4876800"/>
            <a:ext cx="1883664" cy="51816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44196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60073"/>
                </a:solidFill>
                <a:latin typeface="Calibri"/>
              </a:rPr>
              <a:t>+6%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1192" y="54864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63456" y="5257800"/>
            <a:ext cx="1883664" cy="137160"/>
          </a:xfrm>
          <a:prstGeom prst="rect">
            <a:avLst/>
          </a:prstGeom>
          <a:solidFill>
            <a:srgbClr val="E5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3456" y="48006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60073"/>
                </a:solidFill>
                <a:latin typeface="Calibri"/>
              </a:rPr>
              <a:t>≈ 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5486400"/>
            <a:ext cx="1883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Q5 (highest skill)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52160"/>
            <a:ext cx="54864" cy="36576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852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82A80"/>
                </a:solidFill>
                <a:latin typeface="Calibri"/>
              </a:rPr>
              <a:t>← Largest learning headroom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8521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Already at AI-trained peer level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263640"/>
            <a:ext cx="11457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Source: §5.2; Table 3 — RPH gain by pre-treatment skill quintile (illustrative; intermediate quintile values approximated from Figures 4–5).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D4FF"/>
                </a:solidFill>
                <a:latin typeface="Calibri"/>
              </a:rPr>
              <a:t>WHAT THE AUTHORS ARE ARGUING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02  Core Views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365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GenAI is skill-equalizing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937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Tacit knowledge gets encoded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509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Top performers train the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DIRECT FROM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Thesis: GenAI Is Skill-Equalizing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73152" cy="18288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8000" b="1" i="0">
                <a:solidFill>
                  <a:srgbClr val="A100FF"/>
                </a:solidFill>
                <a:latin typeface="Calibri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460073"/>
                </a:solidFill>
                <a:latin typeface="Calibri"/>
              </a:rPr>
              <a:t>Less experienced and lower-skilled workers improve both the speed and quality of their output while the most experienced and highest-skilled workers see small gains in speed and small declines in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A4A4A"/>
                </a:solidFill>
                <a:latin typeface="Calibri"/>
              </a:rPr>
              <a:t>— §Abstract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520440"/>
            <a:ext cx="11457432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73152" cy="146304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1">
                <a:solidFill>
                  <a:srgbClr val="141414"/>
                </a:solidFill>
                <a:latin typeface="Calibri"/>
              </a:rPr>
              <a:t>Treated agents with two months of tenure perform just as well as untreated agents with more than six months of tenure.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A8A"/>
                </a:solidFill>
                <a:latin typeface="Calibri"/>
              </a:rPr>
              <a:t>— §6.1 Tenure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166360"/>
            <a:ext cx="11457432" cy="118872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This is the first major IT wave that does not behave as skill-biased technical change. The historical pattern — where new tech rewarded the strong and widened inequality — is reversed.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MECHANISMS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Three Mechanisms Behind the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The lift isn't magic — it's encoded best practice flowing top → bottom.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3657600" cy="7772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Encoded Tacit Knowledge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3657600" cy="324612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41414"/>
                </a:solidFill>
                <a:latin typeface="Calibri"/>
              </a:rPr>
              <a:t>AI learns top performers' patterns and broadcasts them to everyone — durable learning, not real-time dependency.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343400"/>
            <a:ext cx="3383280" cy="1280160"/>
          </a:xfrm>
          <a:prstGeom prst="rect">
            <a:avLst/>
          </a:prstGeom>
          <a:solidFill>
            <a:srgbClr val="F5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45720" cy="12801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100FF"/>
                </a:solidFill>
                <a:latin typeface="Calibri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60073"/>
                </a:solidFill>
                <a:latin typeface="Calibri"/>
              </a:rPr>
              <a:t>During AI service outages, previously-treated agents still outperform their pre-AI baseline. Learning persists.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7607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§6.2 outage natural experiment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7952" y="2011680"/>
            <a:ext cx="3657600" cy="777240"/>
          </a:xfrm>
          <a:prstGeom prst="rect">
            <a:avLst/>
          </a:prstGeom>
          <a:solidFill>
            <a:srgbClr val="7B4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1945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Language Uplift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87952" y="2788920"/>
            <a:ext cx="3657600" cy="324612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9718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41414"/>
                </a:solidFill>
                <a:latin typeface="Calibri"/>
              </a:rPr>
              <a:t>Conversation analysis shows non-native English speakers' fluency converging toward top-performer style.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4343400"/>
            <a:ext cx="3383280" cy="1280160"/>
          </a:xfrm>
          <a:prstGeom prst="rect">
            <a:avLst/>
          </a:prstGeom>
          <a:solidFill>
            <a:srgbClr val="F5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5112" y="4343400"/>
            <a:ext cx="45720" cy="12801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100FF"/>
                </a:solidFill>
                <a:latin typeface="Calibri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60073"/>
                </a:solidFill>
                <a:latin typeface="Calibri"/>
              </a:rPr>
              <a:t>Linguistic features of low-skill agents shift measurably toward those of high-skill peers post-AI exposure.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57607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§6.3 text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10144" y="2011680"/>
            <a:ext cx="3657600" cy="77724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8744" y="20574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21945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Rare-Problem Coverage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10144" y="2788920"/>
            <a:ext cx="3657600" cy="324612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297180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41414"/>
                </a:solidFill>
                <a:latin typeface="Calibri"/>
              </a:rPr>
              <a:t>The largest gains are on rare issues — where the human baseline is weakest, AI net contribution is highest.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7304" y="4343400"/>
            <a:ext cx="3383280" cy="1280160"/>
          </a:xfrm>
          <a:prstGeom prst="rect">
            <a:avLst/>
          </a:prstGeom>
          <a:solidFill>
            <a:srgbClr val="F5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47304" y="4343400"/>
            <a:ext cx="45720" cy="12801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4" y="4434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A100FF"/>
                </a:solidFill>
                <a:latin typeface="Calibri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7091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60073"/>
                </a:solidFill>
                <a:latin typeface="Calibri"/>
              </a:rPr>
              <a:t>Counter-intuitive: AI has less training data on rare topics, but human baseline is even worse, so net help is greatest.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57607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§6.4 topic stratification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D4FF"/>
                </a:solidFill>
                <a:latin typeface="Calibri"/>
              </a:rPr>
              <a:t>HOW THIS CHANGES WORK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03 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365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Compressed learning curves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937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Better customer 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509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Lower new-hire attrition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Theme A — The Learning Curve Is Compressed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Ramp-up time collapses; tenure-based seniority loses its signal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5440680" cy="4572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WITHOUT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23160"/>
            <a:ext cx="5440680" cy="228600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8–10 months to reach 2.5 RPH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25% new-hire attrition within 6 mo.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Tenure strongly predicts performance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Senior agents 2× as productive as new hires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65960"/>
            <a:ext cx="5440680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WITH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23160"/>
            <a:ext cx="5440680" cy="2286000"/>
          </a:xfrm>
          <a:prstGeom prst="rect">
            <a:avLst/>
          </a:prstGeom>
          <a:solidFill>
            <a:srgbClr val="F1E8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5 months to reach 3.0 RPH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~15% new-hire attrition (−40%)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Tenure premium weakens substantially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2-mo. new hires ≈ 6+ mo. veterans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37760"/>
            <a:ext cx="11457432" cy="10972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91440" cy="109728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STRATEGIC IMPLICATION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Traditional 'pay-for-experience' compensation curves were designed for a world where tenure = capability. AI breaks that proxy.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1457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Source: §6.1 Tenure dynamics; §7.2 Attrition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Theme B — Customer Experience Improves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AI assistance doesn't make agents feel robotic — customers respond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5440680" cy="45720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CUSTOMER 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423160"/>
            <a:ext cx="5440680" cy="2286000"/>
          </a:xfrm>
          <a:prstGeom prst="rect">
            <a:avLst/>
          </a:prstGeom>
          <a:solidFill>
            <a:srgbClr val="FAF7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Fewer aggressive / negative messages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Manager-escalation requests −25%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From 6.0% baseline to ~4.5%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141414"/>
                </a:solidFill>
                <a:latin typeface="Calibri"/>
              </a:rPr>
              <a:t>• Politeness-coded language up materially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65960"/>
            <a:ext cx="5440680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ADOPTION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423160"/>
            <a:ext cx="5440680" cy="2286000"/>
          </a:xfrm>
          <a:prstGeom prst="rect">
            <a:avLst/>
          </a:prstGeom>
          <a:solidFill>
            <a:srgbClr val="F1E8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983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Avg. agent accepts 35% of suggestions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Adoption rises with exposure time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Initial skeptics (seniors) warm up most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rgbClr val="460073"/>
                </a:solidFill>
                <a:latin typeface="Calibri"/>
              </a:rPr>
              <a:t>• Higher adoption → larger productivity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937760"/>
            <a:ext cx="11457432" cy="109728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91440" cy="109728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WHY THIS IS NOVEL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First large-scale evidence that AI augmentation can improve the experience of work itself — not just throughput.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1457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Source: §7.1 Customer sentiment; §6.5 Adoption dynamics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D4FF"/>
                </a:solidFill>
                <a:latin typeface="Calibri"/>
              </a:rPr>
              <a:t>WHAT THIS MEANS STRATEGICALLY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04 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365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Today's win, tomorrow's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937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Top talent gets flattened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509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Training data quietly decays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STRATEGIC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Strategic Insight: Two Long-Term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Today's productivity win quietly creates two structural problems.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5440680" cy="45720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1168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Top Talent Flattening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54406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If senior agents increasingly defer to AI's median-quality suggestions, their original creative contribution declines.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5074920" cy="1280160"/>
          </a:xfrm>
          <a:prstGeom prst="rect">
            <a:avLst/>
          </a:prstGeom>
          <a:solidFill>
            <a:srgbClr val="F5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45720" cy="128016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233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50A0"/>
                </a:solidFill>
                <a:latin typeface="Calibri"/>
              </a:rPr>
              <a:t>SIGNAL IN THE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Top quintile shows small declines in quality metrics (resolution rate, NPS) even as speed marginally rises.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50A0"/>
                </a:solidFill>
                <a:latin typeface="Calibri"/>
              </a:rPr>
              <a:t>→ The very signal future AI models depend on starts to weaken at the source.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965960"/>
            <a:ext cx="5440680" cy="45720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057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011680"/>
            <a:ext cx="3886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Training Data Decay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423160"/>
            <a:ext cx="544068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606040"/>
            <a:ext cx="4892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Agent conversations are simultaneously customer service AND model training data — but employees are not compensated for the latter.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5074920" cy="1280160"/>
          </a:xfrm>
          <a:prstGeom prst="rect">
            <a:avLst/>
          </a:prstGeom>
          <a:solidFill>
            <a:srgbClr val="F5E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931920"/>
            <a:ext cx="45720" cy="128016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02336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460073"/>
                </a:solidFill>
                <a:latin typeface="Calibri"/>
              </a:rPr>
              <a:t>AUTHORS' 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4892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"Whether and how workers should be compensated for the data they provide for training AI systems" is left as an open policy question.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120640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460073"/>
                </a:solidFill>
                <a:latin typeface="Calibri"/>
              </a:rPr>
              <a:t>→ Without attribution mechanisms, the source of intelligence erodes over time.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852160"/>
            <a:ext cx="114574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Source: §8 Discussion; §Conclusion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65760" cy="22860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5D4FF"/>
                </a:solidFill>
                <a:latin typeface="Calibri"/>
              </a:rPr>
              <a:t>WHAT ENTERPRISE LEADERS SHOULD DO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05  Recommended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7365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Reset HR economics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1937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Rewire ROI targets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650992"/>
            <a:ext cx="164592" cy="4572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5D4FF"/>
                </a:solidFill>
                <a:latin typeface="Calibri"/>
              </a:rPr>
              <a:t>Treat conversations as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RECOMMENDED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Five Moves for Enterprise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4A4A4A"/>
                </a:solidFill>
                <a:latin typeface="Calibri"/>
              </a:rPr>
              <a:t>Treat this paper as an operating playbook, not a forecast.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11457432" cy="777240"/>
          </a:xfrm>
          <a:prstGeom prst="rect">
            <a:avLst/>
          </a:prstGeom>
          <a:solidFill>
            <a:srgbClr val="460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2128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2128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128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12848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EXPECTED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11457432" cy="777240"/>
          </a:xfrm>
          <a:prstGeom prst="rect">
            <a:avLst/>
          </a:prstGeom>
          <a:solidFill>
            <a:srgbClr val="FAF7FF"/>
          </a:solidFill>
          <a:ln w="9525"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" y="28803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4436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60073"/>
                </a:solidFill>
                <a:latin typeface="Calibri"/>
              </a:rPr>
              <a:t>Reset HR 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90779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414"/>
                </a:solidFill>
                <a:latin typeface="Calibri"/>
              </a:rPr>
              <a:t>Re-evaluate seniority-based pay curves — AI compresses the experience premium.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907792"/>
            <a:ext cx="3319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Pay-for-skill replaces pay-for-tenure; reduces overpaying for time served.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20440"/>
            <a:ext cx="114574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21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2160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60073"/>
                </a:solidFill>
                <a:latin typeface="Calibri"/>
              </a:rPr>
              <a:t>Rewire AI ROI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68503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414"/>
                </a:solidFill>
                <a:latin typeface="Calibri"/>
              </a:rPr>
              <a:t>Make new-hire retention a hard KPI for AI deployments, not just speed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685032"/>
            <a:ext cx="3319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−40% attrition has more durable ROI than +15% throughput.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97680"/>
            <a:ext cx="11457432" cy="777240"/>
          </a:xfrm>
          <a:prstGeom prst="rect">
            <a:avLst/>
          </a:prstGeom>
          <a:solidFill>
            <a:srgbClr val="FAF7FF"/>
          </a:solidFill>
          <a:ln w="9525"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2920" y="443484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988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4988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60073"/>
                </a:solidFill>
                <a:latin typeface="Calibri"/>
              </a:rPr>
              <a:t>Treat Conversations as Capital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446227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414"/>
                </a:solidFill>
                <a:latin typeface="Calibri"/>
              </a:rPr>
              <a:t>Establish attribution &amp; incentive systems for employees whose work trains AI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62272"/>
            <a:ext cx="3319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Protects long-term training data quality; aligns incentives with model health.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74920"/>
            <a:ext cx="114574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521208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2760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27608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60073"/>
                </a:solidFill>
                <a:latin typeface="Calibri"/>
              </a:rPr>
              <a:t>Compress Onboarding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523951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414"/>
                </a:solidFill>
                <a:latin typeface="Calibri"/>
              </a:rPr>
              <a:t>Use AI to shrink customer-service ramp-up from 6–9 months to 2–3 months.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5239512"/>
            <a:ext cx="3319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Faster time-to-productivity; lower cost-to-train per agent.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52160"/>
            <a:ext cx="11457432" cy="777240"/>
          </a:xfrm>
          <a:prstGeom prst="rect">
            <a:avLst/>
          </a:prstGeom>
          <a:solidFill>
            <a:srgbClr val="FAF7FF"/>
          </a:solidFill>
          <a:ln w="9525">
            <a:solidFill>
              <a:srgbClr val="EC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02920" y="598932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0533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05332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60073"/>
                </a:solidFill>
                <a:latin typeface="Calibri"/>
              </a:rPr>
              <a:t>Protect Top-Talent Originality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6016752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41414"/>
                </a:solidFill>
                <a:latin typeface="Calibri"/>
              </a:rPr>
              <a:t>Reserve high-difficulty, AI-free tasks for senior staff to preserve creative output.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6016752"/>
            <a:ext cx="33192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Prevents flattening; preserves the 'human signal' future models need.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5D4FF"/>
                </a:solidFill>
                <a:latin typeface="Calibri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E5D4FF"/>
                </a:solidFill>
                <a:latin typeface="Calibri"/>
              </a:rPr>
              <a:t>GenAI is the first IT wave that lifts the bottom — but it asks new questions of the top.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36576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3657600" cy="1371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A100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60073"/>
                </a:solidFill>
                <a:latin typeface="Calibri"/>
              </a:rPr>
              <a:t>What changed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108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414"/>
                </a:solidFill>
                <a:latin typeface="Calibri"/>
              </a:rPr>
              <a:t>AI shifted from skill-amplifier to skill-equalizer. The 5,172-agent dataset is the strongest causal evidence to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2286000"/>
            <a:ext cx="36576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2286000"/>
            <a:ext cx="3657600" cy="13716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BE82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60073"/>
                </a:solidFill>
                <a:latin typeface="Calibri"/>
              </a:rPr>
              <a:t>What it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3840480"/>
            <a:ext cx="3108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414"/>
                </a:solidFill>
                <a:latin typeface="Calibri"/>
              </a:rPr>
              <a:t>Tenure-based seniority loses signal value. New-hire ramp-up compresses. Customer experience gets better, not worse.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2286000"/>
            <a:ext cx="3657600" cy="3108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2286000"/>
            <a:ext cx="3657600" cy="13716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50A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3375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460073"/>
                </a:solidFill>
                <a:latin typeface="Calibri"/>
              </a:rPr>
              <a:t>What to 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840480"/>
            <a:ext cx="3108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414"/>
                </a:solidFill>
                <a:latin typeface="Calibri"/>
              </a:rPr>
              <a:t>Top-talent flattening and training-data decay are slow-moving risks. They don't show up in this year's KPIs.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23560"/>
            <a:ext cx="73152" cy="640080"/>
          </a:xfrm>
          <a:prstGeom prst="rect">
            <a:avLst/>
          </a:prstGeom>
          <a:solidFill>
            <a:srgbClr val="FF5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1">
                <a:solidFill>
                  <a:srgbClr val="E5D4FF"/>
                </a:solidFill>
                <a:latin typeface="Calibri"/>
              </a:rPr>
              <a:t>The window to redesign HR economics, ROI targets, and data-attribution mechanisms is now — while the gains are still accruing.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E5D4FF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457200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100FF"/>
                </a:solidFill>
                <a:latin typeface="Calibri"/>
              </a:rPr>
              <a:t>CITATION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114574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460073"/>
                </a:solidFill>
                <a:latin typeface="Calibri"/>
              </a:rPr>
              <a:t>References &amp;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657600" cy="4572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PRIMARY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29184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Brynjolfsson, E., Li, D., &amp; Raymond, L. (2024). Generative AI at Work. NBER Working Paper No. 31161 / arXiv:2304.11771v2 (Nov 7, 2024).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Published as: Quarterly Journal of Economics, Vol. 140, No. 2, 2025, pp. 889–942.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URL: https://arxiv.org/abs/2304.11771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7952" y="1554480"/>
            <a:ext cx="3657600" cy="457200"/>
          </a:xfrm>
          <a:prstGeom prst="rect">
            <a:avLst/>
          </a:prstGeom>
          <a:solidFill>
            <a:srgbClr val="7B4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0832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201168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194560"/>
            <a:ext cx="329184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Sample: 5,172 customer-service agents at a Fortune 500 business-process software firm.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Identification: Two-way fixed effects DiD; Sun-Abraham robust estimators.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Natural experiment: AI service outages used to test learning persistence.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554480"/>
            <a:ext cx="3657600" cy="457200"/>
          </a:xfrm>
          <a:prstGeom prst="rect">
            <a:avLst/>
          </a:prstGeom>
          <a:solidFill>
            <a:srgbClr val="BE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645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WHERE EACH STATISTIC APPEARS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10144" y="201168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2194560"/>
            <a:ext cx="3291840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+15% RPH lift — §Abstract; Table 2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+36% / 0% quintile dispersion — §5.2; Table 3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−25% manager-escalation — §7.1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−40% new-hire attrition — §7.2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35% AI suggestion adherence — §6.5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000">
                <a:solidFill>
                  <a:srgbClr val="141414"/>
                </a:solidFill>
                <a:latin typeface="Calibri"/>
              </a:rPr>
              <a:t>• 12% worker-hour savings — Conclusion §8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446520"/>
            <a:ext cx="11457432" cy="9525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5105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Source: Brynjolfsson, Li &amp; Raymond · NBER WP 31161 / arXiv:2304.11771v2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Generative AI at Work · Executive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10528"/>
            <a:ext cx="114574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8A8A8A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6007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5743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91840"/>
            <a:ext cx="114574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5D4FF"/>
                </a:solidFill>
                <a:latin typeface="Calibri"/>
              </a:rPr>
              <a:t>AI Daily Reads — Curated by aidigest.club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572000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BE82FF"/>
                </a:solidFill>
                <a:latin typeface="Calibri"/>
              </a:rPr>
              <a:t>Read the full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937760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E5D4FF"/>
                </a:solidFill>
                <a:latin typeface="Calibri"/>
              </a:rPr>
              <a:t>https://arxiv.org/abs/2304.11771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114574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BE82FF"/>
                </a:solidFill>
                <a:latin typeface="Calibri"/>
              </a:rPr>
              <a:t>Slides generated from primary source · For executive briefing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