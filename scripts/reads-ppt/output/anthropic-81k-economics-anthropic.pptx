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01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887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AI DAILY READS · EXECUTIVE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7772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5000" b="1" i="0">
                <a:solidFill>
                  <a:srgbClr val="141413"/>
                </a:solidFill>
                <a:latin typeface="Poppins"/>
              </a:rPr>
              <a:t>What 81,000 People</a:t>
            </a:r>
          </a:p>
          <a:p>
            <a:pPr algn="l">
              <a:lnSpc>
                <a:spcPct val="106000"/>
              </a:lnSpc>
            </a:pPr>
            <a:r>
              <a:rPr sz="5000" b="1" i="0">
                <a:solidFill>
                  <a:srgbClr val="141413"/>
                </a:solidFill>
                <a:latin typeface="Poppins"/>
              </a:rPr>
              <a:t>Told Us About</a:t>
            </a:r>
          </a:p>
          <a:p>
            <a:pPr algn="l">
              <a:lnSpc>
                <a:spcPct val="106000"/>
              </a:lnSpc>
            </a:pPr>
            <a:r>
              <a:rPr sz="5000" b="1" i="0">
                <a:solidFill>
                  <a:srgbClr val="141413"/>
                </a:solidFill>
                <a:latin typeface="Poppins"/>
              </a:rPr>
              <a:t>the Economics of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1">
                <a:solidFill>
                  <a:srgbClr val="B0AEA5"/>
                </a:solidFill>
                <a:latin typeface="Lora"/>
              </a:rPr>
              <a:t>Productivity, exposure, and the felt economics of AI — a survey of 81,000 Claude 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577840"/>
            <a:ext cx="2286000" cy="254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141413"/>
                </a:solidFill>
                <a:latin typeface="Poppins"/>
              </a:rPr>
              <a:t>Maxim Massenkoff &amp; Saffron Huang  ·  Anthropic Research  · 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0" y="1188720"/>
            <a:ext cx="25400" cy="475488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137160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41413"/>
                </a:solidFill>
                <a:latin typeface="Poppins"/>
              </a:rPr>
              <a:t>81,000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14884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B0AEA5"/>
                </a:solidFill>
                <a:latin typeface="Lora"/>
              </a:rPr>
              <a:t>Claude users surveyed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288036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41413"/>
                </a:solidFill>
                <a:latin typeface="Poppins"/>
              </a:rPr>
              <a:t>5.1 /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65760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B0AEA5"/>
                </a:solidFill>
                <a:latin typeface="Lora"/>
              </a:rPr>
              <a:t>Mean productivity rating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4389120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141413"/>
                </a:solidFill>
                <a:latin typeface="Poppins"/>
              </a:rPr>
              <a:t>1 in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5166360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B0AEA5"/>
                </a:solidFill>
                <a:latin typeface="Lora"/>
              </a:rPr>
              <a:t>Voice displacement concern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02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41413"/>
                </a:solidFill>
                <a:latin typeface="Poppins"/>
              </a:rPr>
              <a:t>From what Claude does —</a:t>
            </a:r>
          </a:p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41413"/>
                </a:solidFill>
                <a:latin typeface="Poppins"/>
              </a:rPr>
              <a:t>to how its users feel.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1090879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1">
                <a:solidFill>
                  <a:srgbClr val="141413"/>
                </a:solidFill>
                <a:latin typeface="Lora"/>
              </a:rPr>
              <a:t>Prior Anthropic research mapped Claude usage onto the U.S. occupation system. This survey is the first qualitative bridge — connecting observed exposure with what workers actually feel about the displacement risk.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931920"/>
            <a:ext cx="1828800" cy="2540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0AEA5"/>
                </a:solidFill>
                <a:latin typeface="Poppins"/>
              </a:rPr>
              <a:t>BEFORE THIS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534924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B0AEA5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Economic Index measured what tasks Claude performs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B0AEA5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Observed exposure quantified % of role's tasks AI touches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B0AEA5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But: no link to worker sentiment or felt threat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3931920"/>
            <a:ext cx="1828800" cy="254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4023360"/>
            <a:ext cx="5349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WHAT THIS STUDY ADDS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2" y="4434840"/>
            <a:ext cx="534924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81,000 self-selected Claude.ai users surveyed in-product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Open-ended interview format — not multiple choice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LLM classifiers extract occupation, career stage, sentiment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1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150" b="0" i="0">
                <a:solidFill>
                  <a:srgbClr val="141413"/>
                </a:solidFill>
                <a:latin typeface="Lora"/>
              </a:rPr>
              <a:t>Direct link from exposure data to perceived job threat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03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FINDINGS &amp; 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Three headline patterns the survey makes visible.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Productivity gains are real and substantial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Exposure correlates with displacement fear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Speedup and anxiety form a U-shape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01 · KEY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04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141413"/>
                </a:solidFill>
                <a:latin typeface="Poppins"/>
              </a:rPr>
              <a:t>The headline numbers.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Productivity gains are real — anxiety scales with exposure.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11880"/>
            <a:ext cx="25400" cy="265176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41413"/>
                </a:solidFill>
                <a:latin typeface="Poppins"/>
              </a:rPr>
              <a:t>5.1 /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D97757"/>
                </a:solidFill>
                <a:latin typeface="Poppins"/>
              </a:rPr>
              <a:t>Mean productivity rating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Self-reported on 1–7 scale. 5 corresponds to “substantially more productive.” 3% reported negative or neutral impacts; 42% gave no clear indication.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9111" y="3611880"/>
            <a:ext cx="25400" cy="265176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3703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141413"/>
                </a:solidFill>
                <a:latin typeface="Poppins"/>
              </a:rPr>
              <a:t>1 in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3703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6A9BCC"/>
                </a:solidFill>
                <a:latin typeface="Poppins"/>
              </a:rPr>
              <a:t>Voice job-displacement concern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3703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20% of respondents directly expressed worry about their own role being lost to AI — with concern concentrated in high-exposure occupations.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8143" y="3611880"/>
            <a:ext cx="25400" cy="265176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2735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141413"/>
                </a:solidFill>
                <a:latin typeface="Poppins"/>
              </a:rPr>
              <a:t>3×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2735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788C5D"/>
                </a:solidFill>
                <a:latin typeface="Poppins"/>
              </a:rPr>
              <a:t>Top vs bottom exposure quartile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2735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People in the top 25% of exposure mentioned the worry three times as often as those in the bottom 25%. +1.3pt threat per 10pt exposure.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47175" y="3611880"/>
            <a:ext cx="25400" cy="265176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11767" y="3611880"/>
            <a:ext cx="243984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41413"/>
                </a:solidFill>
                <a:latin typeface="Poppins"/>
              </a:rPr>
              <a:t>48% / 40%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1767" y="4526280"/>
            <a:ext cx="2439847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 spc="200">
                <a:solidFill>
                  <a:srgbClr val="D97757"/>
                </a:solidFill>
                <a:latin typeface="Poppins"/>
              </a:rPr>
              <a:t>Scope gains / Speed gains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1767" y="5074920"/>
            <a:ext cx="2439847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141413"/>
                </a:solidFill>
                <a:latin typeface="Lora"/>
              </a:rPr>
              <a:t>48% of users who mentioned productivity cited scope gains (new abilities). 40% cited speed gains (faster execution of existing work).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35508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05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CORE 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What the authors are arguing.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Worker intuitions track the usage data — anxiety is rational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Career stage shapes who feels safe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Benefits do not equal feeling safe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6A9BCC"/>
                </a:solidFill>
                <a:latin typeface="Poppins"/>
              </a:rPr>
              <a:t>ACT 02 · 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06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Worker anxiety is concentrated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where Claude is most active.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People's intuitions track the usage data — not paranoia, not panic.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6A9BCC"/>
                </a:solidFill>
                <a:latin typeface="Poppins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4983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 i="1">
                <a:solidFill>
                  <a:srgbClr val="141413"/>
                </a:solidFill>
                <a:latin typeface="Lora"/>
              </a:rPr>
              <a:t>People's intuitions track the usage data: they worry most about AI's effect in the jobs where we observe Claude doing the most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6A9BCC"/>
                </a:solidFill>
                <a:latin typeface="Poppins"/>
              </a:rPr>
              <a:t>—  Anthropic Research · Discussion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9632" y="3337560"/>
            <a:ext cx="914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D97757"/>
                </a:solidFill>
                <a:latin typeface="Poppins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3520440"/>
            <a:ext cx="4983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i="1">
                <a:solidFill>
                  <a:srgbClr val="141413"/>
                </a:solidFill>
                <a:latin typeface="Lora"/>
              </a:rPr>
              <a:t>Like anyone who has a white collar job these days, I'm 100% concerned, pretty much 24/7 concerned about losing my job eventually to A.I.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5212080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 spc="200">
                <a:solidFill>
                  <a:srgbClr val="D97757"/>
                </a:solidFill>
                <a:latin typeface="Poppins"/>
              </a:rPr>
              <a:t>—  Software engineer  ·  survey respondent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760720"/>
            <a:ext cx="10911535" cy="1905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000" b="1" i="0" spc="400">
                <a:solidFill>
                  <a:srgbClr val="D97757"/>
                </a:solidFill>
                <a:latin typeface="Poppins"/>
              </a:rPr>
              <a:t>WHY THIS MATTERS  ·  </a:t>
            </a:r>
            <a:r>
              <a:rPr sz="1200" b="0" i="1">
                <a:solidFill>
                  <a:srgbClr val="141413"/>
                </a:solidFill>
                <a:latin typeface="Lora"/>
              </a:rPr>
              <a:t>Workers can feel the diffusion of AI in their own occupations long before formal labor statistics show displacement. The fear is rational — and concentrated exactly where AI use is highest.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07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THEMATIC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How AI restructures who wins — and how.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Scope before speed — access, not just efficiency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Productivity is bimodal across the wage distribution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Speedup and anxiety form a U-shape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03 · THEME 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08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Scope and speed — not just speed.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Most users describe AI unlocking new abilities, not just faster execution of old ones.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66160"/>
            <a:ext cx="25400" cy="233172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D97757"/>
                </a:solidFill>
                <a:latin typeface="Poppins"/>
              </a:rPr>
              <a:t>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41413"/>
                </a:solidFill>
                <a:latin typeface="Poppins"/>
              </a:rPr>
              <a:t>48%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Access to new capabilities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“I'm a non-tech guy but now I'm a full-stack developer”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Customer-service rep starts e-commerce business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Delivery driver builds e-commerce · landscaper builds music app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Users attempt tasks they could not do before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566160"/>
            <a:ext cx="25400" cy="233172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6A9BCC"/>
                </a:solidFill>
                <a:latin typeface="Poppins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41413"/>
                </a:solidFill>
                <a:latin typeface="Poppins"/>
              </a:rPr>
              <a:t>40%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Faster execution of existing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“15 minutes that used to take 2 hours” — financing task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Faster code reviews, contract checks, paperwork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Quality gains via more thorough checks of code and contracts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Cost gains: replace help that was “over my budget”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89320"/>
            <a:ext cx="10911535" cy="1524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8076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1">
                <a:solidFill>
                  <a:srgbClr val="141413"/>
                </a:solidFill>
                <a:latin typeface="Lora"/>
              </a:rPr>
              <a:t>AI is not just an efficiency tool — for many users it is an access tool. That distinction shapes who gains and how visibly the gains are felt.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03 · THEME B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09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Speedup and anxiety form a U-shape.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Both extremes — being slowed down and being sped up the most — track with the highest job threat.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66160"/>
            <a:ext cx="25400" cy="233172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788C5D"/>
                </a:solidFill>
                <a:latin typeface="Poppins"/>
              </a:rPr>
              <a:t>LEFT 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41413"/>
                </a:solidFill>
                <a:latin typeface="Poppins"/>
              </a:rPr>
              <a:t>Slowed-down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Creative workers, displaced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Some creatives find AI too stifling and rigid to use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Examples: fine artists, certain writers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Still fear AI diffusion into their fields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788C5D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Highest threat perception among groups in the survey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566160"/>
            <a:ext cx="25400" cy="233172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3566160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D97757"/>
                </a:solidFill>
                <a:latin typeface="Poppins"/>
              </a:rPr>
              <a:t>RIGHT TAIL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3858768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41413"/>
                </a:solidFill>
                <a:latin typeface="Poppins"/>
              </a:rPr>
              <a:t>Sped-up users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526280"/>
            <a:ext cx="5166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Largest productivity gains, rising fear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983480"/>
            <a:ext cx="51663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Largest measured productivity gains in the sample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Above-baseline threat perception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Implicit reasoning: if tasks shrink rapidly, what is left?</a:t>
            </a:r>
          </a:p>
          <a:p>
            <a:pPr algn="l">
              <a:lnSpc>
                <a:spcPct val="132000"/>
              </a:lnSpc>
              <a:spcAft>
                <a:spcPts val="4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—  </a:t>
            </a:r>
            <a:r>
              <a:rPr sz="1050" b="0" i="0">
                <a:solidFill>
                  <a:srgbClr val="141413"/>
                </a:solidFill>
                <a:latin typeface="Lora"/>
              </a:rPr>
              <a:t>Speed gain does not equal job security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89320"/>
            <a:ext cx="10911535" cy="1524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608076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1">
                <a:solidFill>
                  <a:srgbClr val="141413"/>
                </a:solidFill>
                <a:latin typeface="Lora"/>
              </a:rPr>
              <a:t>The familiar narrative — “AI just makes good workers more productive” — misses half the story. The most empowered users are simultaneously the most worried.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10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INSIGHTS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Two structural risks hiding behind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the positive top 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Beneficiary capture by employers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Early-career squeeze — the ladder is eroding from the bottom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Bargaining power decides who keeps the surplus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04 ·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11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Today's gains hide tomorrow's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Positive sentiment is real — but who actually captures the surplus is unresolved.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11880"/>
            <a:ext cx="1828800" cy="381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21608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RISK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5349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413"/>
                </a:solidFill>
                <a:latin typeface="Poppins"/>
              </a:rPr>
              <a:t>Beneficiary capture by employers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72000"/>
            <a:ext cx="5349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Most workers report benefits flowing to themselves. But a meaningful share say employers or clients are simply extracting more work from the same person.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67528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D97757"/>
                </a:solidFill>
                <a:latin typeface="Poppins"/>
              </a:rPr>
              <a:t>SIGNAL IN THE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5272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B0AEA5"/>
                </a:solidFill>
                <a:latin typeface="Lora"/>
              </a:rPr>
              <a:t>10% of respondents who named a beneficiary said their employer or clients were the ones getting more work from them.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000" b="1" i="0">
                <a:solidFill>
                  <a:srgbClr val="D97757"/>
                </a:solidFill>
                <a:latin typeface="Poppins"/>
              </a:rPr>
              <a:t>Implication  ·  </a:t>
            </a:r>
            <a:r>
              <a:rPr sz="1100" b="0" i="1">
                <a:solidFill>
                  <a:srgbClr val="141413"/>
                </a:solidFill>
                <a:latin typeface="Lora"/>
              </a:rPr>
              <a:t>Productivity gain does not equal wage gain. Without bargaining power, the surplus accrues to firms — not workers.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3611880"/>
            <a:ext cx="1828800" cy="381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3721608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6A9BCC"/>
                </a:solidFill>
                <a:latin typeface="Poppins"/>
              </a:rPr>
              <a:t>RISK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4023360"/>
            <a:ext cx="5349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41413"/>
                </a:solidFill>
                <a:latin typeface="Poppins"/>
              </a:rPr>
              <a:t>Early-career squeeze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4572000"/>
            <a:ext cx="5349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The cohort with the most anxiety is also the cohort least confident they personally benefit — a structural mismatch the labor market has not yet priced 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5367528"/>
            <a:ext cx="5349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200">
                <a:solidFill>
                  <a:srgbClr val="6A9BCC"/>
                </a:solidFill>
                <a:latin typeface="Poppins"/>
              </a:rPr>
              <a:t>AUTHOR FRAMING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5605272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B0AEA5"/>
                </a:solidFill>
                <a:latin typeface="Lora"/>
              </a:rPr>
              <a:t>Only 60% of early-career workers see themselves benefiting (vs. 80% of senior). Hiring of recent grads is already slowing in the U.S.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9632" y="5897880"/>
            <a:ext cx="5349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200"/>
              </a:spcAft>
            </a:pPr>
            <a:r>
              <a:rPr sz="1000" b="1" i="0">
                <a:solidFill>
                  <a:srgbClr val="6A9BCC"/>
                </a:solidFill>
                <a:latin typeface="Poppins"/>
              </a:rPr>
              <a:t>Implication  ·  </a:t>
            </a:r>
            <a:r>
              <a:rPr sz="1100" b="0" i="1">
                <a:solidFill>
                  <a:srgbClr val="141413"/>
                </a:solidFill>
                <a:latin typeface="Lora"/>
              </a:rPr>
              <a:t>The traditional “climb the ladder” path may be eroding from the bottom rungs first.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12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822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 spc="400">
                <a:solidFill>
                  <a:srgbClr val="FAF9F5"/>
                </a:solidFill>
                <a:latin typeface="Poppins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45720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8000" b="1" i="0">
                <a:solidFill>
                  <a:srgbClr val="FAF9F5"/>
                </a:solidFill>
                <a:latin typeface="Poppins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188720"/>
            <a:ext cx="12700" cy="41148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188720"/>
            <a:ext cx="6355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400">
                <a:solidFill>
                  <a:srgbClr val="FAF9F5"/>
                </a:solidFill>
                <a:latin typeface="Poppins"/>
              </a:rPr>
              <a:t>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600200"/>
            <a:ext cx="63550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Five concrete moves</a:t>
            </a:r>
          </a:p>
          <a:p>
            <a:pPr algn="l">
              <a:lnSpc>
                <a:spcPct val="110000"/>
              </a:lnSpc>
            </a:pPr>
            <a:r>
              <a:rPr sz="3800" b="1" i="0">
                <a:solidFill>
                  <a:srgbClr val="FAF9F5"/>
                </a:solidFill>
                <a:latin typeface="Poppins"/>
              </a:rPr>
              <a:t>for enterprise leaders.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3931920"/>
            <a:ext cx="1371600" cy="254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4069080"/>
            <a:ext cx="6355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AF9F5"/>
                </a:solidFill>
                <a:latin typeface="Poppins"/>
              </a:rPr>
              <a:t>IN THIS SECTION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434840"/>
            <a:ext cx="6355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Treat workers' fear as data, not noise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Position AI as an access tool, not a cost tool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00" b="1" i="0">
                <a:solidFill>
                  <a:srgbClr val="FAF9F5"/>
                </a:solidFill>
                <a:latin typeface="Poppins"/>
              </a:rPr>
              <a:t>—  </a:t>
            </a:r>
            <a:r>
              <a:rPr sz="1400" b="0" i="1">
                <a:solidFill>
                  <a:srgbClr val="FAF9F5"/>
                </a:solidFill>
                <a:latin typeface="Lora"/>
              </a:rPr>
              <a:t>Protect early-career pathways now — not later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ACT 05 · PLAYBOOK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13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Five moves for enterprise leaders.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Workers' fear of AI is rational and predictable — you can act on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97757"/>
                </a:solidFill>
                <a:latin typeface="Poppins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17320" y="3611880"/>
            <a:ext cx="19050" cy="36576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91640" y="352044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Map your internal exposure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352044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Build your own observed-exposure map: % of each role's tasks already done by AI today.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35204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D97757"/>
                </a:solidFill>
                <a:latin typeface="Lora"/>
              </a:rPr>
              <a:t>Identify which teams will feel threatened first · prioritize change management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6146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6A9BCC"/>
                </a:solidFill>
                <a:latin typeface="Poppins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4160520"/>
            <a:ext cx="19050" cy="36576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40690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Frame AI as scope, not speed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06908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Position AI internally as an access tool unlocking new tasks — not as a labor-cost cutter.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06908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A9BCC"/>
                </a:solidFill>
                <a:latin typeface="Lora"/>
              </a:rPr>
              <a:t>Aligns with the 48% who frame AI as scope expansion · dampens displacement framing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61010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1772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788C5D"/>
                </a:solidFill>
                <a:latin typeface="Poppins"/>
              </a:rPr>
              <a:t>03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4709160"/>
            <a:ext cx="19050" cy="36576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91640" y="461772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Re-design junior pathways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61772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Build AI-augmented apprenticeship programs that explicitly protect early-career development.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461772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788C5D"/>
                </a:solidFill>
                <a:latin typeface="Lora"/>
              </a:rPr>
              <a:t>Counters the early-career squeeze · preserves your future senior pipeline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15874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16636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D97757"/>
                </a:solidFill>
                <a:latin typeface="Poppins"/>
              </a:rP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17320" y="5257800"/>
            <a:ext cx="19050" cy="36576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91640" y="516636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Share the productivity upside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516636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Adopt explicit gain-sharing schemes — bonuses, equity, time-off — tied to AI-driven productivity wins.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51663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D97757"/>
                </a:solidFill>
                <a:latin typeface="Lora"/>
              </a:rPr>
              <a:t>Closes the employer-capture gap · converts anxiety into engagement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70738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715000"/>
            <a:ext cx="777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 i="0">
                <a:solidFill>
                  <a:srgbClr val="6A9BCC"/>
                </a:solidFill>
                <a:latin typeface="Poppins"/>
              </a:rPr>
              <a:t>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17320" y="5806440"/>
            <a:ext cx="19050" cy="36576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91640" y="571500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41413"/>
                </a:solidFill>
                <a:latin typeface="Poppins"/>
              </a:rPr>
              <a:t>Listen to anxious top performers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57150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Run sentiment listening explicitly with your highest-speedup workers. Do not assume they feel safest.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57150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1">
                <a:solidFill>
                  <a:srgbClr val="6A9BCC"/>
                </a:solidFill>
                <a:latin typeface="Lora"/>
              </a:rPr>
              <a:t>Heads off attrition in highest-leverage staff · turns the U-shape into retention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62560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 w="6350">
            <a:solidFill>
              <a:srgbClr val="FA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141413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SYNTHESIS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E8E6DC"/>
          </a:solidFill>
          <a:ln w="6350">
            <a:solidFill>
              <a:srgbClr val="E8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B0AEA5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B0AEA5"/>
                </a:solidFill>
                <a:latin typeface="Poppins"/>
              </a:rPr>
              <a:t>14  / 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109115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AI is empowering and unsettling</a:t>
            </a:r>
          </a:p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41413"/>
                </a:solidFill>
                <a:latin typeface="Poppins"/>
              </a:rPr>
              <a:t>its users at the same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B0AEA5"/>
                </a:solidFill>
                <a:latin typeface="Lora"/>
              </a:rPr>
              <a:t>The two feelings live in the same people.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520440"/>
            <a:ext cx="2286000" cy="381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345429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D97757"/>
                </a:solidFill>
                <a:latin typeface="Poppi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8912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oppins"/>
              </a:rPr>
              <a:t>What changed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37760"/>
            <a:ext cx="34542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The first large-scale qualitative bridge from observed AI usage to user sentiment. Productivity gains are real, broad-based, and skewed bimodally across the wage distribution.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8698" y="3520440"/>
            <a:ext cx="2286000" cy="38100"/>
          </a:xfrm>
          <a:prstGeom prst="rect">
            <a:avLst/>
          </a:prstGeom>
          <a:solidFill>
            <a:srgbClr val="6A9BCC"/>
          </a:solidFill>
          <a:ln w="6350">
            <a:solidFill>
              <a:srgbClr val="6A9B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8698" y="3703320"/>
            <a:ext cx="345429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6A9BCC"/>
                </a:solidFill>
                <a:latin typeface="Poppi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68698" y="438912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oppins"/>
              </a:rPr>
              <a:t>What it means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8698" y="4937760"/>
            <a:ext cx="34542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Worker anxiety is not paranoia — it tracks measurable exposure. The most-empowered users are simultaneously the most worried. Career stage shapes who benefits.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7316" y="3520440"/>
            <a:ext cx="2286000" cy="38100"/>
          </a:xfrm>
          <a:prstGeom prst="rect">
            <a:avLst/>
          </a:prstGeom>
          <a:solidFill>
            <a:srgbClr val="788C5D"/>
          </a:solidFill>
          <a:ln w="6350">
            <a:solidFill>
              <a:srgbClr val="788C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7316" y="3703320"/>
            <a:ext cx="345429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788C5D"/>
                </a:solidFill>
                <a:latin typeface="Poppi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7316" y="4389120"/>
            <a:ext cx="34542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41413"/>
                </a:solidFill>
                <a:latin typeface="Poppins"/>
              </a:rPr>
              <a:t>What to watch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7316" y="4937760"/>
            <a:ext cx="3454298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100" b="0" i="0">
                <a:solidFill>
                  <a:srgbClr val="141413"/>
                </a:solidFill>
                <a:latin typeface="Lora"/>
              </a:rPr>
              <a:t>Beneficiary capture (who keeps the surplus) and the early-career squeeze (who gets in) are the two structural risks behind the positive top-line numbers.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080760"/>
            <a:ext cx="10911535" cy="1524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141413"/>
                </a:solidFill>
                <a:latin typeface="Lora"/>
              </a:rPr>
              <a:t>The opportunity is not just to deploy AI — it is to do so in a way that lets the workforce share both the upside and the certainty.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 w="6350">
            <a:solidFill>
              <a:srgbClr val="1414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200">
                <a:solidFill>
                  <a:srgbClr val="FAF9F5"/>
                </a:solidFill>
                <a:latin typeface="Poppins"/>
              </a:rPr>
              <a:t>aidigest · reads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71800" y="539496"/>
            <a:ext cx="91440" cy="9144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6446520"/>
            <a:ext cx="10911535" cy="6350"/>
          </a:xfrm>
          <a:prstGeom prst="rect">
            <a:avLst/>
          </a:prstGeom>
          <a:solidFill>
            <a:srgbClr val="B0AEA5"/>
          </a:solidFill>
          <a:ln w="6350">
            <a:solidFill>
              <a:srgbClr val="B0AE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3796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1">
                <a:solidFill>
                  <a:srgbClr val="E8E6DC"/>
                </a:solidFill>
                <a:latin typeface="Lora"/>
              </a:rPr>
              <a:t>Curated by aidigest.club  /  Anthropic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537960"/>
            <a:ext cx="19476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1" i="0" spc="200">
                <a:solidFill>
                  <a:srgbClr val="E8E6DC"/>
                </a:solidFill>
                <a:latin typeface="Poppins"/>
              </a:rPr>
              <a:t>15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READ THE FULL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FAF9F5"/>
                </a:solidFill>
                <a:latin typeface="Poppins"/>
              </a:rPr>
              <a:t>Thank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B0AEA5"/>
                </a:solidFill>
                <a:latin typeface="Lora"/>
              </a:rPr>
              <a:t>Curated executive briefs · aidigest.club / reads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434840"/>
            <a:ext cx="2286000" cy="25400"/>
          </a:xfrm>
          <a:prstGeom prst="rect">
            <a:avLst/>
          </a:prstGeom>
          <a:solidFill>
            <a:srgbClr val="D97757"/>
          </a:solidFill>
          <a:ln w="6350"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D97757"/>
                </a:solidFill>
                <a:latin typeface="Poppins"/>
              </a:rPr>
              <a:t>READ THE FULL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AF9F5"/>
                </a:solidFill>
                <a:latin typeface="Poppins"/>
              </a:rPr>
              <a:t>Anthropic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0AEA5"/>
                </a:solidFill>
                <a:latin typeface="Lora"/>
              </a:rPr>
              <a:t>https://www.anthropic.com/research/81k-economics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109115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1">
                <a:solidFill>
                  <a:srgbClr val="B0AEA5"/>
                </a:solidFill>
                <a:latin typeface="Lora"/>
              </a:rPr>
              <a:t>Massenkoff, M. &amp; Huang, S. (2026). What 81,000 people told us about the economics of AI. Anthropic Research · Economic Index.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