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01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AI DAILY READS · EXECUTIVE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772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Software 3.0 and the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Rise of Agentic</a:t>
            </a:r>
          </a:p>
          <a:p>
            <a:pPr algn="l">
              <a:lnSpc>
                <a:spcPct val="106000"/>
              </a:lnSpc>
            </a:pPr>
            <a:r>
              <a:rPr sz="5000" b="1" i="0">
                <a:solidFill>
                  <a:srgbClr val="141413"/>
                </a:solidFill>
                <a:latin typeface="Poppins"/>
              </a:rP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B0AEA5"/>
                </a:solidFill>
                <a:latin typeface="Lora"/>
              </a:rPr>
              <a:t>Karpathy at Sequoia Ascent 2026 — the context window is the new program, and the programmer is the orchestrator.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577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41413"/>
                </a:solidFill>
                <a:latin typeface="Poppins"/>
              </a:rPr>
              <a:t>Andrej Karpathy  ·  Sequoia Ascent 2026  ·  April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5400" cy="475488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3716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14884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Software 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8803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36576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Agentic inflection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438912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10x+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516636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B0AEA5"/>
                </a:solidFill>
                <a:latin typeface="Lora"/>
              </a:rPr>
              <a:t>Agentic engineer leverage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02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From writing code —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to orchestrating 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9087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Karpathy frames a step change in late 2025: LLM-driven agents stopped being autocomplete and started being a programmable layer. The unit of programming shifted from typing lines to delegating macro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1828800" cy="2540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0AEA5"/>
                </a:solidFill>
                <a:latin typeface="Poppins"/>
              </a:rPr>
              <a:t>OLD DEFAULT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write explicit code (Software 1.0)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curate datasets, train weights (Software 2.0)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Agents useful but require frequent correction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B0AEA5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= primary author of every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3931920"/>
            <a:ext cx="18288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4023360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SOFTWARE 3.0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4434840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Humans program LLMs through context, tools, examples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Context window becomes the main lever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delegates: implement, refactor, research, deploy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150" b="0" i="0">
                <a:solidFill>
                  <a:srgbClr val="141413"/>
                </a:solidFill>
                <a:latin typeface="Lora"/>
              </a:rPr>
              <a:t>Programmer = orchestrator of fallible agents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03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FINDINGS &amp; TRENDS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Three shifts that define the new 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December 2025 marked an agentic step change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Software 3.0: the context window is the new program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Some apps stop existing as apps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01 · KEY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141413"/>
                </a:solidFill>
                <a:latin typeface="Poppins"/>
              </a:rPr>
              <a:t>The headline shifts.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Software is being refactored around agents and verifiable feedback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Software paradigm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1.0 explicit code → 2.0 learned weights → 3.0 prompts, context, tools, memory. The interpreter is the LLM.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9111" y="3611880"/>
            <a:ext cx="25400" cy="2651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703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41413"/>
                </a:solidFill>
                <a:latin typeface="Poppins"/>
              </a:rPr>
              <a:t>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6A9BCC"/>
                </a:solidFill>
                <a:latin typeface="Poppins"/>
              </a:rPr>
              <a:t>Agentic inflection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3703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Generated chunks got larger, more coherent, more reliable. The unit of programming shifted from lines to macro actions.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8143" y="3611880"/>
            <a:ext cx="25400" cy="2651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4×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788C5D"/>
                </a:solidFill>
                <a:latin typeface="Poppins"/>
              </a:rPr>
              <a:t>Capability levers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Capability spike ≈ verifiability × training attention × data coverage × economic value. Frontier models spike where labs trained hardest.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7175" y="3611880"/>
            <a:ext cx="25400" cy="2651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11767" y="3611880"/>
            <a:ext cx="2439847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41413"/>
                </a:solidFill>
                <a:latin typeface="Poppins"/>
              </a:rPr>
              <a:t>10x+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1767" y="4526280"/>
            <a:ext cx="243984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00">
                <a:solidFill>
                  <a:srgbClr val="D97757"/>
                </a:solidFill>
                <a:latin typeface="Poppins"/>
              </a:rPr>
              <a:t>Agentic engineer leverage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1767" y="5074920"/>
            <a:ext cx="243984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141413"/>
                </a:solidFill>
                <a:latin typeface="Lora"/>
              </a:rPr>
              <a:t>Mastery of agentic workflows may extend the old “10x engineer” gap by an order of magnitude — orchestration is the new ceiling skill.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550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CORE 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Karpathy's framework for what 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Traditional software specifies; LLMs verify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Capability is jagged, not smooth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Models are ghosts, not animals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ACT 02 · 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06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What you can specify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vs. what you can verify.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dividing line between classical software and the LLM-RL frontier.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6A9BCC"/>
                </a:solidFill>
                <a:latin typeface="Poppins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 i="1">
                <a:solidFill>
                  <a:srgbClr val="141413"/>
                </a:solidFill>
                <a:latin typeface="Lora"/>
              </a:rPr>
              <a:t>Traditional software automates what you can specify. LLMs and reinforcement learning automate what you can verify.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6A9BCC"/>
                </a:solidFill>
                <a:latin typeface="Poppins"/>
              </a:rPr>
              <a:t>—  Andrej Karpathy · Sequoia Ascent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33756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D97757"/>
                </a:solidFill>
                <a:latin typeface="Poppins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520440"/>
            <a:ext cx="4983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Capability spike ≈ verifiability × training attention × data coverage × economic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5212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00">
                <a:solidFill>
                  <a:srgbClr val="D97757"/>
                </a:solidFill>
                <a:latin typeface="Poppins"/>
              </a:rPr>
              <a:t>—  Karpathy · Jagged Intelligence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760720"/>
            <a:ext cx="10911535" cy="1905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000" b="1" i="0" spc="400">
                <a:solidFill>
                  <a:srgbClr val="D97757"/>
                </a:solidFill>
                <a:latin typeface="Poppins"/>
              </a:rPr>
              <a:t>WHY THIS MATTERS  ·  </a:t>
            </a:r>
            <a:r>
              <a:rPr sz="1200" b="0" i="1">
                <a:solidFill>
                  <a:srgbClr val="141413"/>
                </a:solidFill>
                <a:latin typeface="Lora"/>
              </a:rPr>
              <a:t>If your task is resettable, repeatable, and rewardable — models will fly. If not, they will fail in surprisingly basic ways. The founder question becomes: are you on the model's rails, or do you need your own evals, fine-tuning, or RL environment?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07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THEMATIC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Where the new opportunity actually sits.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Some apps disappear into direct model transformations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The new user is the human's agent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Verifiable environments are the new wedge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08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Speeding up the old app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vs. dissolving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AI is not just faster scaffolding — for some workflows, the scaffolding disappears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FASTER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Old apps, accelerated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AI as productivity boost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OCR pipelines, image gen, deployment glue still in place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AI makes each step faster but the stack is preserved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Useful, but not the deepest shift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Most current “AI features” live 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6A9BCC"/>
                </a:solidFill>
                <a:latin typeface="Poppins"/>
              </a:rPr>
              <a:t>DISSOLVED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Apps that stop existing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Direct media-to-media transforms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MenuGen example: photo → multimodal model → rendered menu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Frontend, OCR, image API, UI — most of the app disappears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Old stack was scaffolding for a transform the model now does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“Some apps should stop existing as apps”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Do not only ask “what workflow can AI speed up?” Also ask “what information transformation was impossible before but is now natural?”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03 · THEME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09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Build for the human —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or for the human's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Most products are still designed for humans clicking screens. The user is increasingly an agent acting on behalf of a human.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25400" cy="233172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788C5D"/>
                </a:solidFill>
                <a:latin typeface="Poppins"/>
              </a:rPr>
              <a:t>HUMAN-FIRST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Click-and-read 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Default product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GUI flows, dashboards, settings panels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Docs assume manual navigation between pages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Onboarding is a tutorial, not an instruction set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788C5D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Auth and deploy require visual confirmation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566160"/>
            <a:ext cx="25400" cy="233172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56616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D97757"/>
                </a:solidFill>
                <a:latin typeface="Poppins"/>
              </a:rPr>
              <a:t>AGENT-NATIVE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58768"/>
            <a:ext cx="5166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41413"/>
                </a:solidFill>
                <a:latin typeface="Poppins"/>
              </a:rPr>
              <a:t>Sensors and actuators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526280"/>
            <a:ext cx="5166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Surfaces an agent can act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4983480"/>
            <a:ext cx="5166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Markdown docs, CLIs, APIs, MCP servers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Structured logs, machine-readable schemas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Copy-pasteable agent instructions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—  </a:t>
            </a:r>
            <a:r>
              <a:rPr sz="1050" b="0" i="0">
                <a:solidFill>
                  <a:srgbClr val="141413"/>
                </a:solidFill>
                <a:latin typeface="Lora"/>
              </a:rPr>
              <a:t>Safe permissioning + auditable actions + headless setup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98932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1">
                <a:solidFill>
                  <a:srgbClr val="141413"/>
                </a:solidFill>
                <a:latin typeface="Lora"/>
              </a:rPr>
              <a:t>A sensor turns world state into digital information; an actuator lets an agent change something. The future stack is agents using sensors and actuators on behalf of organizations.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10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INSIGHTS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What founders and engineers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should internalize.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Vibe coding raises the floor; agentic engineering raises the ceiling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LLMs are ghosts, not animals — jagged, alien tools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Understanding cannot be outsourced, even when thinking can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04 ·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11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Two truths about the new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professional skill.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Vibe coding democratizes creation. Agentic engineering is the discipline that keeps it shippable.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8288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INSIGHT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Floor vs. ceiling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Vibe coding lets almost anyone build software by description. Agentic engineering is the professional craft of coordinating fallible agents while preserving correctness, security, taste, and maintainability.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D97757"/>
                </a:solidFill>
                <a:latin typeface="Poppins"/>
              </a:rPr>
              <a:t>SIGNAL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The MenuGen Stripe-vs-Google email bug: plausible code, bad system design. A human still needs persistent-user-ID judgment.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D97757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Hiring should test agentic skill directly: decompose work for agents, write specs, review diffs, harden against adversarial agents.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9632" y="3611880"/>
            <a:ext cx="18288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3721608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6A9BCC"/>
                </a:solidFill>
                <a:latin typeface="Poppins"/>
              </a:rPr>
              <a:t>INSIGHT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4023360"/>
            <a:ext cx="5349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413"/>
                </a:solidFill>
                <a:latin typeface="Poppins"/>
              </a:rPr>
              <a:t>Ghosts, not animals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4572000"/>
            <a:ext cx="5349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LLMs have no biological drives, embodied survival, or intrinsic motivation. They are statistical simulations of human artifacts — shaped by pretraining, RL, product feedback, and economic incentives.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5367528"/>
            <a:ext cx="5349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6A9BCC"/>
                </a:solidFill>
                <a:latin typeface="Poppins"/>
              </a:rPr>
              <a:t>FRAMING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5605272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B0AEA5"/>
                </a:solidFill>
                <a:latin typeface="Lora"/>
              </a:rPr>
              <a:t>Anthropomorphic expectations mislead us. These systems are brilliant in one moment and bizarrely dumb the next — jagged, alien tools.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589788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000" b="1" i="0">
                <a:solidFill>
                  <a:srgbClr val="6A9BCC"/>
                </a:solidFill>
                <a:latin typeface="Poppins"/>
              </a:rPr>
              <a:t>Implication  ·  </a:t>
            </a:r>
            <a:r>
              <a:rPr sz="1100" b="0" i="1">
                <a:solidFill>
                  <a:srgbClr val="141413"/>
                </a:solidFill>
                <a:latin typeface="Lora"/>
              </a:rPr>
              <a:t>The right posture is empirical familiarity: learn where they work, where they fail, what they were trained for, and build guardrails accordingly.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12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400">
                <a:solidFill>
                  <a:srgbClr val="FAF9F5"/>
                </a:solidFill>
                <a:latin typeface="Poppins"/>
              </a:rPr>
              <a:t>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0972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1" i="0">
                <a:solidFill>
                  <a:srgbClr val="FAF9F5"/>
                </a:solidFill>
                <a:latin typeface="Poppi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188720"/>
            <a:ext cx="12700" cy="41148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188720"/>
            <a:ext cx="6355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FAF9F5"/>
                </a:solidFill>
                <a:latin typeface="Poppins"/>
              </a:rPr>
              <a:t>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0200"/>
            <a:ext cx="6355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Five concrete moves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FAF9F5"/>
                </a:solidFill>
                <a:latin typeface="Poppins"/>
              </a:rPr>
              <a:t>for founders and leaders.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9240" y="3931920"/>
            <a:ext cx="1371600" cy="254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4069080"/>
            <a:ext cx="6355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AF9F5"/>
                </a:solidFill>
                <a:latin typeface="Poppins"/>
              </a:rPr>
              <a:t>IN THIS 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434840"/>
            <a:ext cx="6355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Find valuable verifiable environments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Make products agent-native end to end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1" i="0">
                <a:solidFill>
                  <a:srgbClr val="FAF9F5"/>
                </a:solidFill>
                <a:latin typeface="Poppins"/>
              </a:rPr>
              <a:t>—  </a:t>
            </a:r>
            <a:r>
              <a:rPr sz="1400" b="0" i="1">
                <a:solidFill>
                  <a:srgbClr val="FAF9F5"/>
                </a:solidFill>
                <a:latin typeface="Lora"/>
              </a:rPr>
              <a:t>Preserve human understanding as the scarce asset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ACT 05 ·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13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Five moves for founders and engineering leaders.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Reorganize the work around agents, sensors, actuators, and verifiable loops.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611880"/>
            <a:ext cx="19050" cy="365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3520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Find verifiable wedges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52044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Hunt domains that are valuable, verifiable, and undertrained by frontier labs. Build an environment where agents can try, get reward, and improve.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35204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D97757"/>
                </a:solidFill>
                <a:latin typeface="Lora"/>
              </a:rPr>
              <a:t>Coding and math are crowded · economically important verticals with latent verifiable structure are the real wedge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06146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6908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160520"/>
            <a:ext cx="19050" cy="365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Audit what should disappear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06908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For each existing app or workflow, ask whether a multimodal model could perform the core transformation directly — dissolving the scaffolding.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40690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A9BCC"/>
                </a:solidFill>
                <a:latin typeface="Lora"/>
              </a:rPr>
              <a:t>Some apps should stop existing as apps · don't build faster horses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61010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61772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4709160"/>
            <a:ext cx="19050" cy="36576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91640" y="46177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Ship agent-native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61772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Treat the human's agent as the primary user. Expose CLIs, APIs, MCP servers, markdown docs, structured logs, machine-readable schemas, safe permissions.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46177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788C5D"/>
                </a:solidFill>
                <a:latin typeface="Lora"/>
              </a:rPr>
              <a:t>Auditable actions and headless setup beat click-through tutorials · adoption follows the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15874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16636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D97757"/>
                </a:solidFill>
                <a:latin typeface="Poppin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257800"/>
            <a:ext cx="19050" cy="36576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91640" y="51663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Hire for agentic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16636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Replace traditional coding puzzles with: build a substantial project with agents, deploy it, secure it, then have adversarial agents try to break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20" y="51663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D97757"/>
                </a:solidFill>
                <a:latin typeface="Lora"/>
              </a:rPr>
              <a:t>Tests real ceiling skills · decomposition, specs, review, security, leverage — not memorization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70738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715000"/>
            <a:ext cx="777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6A9BCC"/>
                </a:solidFill>
                <a:latin typeface="Poppins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17320" y="5806440"/>
            <a:ext cx="19050" cy="36576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91640" y="571500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41413"/>
                </a:solidFill>
                <a:latin typeface="Poppins"/>
              </a:rPr>
              <a:t>Protect human understanding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71500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Invest in distilled, inspectable artifacts (microGPT-style) and LLM-maintained knowledge bases that turn information into understanding — not just answers.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57150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A9BCC"/>
                </a:solidFill>
                <a:latin typeface="Lora"/>
              </a:rPr>
              <a:t>Thinking can be outsourced; understanding cannot · keep judgment in the loop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2560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 w="635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141413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SYNTHESIS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E8E6DC"/>
          </a:solidFill>
          <a:ln w="6350">
            <a:solidFill>
              <a:srgbClr val="E8E6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B0AEA5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B0AEA5"/>
                </a:solidFill>
                <a:latin typeface="Poppins"/>
              </a:rPr>
              <a:t>14  /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115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AI is becoming a new operating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141413"/>
                </a:solidFill>
                <a:latin typeface="Poppins"/>
              </a:rPr>
              <a:t>layer for digital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B0AEA5"/>
                </a:solidFill>
                <a:latin typeface="Lora"/>
              </a:rPr>
              <a:t>The scarce thing has shifted — and the work itself is being reorganized.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40"/>
            <a:ext cx="2286000" cy="381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D97757"/>
                </a:solidFill>
                <a:latin typeface="Poppi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changed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Software 3.0 made the context window the main lever. December 2025 was a step change: agents stopped being autocomplete and started being a programmable layer for digital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8698" y="3520440"/>
            <a:ext cx="2286000" cy="38100"/>
          </a:xfrm>
          <a:prstGeom prst="rect">
            <a:avLst/>
          </a:prstGeom>
          <a:solidFill>
            <a:srgbClr val="6A9BCC"/>
          </a:solidFill>
          <a:ln w="6350">
            <a:solidFill>
              <a:srgbClr val="6A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8698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6A9BCC"/>
                </a:solidFill>
                <a:latin typeface="Poppi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8698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8698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Less scarce: code generation, API recall, first drafts, repetitive setup. More scarce: understanding, taste, eval design, security, system boundaries, and knowing when the model is off the rails.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7316" y="3520440"/>
            <a:ext cx="2286000" cy="38100"/>
          </a:xfrm>
          <a:prstGeom prst="rect">
            <a:avLst/>
          </a:prstGeom>
          <a:solidFill>
            <a:srgbClr val="788C5D"/>
          </a:solidFill>
          <a:ln w="6350">
            <a:solidFill>
              <a:srgbClr val="788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7316" y="3703320"/>
            <a:ext cx="345429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788C5D"/>
                </a:solidFill>
                <a:latin typeface="Poppi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7316" y="4389120"/>
            <a:ext cx="34542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oppins"/>
              </a:rPr>
              <a:t>What to watch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4937760"/>
            <a:ext cx="345429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 i="0">
                <a:solidFill>
                  <a:srgbClr val="141413"/>
                </a:solidFill>
                <a:latin typeface="Lora"/>
              </a:rPr>
              <a:t>Jagged capability, agent-native infrastructure, verifiable environments, and the gap between humans who orchestrate agents skillfully and those who do not.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080760"/>
            <a:ext cx="10911535" cy="1524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1722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141413"/>
                </a:solidFill>
                <a:latin typeface="Lora"/>
              </a:rPr>
              <a:t>Define the context, define the tools, define the feedback loop, define the guardrails — let agents work, and preserve human understanding.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 w="6350">
            <a:solidFill>
              <a:srgbClr val="1414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FAF9F5"/>
                </a:solidFill>
                <a:latin typeface="Poppins"/>
              </a:rPr>
              <a:t>aidigest · reads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71800" y="539496"/>
            <a:ext cx="91440" cy="9144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46520"/>
            <a:ext cx="10911535" cy="6350"/>
          </a:xfrm>
          <a:prstGeom prst="rect">
            <a:avLst/>
          </a:prstGeom>
          <a:solidFill>
            <a:srgbClr val="B0AEA5"/>
          </a:solidFill>
          <a:ln w="6350">
            <a:solidFill>
              <a:srgbClr val="B0A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E8E6DC"/>
                </a:solidFill>
                <a:latin typeface="Lora"/>
              </a:rPr>
              <a:t>Curated by aidigest.club  /  Anthropic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3796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spc="200">
                <a:solidFill>
                  <a:srgbClr val="E8E6DC"/>
                </a:solidFill>
                <a:latin typeface="Poppins"/>
              </a:rPr>
              <a:t>15  /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TRANSCRIPT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AF9F5"/>
                </a:solidFill>
                <a:latin typeface="Poppins"/>
              </a:rPr>
              <a:t>Thank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46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0AEA5"/>
                </a:solidFill>
                <a:latin typeface="Lora"/>
              </a:rPr>
              <a:t>Curated executive briefs · aidigest.club / 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434840"/>
            <a:ext cx="2286000" cy="25400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D97757"/>
                </a:solidFill>
                <a:latin typeface="Poppins"/>
              </a:rPr>
              <a:t>READ THE FULL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AF9F5"/>
                </a:solidFill>
                <a:latin typeface="Poppins"/>
              </a:rPr>
              <a:t>Karpathy · Sequoia Ascent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0AEA5"/>
                </a:solidFill>
                <a:latin typeface="Lora"/>
              </a:rPr>
              <a:t>https://karpathy.bearblog.dev/sequoia-ascent-2026/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1">
                <a:solidFill>
                  <a:srgbClr val="B0AEA5"/>
                </a:solidFill>
                <a:latin typeface="Lora"/>
              </a:rPr>
              <a:t>Karpathy, A. (2026). Sequoia Ascent 2026: Software 3.0, Agentic Engineering, and Jagged Intelligence. Fireside chat with Stephanie Zhan.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