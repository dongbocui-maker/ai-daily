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slide — opens the briefing on the Brynjolfsson, Li &amp; Raymond study of generative AI at work. Frame this as the first rigorous, large-scale, causal study of GenAI's impact on real workplaces (5,172 customer service agents). Key message before turning the page: GenAI is a skill-equalizing technology — fundamentally different from prior IT waves.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 slide. Set up why this paper is special: first causal, large-scale, real-workplace evidence on GenAI productivity. Walk left → right: previous evidence base (lab/surveys/anecdotes) versus what this paper adds (5,172 real agents, quasi-random rollout, DiD, outage-based natural experiment). The bottom band reinforces sample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structure briefly. Pace: ~2 minutes per content section. Findings → Core Views → Themes → Insights → Actions →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for 01  Key Findings &amp; Trends. What the data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four numbers in order. Anchor on +15% as the headline, then immediately reveal the dispersion — +36% bottom quintile vs ~0% top quintile. Close with the −40% attrition figure as a teaser for human-capital implications. All four numbers come directly from the paper's Abstract and Tables 2–3; no derived 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for 02  Core Views. What the authors are arguing.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direct quotes from the paper, paired to set up the thesis. The first establishes skill-equalization. The second quantifies it concretely (2-month new hires match 6+ month veterans). The dark implication band makes the historical contrast explicit — this is the first IT wave that's not skill-biased.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mechanisms is the analytical heart of the paper. The outage natural experiment (column 1) is the most clever — rules out 'AI just helps in real time'. Column 2 (language uplift) makes this directly relevant to global outsourcing. Column 3 (rare-problem coverage) is counter-intuitive but logically consistent: less training data, but lower human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for 03  Themes. How AI restructures who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Theme: Theme A — Scope and Speed, Not Just Speed. Use the contrast between columns to drive the narrative — left is baseline, right is AI-enabled. The dark callout band at the bottom is the strategic 'so what'.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Theme: Theme B — Speedup and Anxiety Form a U-Shape. Use the contrast between columns to drive the narrative — left is baseline, right is AI-enabled. The dark callout band at the bottom is the strategic 'so what'.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for 04  Strategic Insights. Hidden structural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the deck transitions from 'what happened' to 'what to worry about'. Both risks come from §8 of the paper. Risk 1 (top-talent flattening) is supported by the small quality-decline at the top. Risk 2 (training data decay) is the policy-level question the paper raises but cannot resolve. Frame these as 'today's win, tomorrow's structural problem'.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 for 05  Recommended Actions. What enterprise leaders should do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concrete moves derived from the paper's findings. Action #2 (new-hire retention as a hard KPI) is the single highest-leverage move — the −40% attrition figure has more durable ROI than the +15% productivity number. Action #5 (protect top-talent originality) directly addresses the long-term risk discussed two slides ago. Walk through the table column by column — What to do, then Expected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Synthesis slide — close out the substantive content with three takeaways: what changed, what it means, what to watch. The closing line emphasizes urgency: redesign HR, ROI, and data-attribution mechanisms now while gains accrue.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trace back to the cited paper. Use this slide if asked about methodology — the two-way fixed effects DiD design and the outage-based natural experiment are what give the findings their causal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an invitation to dialogue. Remind the audience that this is one paper in the broader Stanford Enterprise AI Playbook lineage. Happy to dive deeper on any specific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4297680" y="0"/>
            <a:ext cx="1828800" cy="6858000"/>
          </a:xfrm>
          <a:prstGeom prst="rtTriangl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4864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EXECUTIVE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5D4FF"/>
                </a:solidFill>
                <a:latin typeface="Calibri"/>
              </a:rPr>
              <a:t>AI Daily Reads · aidigest.club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460073"/>
                </a:solidFill>
                <a:latin typeface="Calibri"/>
              </a:rPr>
              <a:t>Economics of AI: What 81,000 Users Said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697480"/>
            <a:ext cx="73152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88036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4A4A4A"/>
                </a:solidFill>
                <a:latin typeface="Calibri"/>
              </a:rPr>
              <a:t>Direct evidence linking AI exposure, productivity, and job-displacement fear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754880"/>
            <a:ext cx="1280160" cy="82296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8463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100FF"/>
                </a:solidFill>
                <a:latin typeface="Calibri"/>
              </a:rPr>
              <a:t>81,000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5166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Sample size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6680" y="4754880"/>
            <a:ext cx="1280160" cy="82296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48463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100FF"/>
                </a:solidFill>
                <a:latin typeface="Calibri"/>
              </a:rPr>
              <a:t>5.1 /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5166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Mean productivity gain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4754880"/>
            <a:ext cx="1280160" cy="82296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48463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100FF"/>
                </a:solidFill>
                <a:latin typeface="Calibri"/>
              </a:rPr>
              <a:t>1 in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5166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Voice job-loss fear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78440" y="4754880"/>
            <a:ext cx="1280160" cy="82296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9880" y="48463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100FF"/>
                </a:solidFill>
                <a:latin typeface="Calibri"/>
              </a:rPr>
              <a:t>Open-ended survey + LLM classifiers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69880" y="5166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126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Anthropic · Massenkoff &amp; Huang · 2026 · 81K Claude users survey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Why This Survey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57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4A4A4A"/>
                </a:solidFill>
                <a:latin typeface="Calibri"/>
              </a:rPr>
              <a:t>First large-scale qualitative bridge from observed AI usage to what users actually feel.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03120"/>
            <a:ext cx="5440680" cy="4572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PRIOR ANTHROPIC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5440680" cy="219456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49834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Economic Index: what tasks Claude performs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Observed exposure: % of a job's tasks Claude touches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Tells us what — but not how users feel about it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No direct link between usage and sentiment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2103120"/>
            <a:ext cx="5440680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WHAT THIS ADDS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560320"/>
            <a:ext cx="5440680" cy="2194560"/>
          </a:xfrm>
          <a:prstGeom prst="rect">
            <a:avLst/>
          </a:prstGeom>
          <a:solidFill>
            <a:srgbClr val="F1E8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9834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81,000 self-selected Claude users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Open-ended interview inside Claude.ai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Claude-powered classifiers extract sentiment, job, career stage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Connects observed-exposure data to perceived job threat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83480"/>
            <a:ext cx="3773424" cy="77724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056632"/>
            <a:ext cx="3453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81,000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40680"/>
            <a:ext cx="34533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5D4FF"/>
                </a:solidFill>
                <a:latin typeface="Calibri"/>
              </a:rPr>
              <a:t>Users surveyed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4904" y="4983480"/>
            <a:ext cx="3773424" cy="77724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7784" y="5056632"/>
            <a:ext cx="3453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1–7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7784" y="5440680"/>
            <a:ext cx="34533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5D4FF"/>
                </a:solidFill>
                <a:latin typeface="Calibri"/>
              </a:rPr>
              <a:t>Productivity rating scale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4048" y="4983480"/>
            <a:ext cx="3773424" cy="77724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6928" y="5056632"/>
            <a:ext cx="3453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Open-ended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6928" y="5440680"/>
            <a:ext cx="34533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5D4FF"/>
                </a:solidFill>
                <a:latin typeface="Calibri"/>
              </a:rPr>
              <a:t>Interview format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852160"/>
            <a:ext cx="11457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 reference: §Introduction; Methodology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What This Deck Covers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4767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414"/>
                </a:solidFill>
                <a:latin typeface="Calibri"/>
              </a:rPr>
              <a:t>Key Findings &amp;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402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A4A4A"/>
                </a:solidFill>
                <a:latin typeface="Calibri"/>
              </a:rPr>
              <a:t>Three headline patterns from the survey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97480"/>
            <a:ext cx="640080" cy="64008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743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414"/>
                </a:solidFill>
                <a:latin typeface="Calibri"/>
              </a:rPr>
              <a:t>Core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089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A4A4A"/>
                </a:solidFill>
                <a:latin typeface="Calibri"/>
              </a:rPr>
              <a:t>Sentiment tracks exposure; experience matters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566160"/>
            <a:ext cx="640080" cy="64008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8503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6118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414"/>
                </a:solidFill>
                <a:latin typeface="Calibri"/>
              </a:rPr>
              <a:t>Themes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9776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A4A4A"/>
                </a:solidFill>
                <a:latin typeface="Calibri"/>
              </a:rPr>
              <a:t>Who fears AI · who benefits from AI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0" y="1828800"/>
            <a:ext cx="640080" cy="64008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94767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745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414"/>
                </a:solidFill>
                <a:latin typeface="Calibri"/>
              </a:rPr>
              <a:t>Strategic Insights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2402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A4A4A"/>
                </a:solidFill>
                <a:latin typeface="Calibri"/>
              </a:rPr>
              <a:t>The U-shaped speedup-anxiety paradox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2697480"/>
            <a:ext cx="640080" cy="64008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81635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743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414"/>
                </a:solidFill>
                <a:latin typeface="Calibri"/>
              </a:rPr>
              <a:t>Recommended Actions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1089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A4A4A"/>
                </a:solidFill>
                <a:latin typeface="Calibri"/>
              </a:rPr>
              <a:t>Five moves for enterprise leaders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0" y="3566160"/>
            <a:ext cx="640080" cy="64008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68503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6118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414"/>
                </a:solidFill>
                <a:latin typeface="Calibri"/>
              </a:rPr>
              <a:t>References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9776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A4A4A"/>
                </a:solidFill>
                <a:latin typeface="Calibri"/>
              </a:rPr>
              <a:t>Source paper, methodology, citation map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D4FF"/>
                </a:solidFill>
                <a:latin typeface="Calibri"/>
              </a:rPr>
              <a:t>WHAT THE DATA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01  Key Findings &amp;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7365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Exposure correlates with fear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1937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High AND low wage gain most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6509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Speedup feels good — and threatening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The Headline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57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4A4A4A"/>
                </a:solidFill>
                <a:latin typeface="Calibri"/>
              </a:rPr>
              <a:t>Productivity gains are real and large — but anxiety scales with exposure.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2741599" cy="2331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284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5.1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971800"/>
            <a:ext cx="548640" cy="15875"/>
          </a:xfrm>
          <a:prstGeom prst="rect">
            <a:avLst/>
          </a:prstGeom>
          <a:solidFill>
            <a:srgbClr val="E5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063240"/>
            <a:ext cx="22843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Mean productivity rating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20440"/>
            <a:ext cx="22843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D4FF"/>
                </a:solidFill>
                <a:latin typeface="Calibri"/>
              </a:rPr>
              <a:t>Self-reported on 1–7 scale; 5 ≈ 'substantially more productive'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977640"/>
            <a:ext cx="2284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§Who benefits from AI?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1951" y="1965960"/>
            <a:ext cx="2741599" cy="23317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0551" y="2148840"/>
            <a:ext cx="2284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1 in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2971800"/>
            <a:ext cx="548640" cy="15875"/>
          </a:xfrm>
          <a:prstGeom prst="rect">
            <a:avLst/>
          </a:prstGeom>
          <a:solidFill>
            <a:srgbClr val="E5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0551" y="3063240"/>
            <a:ext cx="22843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Voice concern about job displacement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0551" y="3520440"/>
            <a:ext cx="22843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D4FF"/>
                </a:solidFill>
                <a:latin typeface="Calibri"/>
              </a:rPr>
              <a:t>20% of respondents directly expressed worry about losing their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0551" y="3977640"/>
            <a:ext cx="2284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§Who worries about job displacement?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8142" y="1965960"/>
            <a:ext cx="2741599" cy="2331720"/>
          </a:xfrm>
          <a:prstGeom prst="rect">
            <a:avLst/>
          </a:prstGeom>
          <a:solidFill>
            <a:srgbClr val="7B4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6742" y="2148840"/>
            <a:ext cx="2284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3×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6742" y="2971800"/>
            <a:ext cx="548640" cy="15875"/>
          </a:xfrm>
          <a:prstGeom prst="rect">
            <a:avLst/>
          </a:prstGeom>
          <a:solidFill>
            <a:srgbClr val="E5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2" y="3063240"/>
            <a:ext cx="22843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Top-25% exposure vs bottom-25% mentioning job threat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2" y="3520440"/>
            <a:ext cx="22843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D4FF"/>
                </a:solidFill>
                <a:latin typeface="Calibri"/>
              </a:rPr>
              <a:t>+1.3 percentage points in perceived threat per 10pt increase in exposure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2" y="3977640"/>
            <a:ext cx="2284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Figure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3" y="1965960"/>
            <a:ext cx="2741599" cy="2331720"/>
          </a:xfrm>
          <a:prstGeom prst="rect">
            <a:avLst/>
          </a:prstGeom>
          <a:solidFill>
            <a:srgbClr val="C82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2933" y="2148840"/>
            <a:ext cx="2284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48% · 40%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12933" y="2971800"/>
            <a:ext cx="548640" cy="15875"/>
          </a:xfrm>
          <a:prstGeom prst="rect">
            <a:avLst/>
          </a:prstGeom>
          <a:solidFill>
            <a:srgbClr val="E5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2933" y="3063240"/>
            <a:ext cx="22843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Cite scope gains · speed gains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933" y="3520440"/>
            <a:ext cx="22843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D4FF"/>
                </a:solidFill>
                <a:latin typeface="Calibri"/>
              </a:rPr>
              <a:t>Scope = 'I'm a non-tech guy but now I'm a full-stack developer'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2933" y="3977640"/>
            <a:ext cx="2284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§Scope and speed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599432"/>
            <a:ext cx="54864" cy="64008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599432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4A4A4A"/>
                </a:solidFill>
                <a:latin typeface="Calibri"/>
              </a:rPr>
              <a:t>Two stories sit on top of each other: AI is making people meaningfully more productive — and the same people, especially those most exposed, are increasingly nervous about what comes next.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D4FF"/>
                </a:solidFill>
                <a:latin typeface="Calibri"/>
              </a:rPr>
              <a:t>WHAT THE AUTHORS ARE ARGUING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02  Core Views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7365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Sentiment tracks exposure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1937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Career stage shapes everything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6509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Benefits ≠ feeling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DIRECT FROM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Thesis: People's Intuitions Match the Usage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73152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65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 i="0">
                <a:solidFill>
                  <a:srgbClr val="A100FF"/>
                </a:solidFill>
                <a:latin typeface="Calibri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6916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460073"/>
                </a:solidFill>
                <a:latin typeface="Calibri"/>
              </a:rPr>
              <a:t>People's intuitions track the usage data: they worry most about AI's effect in the jobs where we observe Claude doing the most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718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A4A4A"/>
                </a:solidFill>
                <a:latin typeface="Calibri"/>
              </a:rPr>
              <a:t>— §Discussion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520440"/>
            <a:ext cx="1145743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520440"/>
            <a:ext cx="73152" cy="146304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1">
                <a:solidFill>
                  <a:srgbClr val="141414"/>
                </a:solidFill>
                <a:latin typeface="Calibri"/>
              </a:rPr>
              <a:t>Well like anyone who has a white collar job these days I'm 100% concerned, pretty much 24/7 concerned about losing my job eventually to A.I.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A8A8A"/>
                </a:solidFill>
                <a:latin typeface="Calibri"/>
              </a:rPr>
              <a:t>— Software engineer respondent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66360"/>
            <a:ext cx="11457432" cy="11887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D4FF"/>
                </a:solidFill>
                <a:latin typeface="Calibri"/>
              </a:rPr>
              <a:t>WHY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Workers are not naïve. They can feel the diffusion of AI in their own occupations long before formal labor statistics show displacement. The fear is rational — and concentrated where Claude is most active.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Three Patterns Behind the Headline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57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4A4A4A"/>
                </a:solidFill>
                <a:latin typeface="Calibri"/>
              </a:rPr>
              <a:t>Productivity, threat perception, and benefit flow each follow distinct distributions.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011680"/>
            <a:ext cx="3657600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574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9456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Exposure → Threat Perception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788920"/>
            <a:ext cx="3657600" cy="324612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41414"/>
                </a:solidFill>
                <a:latin typeface="Calibri"/>
              </a:rPr>
              <a:t>The more AI does in your occupation, the more you fear displacement. Linear, measurable, and tracks observed exposure.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343400"/>
            <a:ext cx="3383280" cy="1280160"/>
          </a:xfrm>
          <a:prstGeom prst="rect">
            <a:avLst/>
          </a:prstGeom>
          <a:solidFill>
            <a:srgbClr val="F5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343400"/>
            <a:ext cx="45720" cy="12801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A100FF"/>
                </a:solidFill>
                <a:latin typeface="Calibri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091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460073"/>
                </a:solidFill>
                <a:latin typeface="Calibri"/>
              </a:rPr>
              <a:t>Every 10pt increase in observed exposure = +1.3pt in perceived job threat. Top quartile mentions worry 3× as often as bottom quartile.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76072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Figure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7952" y="2011680"/>
            <a:ext cx="3657600" cy="777240"/>
          </a:xfrm>
          <a:prstGeom prst="rect">
            <a:avLst/>
          </a:prstGeom>
          <a:solidFill>
            <a:srgbClr val="7B4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20574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219456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Wage Distribution Is Bimodal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7952" y="2788920"/>
            <a:ext cx="3657600" cy="324612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29718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41414"/>
                </a:solidFill>
                <a:latin typeface="Calibri"/>
              </a:rPr>
              <a:t>Highest- and lowest-wage occupations report the largest productivity gains. Middle-wage groups gain the least.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5112" y="4343400"/>
            <a:ext cx="3383280" cy="1280160"/>
          </a:xfrm>
          <a:prstGeom prst="rect">
            <a:avLst/>
          </a:prstGeom>
          <a:solidFill>
            <a:srgbClr val="F5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25112" y="4343400"/>
            <a:ext cx="45720" cy="12801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7992" y="4434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A100FF"/>
                </a:solidFill>
                <a:latin typeface="Calibri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7091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460073"/>
                </a:solidFill>
                <a:latin typeface="Calibri"/>
              </a:rPr>
              <a:t>Software developers report top gains — but so do customer service reps and delivery drivers building side businesses.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576072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Figure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10144" y="2011680"/>
            <a:ext cx="3657600" cy="777240"/>
          </a:xfrm>
          <a:prstGeom prst="rect">
            <a:avLst/>
          </a:prstGeom>
          <a:solidFill>
            <a:srgbClr val="BE8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38744" y="20574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19456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Career Stage Splits Beneficiaries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0144" y="2788920"/>
            <a:ext cx="3657600" cy="324612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29718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41414"/>
                </a:solidFill>
                <a:latin typeface="Calibri"/>
              </a:rPr>
              <a:t>Early-career workers are simultaneously more anxious and less confident they personally benefit.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47304" y="4343400"/>
            <a:ext cx="3383280" cy="1280160"/>
          </a:xfrm>
          <a:prstGeom prst="rect">
            <a:avLst/>
          </a:prstGeom>
          <a:solidFill>
            <a:srgbClr val="F5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47304" y="4343400"/>
            <a:ext cx="45720" cy="12801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30184" y="4434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A100FF"/>
                </a:solidFill>
                <a:latin typeface="Calibri"/>
              </a:rP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47091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460073"/>
                </a:solidFill>
                <a:latin typeface="Calibri"/>
              </a:rPr>
              <a:t>Only 60% of early-career say they personally benefit, vs 80% of senior professionals.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8744" y="576072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Figure 2 &amp; 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D4FF"/>
                </a:solidFill>
                <a:latin typeface="Calibri"/>
              </a:rPr>
              <a:t>HOW AI RESTRUCTURES WHO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03  Themes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7365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Scope &gt; speed for users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1937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Speedup ↔ anxiety U-shape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6509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Beneficiary ≠ provider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THEME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Theme A — Scope and Speed, Not Just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57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4A4A4A"/>
                </a:solidFill>
                <a:latin typeface="Calibri"/>
              </a:rPr>
              <a:t>Most users describe AI unlocking new abilities, not just faster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5440680" cy="45720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SCOPE (48%)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23160"/>
            <a:ext cx="5440680" cy="228600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"I'm a non-tech guy but now I'm a full-stack developer"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Customer service rep starts e-commerce business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Landscaper builds music application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AI lets users attempt tasks they couldn't before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65960"/>
            <a:ext cx="5440680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5740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SPEED (40%)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423160"/>
            <a:ext cx="5440680" cy="2286000"/>
          </a:xfrm>
          <a:prstGeom prst="rect">
            <a:avLst/>
          </a:prstGeom>
          <a:solidFill>
            <a:srgbClr val="F1E8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60604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"15 minutes that used to take 2 hours" — accountant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Faster code reviews, contract checks, paperwork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Quality gains via more thorough verification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Cost gains: replace work that exceeded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37760"/>
            <a:ext cx="11457432" cy="10972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937760"/>
            <a:ext cx="91440" cy="109728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D4FF"/>
                </a:solidFill>
                <a:latin typeface="Calibri"/>
              </a:rPr>
              <a:t>WHY THIS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AI is not just an efficiency tool — for many users, it is an access tool. The distinction shapes who gains and how.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57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Source: §Scope and speed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THEME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Theme B — Speedup and Anxiety Form a U-Shape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57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4A4A4A"/>
                </a:solidFill>
                <a:latin typeface="Calibri"/>
              </a:rPr>
              <a:t>Both extremes — being slowed down and being sped up the most — correlate with the highest job threat.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5440680" cy="45720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SLOWED-DOWN USERS (LEFT TAIL)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23160"/>
            <a:ext cx="5440680" cy="2286000"/>
          </a:xfrm>
          <a:prstGeom prst="rect">
            <a:avLst/>
          </a:prstGeom>
          <a:solidFill>
            <a:srgbClr val="FA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Creative workers find AI stifling, rigid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Fear AI diffusion into their field anyway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Examples: fine artists, certain writers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141414"/>
                </a:solidFill>
                <a:latin typeface="Calibri"/>
              </a:rPr>
              <a:t>• Highest threat perception in the 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65960"/>
            <a:ext cx="5440680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5740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SPED-UP USERS (RIGHT TAIL)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423160"/>
            <a:ext cx="5440680" cy="2286000"/>
          </a:xfrm>
          <a:prstGeom prst="rect">
            <a:avLst/>
          </a:prstGeom>
          <a:solidFill>
            <a:srgbClr val="F1E8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60604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Largest measured productivity gains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Highest threat perception above baseline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Logic: if my tasks shrink rapidly, what's left?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>
                <a:solidFill>
                  <a:srgbClr val="460073"/>
                </a:solidFill>
                <a:latin typeface="Calibri"/>
              </a:rPr>
              <a:t>• Speed gain ≠ job security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37760"/>
            <a:ext cx="11457432" cy="10972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937760"/>
            <a:ext cx="91440" cy="109728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D4FF"/>
                </a:solidFill>
                <a:latin typeface="Calibri"/>
              </a:rPr>
              <a:t>STRATEGIC IMPLICATION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narrative "AI just makes good workers more productive" misses half the story. The most-empowered users are also the most worried.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57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Source: Figure 6 — U-shaped relationship between speedup level and perceived job threat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D4FF"/>
                </a:solidFill>
                <a:latin typeface="Calibri"/>
              </a:rPr>
              <a:t>HIDDEN STRUCTURAL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04  Strategic Insights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7365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Self-selection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1937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Beneficiary capture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6509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Early-career squeeze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STRATEGIC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Strategic Insight: Two Long-Term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57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4A4A4A"/>
                </a:solidFill>
                <a:latin typeface="Calibri"/>
              </a:rPr>
              <a:t>Today's positive sentiment hides structural questions about who actually captures the gains.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5440680" cy="45720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5740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RISK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11680"/>
            <a:ext cx="3886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Beneficiary Capture by Employers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23160"/>
            <a:ext cx="54406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892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Most workers say benefits flow to themselves — but a meaningful share report employers extracting the gains.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5074920" cy="1280160"/>
          </a:xfrm>
          <a:prstGeom prst="rect">
            <a:avLst/>
          </a:prstGeom>
          <a:solidFill>
            <a:srgbClr val="F5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31920"/>
            <a:ext cx="45720" cy="128016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50A0"/>
                </a:solidFill>
                <a:latin typeface="Calibri"/>
              </a:rPr>
              <a:t>SIGNAL IN THE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4892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4A4A4A"/>
                </a:solidFill>
                <a:latin typeface="Calibri"/>
              </a:rPr>
              <a:t>10% of respondents who named a beneficiary said their employer or clients were the ones getting more work from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2064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50A0"/>
                </a:solidFill>
                <a:latin typeface="Calibri"/>
              </a:rPr>
              <a:t>→ Productivity gain ≠ wage gain. Without bargaining power, the surplus accrues to firms, not workers.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965960"/>
            <a:ext cx="5440680" cy="4572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05740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RISK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011680"/>
            <a:ext cx="3886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Early-Career Squeeze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423160"/>
            <a:ext cx="54406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606040"/>
            <a:ext cx="4892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The cohort with the most anxiety is also the cohort least confident they personally benefit — a structural mismatch.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931920"/>
            <a:ext cx="5074920" cy="1280160"/>
          </a:xfrm>
          <a:prstGeom prst="rect">
            <a:avLst/>
          </a:prstGeom>
          <a:solidFill>
            <a:srgbClr val="F5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931920"/>
            <a:ext cx="45720" cy="12801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02336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60073"/>
                </a:solidFill>
                <a:latin typeface="Calibri"/>
              </a:rPr>
              <a:t>AUTHORS' FRAMING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297680"/>
            <a:ext cx="4892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4A4A4A"/>
                </a:solidFill>
                <a:latin typeface="Calibri"/>
              </a:rPr>
              <a:t>Only 60% of early-career workers see themselves benefiting (vs 80% of senior). Hiring of recent grads is already slowing in the U.S.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12064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460073"/>
                </a:solidFill>
                <a:latin typeface="Calibri"/>
              </a:rPr>
              <a:t>→ The traditional 'climb the ladder' career path may be eroding from the bottom rungs first.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852160"/>
            <a:ext cx="11457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Source: Figure 4; §Discussion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D4FF"/>
                </a:solidFill>
                <a:latin typeface="Calibri"/>
              </a:rPr>
              <a:t>WHAT ENTERPRISE LEADERS SHOULD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05  Recommended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7365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Build trust, not just productivity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1937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Re-design onboarding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650992"/>
            <a:ext cx="164592" cy="4572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D4FF"/>
                </a:solidFill>
                <a:latin typeface="Calibri"/>
              </a:rPr>
              <a:t>Share the upside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RECOMMENDED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Five Moves for Enterprise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57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4A4A4A"/>
                </a:solidFill>
                <a:latin typeface="Calibri"/>
              </a:rPr>
              <a:t>Workers' fear of AI is rational and predictable — and you can act on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11457432" cy="77724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128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E5D4FF"/>
                </a:solidFill>
                <a:latin typeface="Calibri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128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D4FF"/>
                </a:solidFill>
                <a:latin typeface="Calibri"/>
              </a:rP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22128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D4FF"/>
                </a:solidFill>
                <a:latin typeface="Calibri"/>
              </a:rPr>
              <a:t>WHAT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12848"/>
            <a:ext cx="3319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D4FF"/>
                </a:solidFill>
                <a:latin typeface="Calibri"/>
              </a:rPr>
              <a:t>EXPECTED OUTCOME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11457432" cy="777240"/>
          </a:xfrm>
          <a:prstGeom prst="rect">
            <a:avLst/>
          </a:prstGeom>
          <a:solidFill>
            <a:srgbClr val="FAF7FF"/>
          </a:solidFill>
          <a:ln w="9525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" y="2880360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443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94436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460073"/>
                </a:solidFill>
                <a:latin typeface="Calibri"/>
              </a:rPr>
              <a:t>Measure Exposure Internally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907792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alibri"/>
              </a:rPr>
              <a:t>Build your own observed-exposure map: % of each role's tasks done by AI today.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907792"/>
            <a:ext cx="3319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4A4A"/>
                </a:solidFill>
                <a:latin typeface="Calibri"/>
              </a:rPr>
              <a:t>Identify which teams will feel threatened first; prioritize change management there.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20440"/>
            <a:ext cx="1145743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7216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72160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460073"/>
                </a:solidFill>
                <a:latin typeface="Calibri"/>
              </a:rPr>
              <a:t>Focus on Scope, Not Just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alibri"/>
              </a:rPr>
              <a:t>Position AI as an access tool — enabling new tasks — rather than a labor-cost cutter.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85032"/>
            <a:ext cx="3319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4A4A"/>
                </a:solidFill>
                <a:latin typeface="Calibri"/>
              </a:rPr>
              <a:t>Aligns with the 48% who already frame AI as scope-expansion; reduces displacement framing.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97680"/>
            <a:ext cx="11457432" cy="777240"/>
          </a:xfrm>
          <a:prstGeom prst="rect">
            <a:avLst/>
          </a:prstGeom>
          <a:solidFill>
            <a:srgbClr val="FAF7FF"/>
          </a:solidFill>
          <a:ln w="9525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2920" y="4434840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49884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49884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460073"/>
                </a:solidFill>
                <a:latin typeface="Calibri"/>
              </a:rPr>
              <a:t>Re-design Junior Pathways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4462272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alibri"/>
              </a:rPr>
              <a:t>Create AI-augmented apprenticeship programs that explicitly protect early-career talent development.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462272"/>
            <a:ext cx="3319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4A4A"/>
                </a:solidFill>
                <a:latin typeface="Calibri"/>
              </a:rPr>
              <a:t>Counters the early-career squeeze; preserves the future senior pipeline.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074920"/>
            <a:ext cx="1145743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2920" y="5212080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27608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27608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460073"/>
                </a:solidFill>
                <a:latin typeface="Calibri"/>
              </a:rPr>
              <a:t>Share Productivity Upside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5239512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alibri"/>
              </a:rPr>
              <a:t>Explicit gain-sharing schemes — bonuses, equity, or time-off — tied to measurable AI-driven productivity wins.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239512"/>
            <a:ext cx="3319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4A4A"/>
                </a:solidFill>
                <a:latin typeface="Calibri"/>
              </a:rPr>
              <a:t>Closes the 'employer captures the gain' gap; converts anxiety into engagement.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852160"/>
            <a:ext cx="11457432" cy="777240"/>
          </a:xfrm>
          <a:prstGeom prst="rect">
            <a:avLst/>
          </a:prstGeom>
          <a:solidFill>
            <a:srgbClr val="FAF7FF"/>
          </a:solidFill>
          <a:ln w="9525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02920" y="5989320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05332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05332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460073"/>
                </a:solidFill>
                <a:latin typeface="Calibri"/>
              </a:rPr>
              <a:t>Talk to the Anxious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6016752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alibri"/>
              </a:rPr>
              <a:t>Don't assume highest-speedup workers feel safest. Run sentiment listening explicitly with them.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6016752"/>
            <a:ext cx="3319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4A4A"/>
                </a:solidFill>
                <a:latin typeface="Calibri"/>
              </a:rPr>
              <a:t>Heads off attrition in your highest-leverage staff; turns U-shape insight into retention.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D4FF"/>
                </a:solidFill>
                <a:latin typeface="Calibri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Big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57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E5D4FF"/>
                </a:solidFill>
                <a:latin typeface="Calibri"/>
              </a:rPr>
              <a:t>AI is empowering and unsettling its users at the same time — and the two feelings live in the same people.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86000"/>
            <a:ext cx="365760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3657600" cy="1371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60073"/>
                </a:solidFill>
                <a:latin typeface="Calibri"/>
              </a:rPr>
              <a:t>What changed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414"/>
                </a:solidFill>
                <a:latin typeface="Calibri"/>
              </a:rPr>
              <a:t>The first large-scale qualitative data linking observed AI usage to user sentiment. Productivity gains are real, broad-based, and skewed bimodally across the wage distribution.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2286000"/>
            <a:ext cx="365760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2286000"/>
            <a:ext cx="3657600" cy="137160"/>
          </a:xfrm>
          <a:prstGeom prst="rect">
            <a:avLst/>
          </a:prstGeom>
          <a:solidFill>
            <a:srgbClr val="BE8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265176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BE82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33375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60073"/>
                </a:solidFill>
                <a:latin typeface="Calibri"/>
              </a:rPr>
              <a:t>What it means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84048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414"/>
                </a:solidFill>
                <a:latin typeface="Calibri"/>
              </a:rPr>
              <a:t>Worker anxiety is not paranoia — it tracks measurable exposure. The most-empowered users are simultaneously the most worried. Career stage shapes who benefits.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2286000"/>
            <a:ext cx="365760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2286000"/>
            <a:ext cx="3657600" cy="13716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265176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50A0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3375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60073"/>
                </a:solidFill>
                <a:latin typeface="Calibri"/>
              </a:rPr>
              <a:t>What to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84048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414"/>
                </a:solidFill>
                <a:latin typeface="Calibri"/>
              </a:rPr>
              <a:t>Beneficiary capture (who keeps the surplus) and the early-career squeeze (who gets in) are the two structural risks behind the positive top-line numbers.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623560"/>
            <a:ext cx="73152" cy="64008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6235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E5D4FF"/>
                </a:solidFill>
                <a:latin typeface="Calibri"/>
              </a:rPr>
              <a:t>The opportunity is not just to deploy AI — it is to do so in a way that lets the workforce share both the upside and the certainty.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E5D4F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4572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100FF"/>
                </a:solidFill>
                <a:latin typeface="Calibri"/>
              </a:rPr>
              <a:t>CITATION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57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60073"/>
                </a:solidFill>
                <a:latin typeface="Calibri"/>
              </a:rPr>
              <a:t>References &amp;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3657600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PRIMARY SOURCE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9184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Massenkoff, M. &amp; Huang, S. (2026). What 81,000 people told us about the economics of AI. Anthropic Research / Economic Index.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Companion: Anthropic Economic Index March 2026 Report.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URL: https://www.anthropic.com/research/81k-economics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1554480"/>
            <a:ext cx="3657600" cy="457200"/>
          </a:xfrm>
          <a:prstGeom prst="rect">
            <a:avLst/>
          </a:prstGeom>
          <a:solidFill>
            <a:srgbClr val="7B4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1645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201168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2" y="2194560"/>
            <a:ext cx="329184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Sample: 81,000 self-selected Claude.ai personal-account users (acknowledgements cite 80,508).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Format: Open-ended interview embedded in Anthropic Interviewer inside Claude.ai.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Inference: Claude-powered classifiers extract occupation, career stage, productivity, threat, beneficiary.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0144" y="1554480"/>
            <a:ext cx="3657600" cy="457200"/>
          </a:xfrm>
          <a:prstGeom prst="rect">
            <a:avLst/>
          </a:prstGeom>
          <a:solidFill>
            <a:srgbClr val="BE8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3024" y="1645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WHERE EACH STATISTIC APPEARS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201168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2194560"/>
            <a:ext cx="329184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5.1 mean productivity rating — §Who benefits from AI?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1 in 5 voice job-loss concern — §Who worries about job displacement?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+1.3pt threat per 10pt exposure / 3× top-vs-bottom — Figure 1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48% scope · 40% speed — §Scope and speed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60% early-career vs 80% senior benefit — Figure 4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00">
                <a:solidFill>
                  <a:srgbClr val="141414"/>
                </a:solidFill>
                <a:latin typeface="Calibri"/>
              </a:rPr>
              <a:t>• U-shape between speedup and threat — Figure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46520"/>
            <a:ext cx="11457432" cy="9525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Source: Maxim Massenkoff, Saffron Huang · Anthropic Research · 81K User Survey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Generative AI at Work · Executive Briefing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510528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11457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5D4FF"/>
                </a:solidFill>
                <a:latin typeface="Calibri"/>
              </a:rPr>
              <a:t>AI Daily Reads — Curated by aidigest.club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0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E82FF"/>
                </a:solidFill>
                <a:latin typeface="Calibri"/>
              </a:rPr>
              <a:t>Read the full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937760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E5D4FF"/>
                </a:solidFill>
                <a:latin typeface="Calibri"/>
              </a:rPr>
              <a:t>https://www.anthropic.com/research/81k-economics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BE82FF"/>
                </a:solidFill>
                <a:latin typeface="Calibri"/>
              </a:rPr>
              <a:t>Slides generated from primary source · For executive briefing 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