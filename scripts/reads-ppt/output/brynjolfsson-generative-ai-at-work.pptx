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 opens the briefing on the Brynjolfsson, Li &amp; Raymond study of generative AI at work. Frame this as the first rigorous, large-scale, causal study of GenAI's impact on real workplaces (5,172 customer service agents). Key message to land before turning the page: this is the empirical foundation behind the headline claim that GenAI is a skill-equalizing technology — fundamentally different from prior IT waves.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structure: Findings → Core Views → Themes → Insights → Actions → References. Each section answers one question — what the data shows, what the authors argue, how it changes work, what it means strategically, and what to do about it. Pace yourself for ~2 minutes per content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for 01  Findings &amp; Trends. Pause briefly. What the data shows.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numbers in order. Anchor the audience on +15% as the headline, then immediately reveal the dispersion — +36% bottom quintile vs 0% top quintile. Close with the −40% attrition figure as a teaser for the human-capital implications. All four numbers are direct quotes from the paper's Abstract and Tables 2–3; no derived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punchline of the paper. Earlier waves of IT — PCs, internet, ERP, robotics — were skill-biased: they made the strong stronger and widened wage inequality. GenAI is the first technology in this study to behave the opposite way. Note that 'small declines in quality' for top performers (mentioned in the paper) is a meaningful caveat, not a trivial one — that's exactly why we'll come back to it as a strategic risk on slide 13.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for 02  Core Views. Pause briefly. What the authors are arguing.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quote from the paper's Abstract — no paraphrase. The phrasing is deliberately strong: 'small declines in quality' for top performers is what makes this finding controversial. Pause and let it land before moving to mechanisms.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mechanisms is the analytical heart of the paper. The outage natural experiment (column 1) is the most clever — it rules out the 'AI just helps in real time' interpretation. Column 2 (language uplift) is what makes this directly relevant to global outsourcing. Column 3 (rare-problem coverage) is counter-intuitive but logically consistent: less training data, but lower human baseline.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for 03  Themes. Pause briefly. How this changes work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Theme slide: Theme A — The Learning Curve Is Compressed. Use the contrast between the two columns to drive the narrative — left side is the baseline (no AI), right side is the AI-enabled state. Make sure the audience hears the percentages, not just sees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Theme slide: Theme B — Customer Experience Improves Too. Use the contrast between the two columns to drive the narrative — left side is the baseline (no AI), right side is the AI-enabled state. Make sure the audience hears the percentages, not just sees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for 04  Insights. Pause briefly. What this means strategically.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deck transitions from 'what happened' to 'what to worry about'. Both risks come from §8 of the paper — the authors flag them explicitly. Risk 1 (top-talent flattening) is supported by the 'small quality decline at the top' finding. Risk 2 (training data decay) is the policy-level question the paper raises but cannot resolve. Frame these as 'today's win, tomorrow's structural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for 05  Recommended Actions. Pause briefly. What enterprise leaders should do now.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concrete moves derived from the paper's findings. Action 2 (new-hire retention as a hard KPI) is the single highest-leverage point — the −40% attrition figure has more durable ROI than the +15% productivity number. Action 5 (protect top-talent originality) directly addresses the long-term risk we discussed two slides ago.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in this deck trace back to the cited paper. Use this slide if asked about methodology — the two-way fixed effects DiD design and the outage-based natural experiment are what give the findings their causal weight.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an invitation to dialogue. Remind the audience that this is one paper in a 51-case Stanford Enterprise AI Playbook lineage — happy to dive deeper on any specific finding.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4297680" y="0"/>
            <a:ext cx="1828800" cy="6858000"/>
          </a:xfrm>
          <a:prstGeom prst="rtTriangl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57200"/>
            <a:ext cx="54864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94360"/>
            <a:ext cx="4114800" cy="36576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Executive Briefing</a:t>
            </a:r>
          </a:p>
        </p:txBody>
      </p:sp>
      <p:sp>
        <p:nvSpPr>
          <p:cNvPr id="6" name="TextBox 5"/>
          <p:cNvSpPr txBox="1"/>
          <p:nvPr/>
        </p:nvSpPr>
        <p:spPr>
          <a:xfrm>
            <a:off x="6400800" y="2286000"/>
            <a:ext cx="5486400" cy="1371600"/>
          </a:xfrm>
          <a:prstGeom prst="rect">
            <a:avLst/>
          </a:prstGeom>
          <a:noFill/>
        </p:spPr>
        <p:txBody>
          <a:bodyPr wrap="square" lIns="0" rIns="0" tIns="0" bIns="0" anchor="t">
            <a:spAutoFit/>
          </a:bodyPr>
          <a:lstStyle/>
          <a:p>
            <a:pPr algn="l">
              <a:lnSpc>
                <a:spcPct val="105000"/>
              </a:lnSpc>
            </a:pPr>
            <a:r>
              <a:rPr sz="4200" b="1">
                <a:solidFill>
                  <a:srgbClr val="460073"/>
                </a:solidFill>
                <a:latin typeface="Calibri"/>
              </a:rPr>
              <a:t>Generative AI at Work</a:t>
            </a:r>
          </a:p>
        </p:txBody>
      </p:sp>
      <p:sp>
        <p:nvSpPr>
          <p:cNvPr id="7" name="TextBox 6"/>
          <p:cNvSpPr txBox="1"/>
          <p:nvPr/>
        </p:nvSpPr>
        <p:spPr>
          <a:xfrm>
            <a:off x="6400800" y="3657600"/>
            <a:ext cx="5486400" cy="1371600"/>
          </a:xfrm>
          <a:prstGeom prst="rect">
            <a:avLst/>
          </a:prstGeom>
          <a:noFill/>
        </p:spPr>
        <p:txBody>
          <a:bodyPr wrap="square" lIns="0" rIns="0" tIns="0" bIns="0" anchor="t">
            <a:spAutoFit/>
          </a:bodyPr>
          <a:lstStyle/>
          <a:p>
            <a:pPr algn="l">
              <a:lnSpc>
                <a:spcPct val="125000"/>
              </a:lnSpc>
            </a:pPr>
            <a:r>
              <a:rPr sz="1800" b="0">
                <a:solidFill>
                  <a:srgbClr val="4A4A4A"/>
                </a:solidFill>
                <a:latin typeface="Calibri"/>
              </a:rPr>
              <a:t>Evidence from 5,172 Customer-Service Agents on the Real Productivity Impact of GenAI</a:t>
            </a:r>
          </a:p>
        </p:txBody>
      </p:sp>
      <p:sp>
        <p:nvSpPr>
          <p:cNvPr id="8" name="TextBox 7"/>
          <p:cNvSpPr txBox="1"/>
          <p:nvPr/>
        </p:nvSpPr>
        <p:spPr>
          <a:xfrm>
            <a:off x="6400800" y="5943600"/>
            <a:ext cx="5486400" cy="365760"/>
          </a:xfrm>
          <a:prstGeom prst="rect">
            <a:avLst/>
          </a:prstGeom>
          <a:noFill/>
        </p:spPr>
        <p:txBody>
          <a:bodyPr wrap="square" lIns="0" rIns="0" tIns="0" bIns="0" anchor="t">
            <a:spAutoFit/>
          </a:bodyPr>
          <a:lstStyle/>
          <a:p>
            <a:pPr algn="l">
              <a:lnSpc>
                <a:spcPct val="115000"/>
              </a:lnSpc>
            </a:pPr>
            <a:r>
              <a:rPr sz="1100" b="0">
                <a:solidFill>
                  <a:srgbClr val="8A8A8A"/>
                </a:solidFill>
                <a:latin typeface="Calibri"/>
              </a:rPr>
              <a:t>Brynjolfsson, Li &amp; Raymond · NBER WP 31161 ·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Agenda</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What This Deck Covers</a:t>
            </a:r>
          </a:p>
        </p:txBody>
      </p:sp>
      <p:sp>
        <p:nvSpPr>
          <p:cNvPr id="5" name="Oval 4"/>
          <p:cNvSpPr/>
          <p:nvPr/>
        </p:nvSpPr>
        <p:spPr>
          <a:xfrm>
            <a:off x="548640" y="182880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2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01</a:t>
            </a:r>
          </a:p>
        </p:txBody>
      </p:sp>
      <p:sp>
        <p:nvSpPr>
          <p:cNvPr id="7" name="TextBox 6"/>
          <p:cNvSpPr txBox="1"/>
          <p:nvPr/>
        </p:nvSpPr>
        <p:spPr>
          <a:xfrm>
            <a:off x="1234440" y="192024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Why this study matters</a:t>
            </a:r>
          </a:p>
        </p:txBody>
      </p:sp>
      <p:sp>
        <p:nvSpPr>
          <p:cNvPr id="8" name="Oval 7"/>
          <p:cNvSpPr/>
          <p:nvPr/>
        </p:nvSpPr>
        <p:spPr>
          <a:xfrm>
            <a:off x="548640" y="246888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1460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02</a:t>
            </a:r>
          </a:p>
        </p:txBody>
      </p:sp>
      <p:sp>
        <p:nvSpPr>
          <p:cNvPr id="10" name="TextBox 9"/>
          <p:cNvSpPr txBox="1"/>
          <p:nvPr/>
        </p:nvSpPr>
        <p:spPr>
          <a:xfrm>
            <a:off x="1234440" y="256032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Headline findings &amp; trends</a:t>
            </a:r>
          </a:p>
        </p:txBody>
      </p:sp>
      <p:sp>
        <p:nvSpPr>
          <p:cNvPr id="11" name="Oval 10"/>
          <p:cNvSpPr/>
          <p:nvPr/>
        </p:nvSpPr>
        <p:spPr>
          <a:xfrm>
            <a:off x="548640" y="310896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5468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03</a:t>
            </a:r>
          </a:p>
        </p:txBody>
      </p:sp>
      <p:sp>
        <p:nvSpPr>
          <p:cNvPr id="13" name="TextBox 12"/>
          <p:cNvSpPr txBox="1"/>
          <p:nvPr/>
        </p:nvSpPr>
        <p:spPr>
          <a:xfrm>
            <a:off x="1234440" y="320040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Core views from the authors</a:t>
            </a:r>
          </a:p>
        </p:txBody>
      </p:sp>
      <p:sp>
        <p:nvSpPr>
          <p:cNvPr id="14" name="Oval 13"/>
          <p:cNvSpPr/>
          <p:nvPr/>
        </p:nvSpPr>
        <p:spPr>
          <a:xfrm>
            <a:off x="548640" y="374904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79476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04</a:t>
            </a:r>
          </a:p>
        </p:txBody>
      </p:sp>
      <p:sp>
        <p:nvSpPr>
          <p:cNvPr id="16" name="TextBox 15"/>
          <p:cNvSpPr txBox="1"/>
          <p:nvPr/>
        </p:nvSpPr>
        <p:spPr>
          <a:xfrm>
            <a:off x="1234440" y="384048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Thematic deep dive</a:t>
            </a:r>
          </a:p>
        </p:txBody>
      </p:sp>
      <p:sp>
        <p:nvSpPr>
          <p:cNvPr id="17" name="Oval 16"/>
          <p:cNvSpPr/>
          <p:nvPr/>
        </p:nvSpPr>
        <p:spPr>
          <a:xfrm>
            <a:off x="6400800" y="182880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87452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05</a:t>
            </a:r>
          </a:p>
        </p:txBody>
      </p:sp>
      <p:sp>
        <p:nvSpPr>
          <p:cNvPr id="19" name="TextBox 18"/>
          <p:cNvSpPr txBox="1"/>
          <p:nvPr/>
        </p:nvSpPr>
        <p:spPr>
          <a:xfrm>
            <a:off x="7086600" y="192024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Strategic insights</a:t>
            </a:r>
          </a:p>
        </p:txBody>
      </p:sp>
      <p:sp>
        <p:nvSpPr>
          <p:cNvPr id="20" name="Oval 19"/>
          <p:cNvSpPr/>
          <p:nvPr/>
        </p:nvSpPr>
        <p:spPr>
          <a:xfrm>
            <a:off x="6400800" y="246888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51460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06</a:t>
            </a:r>
          </a:p>
        </p:txBody>
      </p:sp>
      <p:sp>
        <p:nvSpPr>
          <p:cNvPr id="22" name="TextBox 21"/>
          <p:cNvSpPr txBox="1"/>
          <p:nvPr/>
        </p:nvSpPr>
        <p:spPr>
          <a:xfrm>
            <a:off x="7086600" y="256032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Recommended actions</a:t>
            </a:r>
          </a:p>
        </p:txBody>
      </p:sp>
      <p:sp>
        <p:nvSpPr>
          <p:cNvPr id="23" name="Oval 22"/>
          <p:cNvSpPr/>
          <p:nvPr/>
        </p:nvSpPr>
        <p:spPr>
          <a:xfrm>
            <a:off x="6400800" y="3108960"/>
            <a:ext cx="502920" cy="50292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154680"/>
            <a:ext cx="50292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Calibri"/>
              </a:rPr>
              <a:t>07</a:t>
            </a:r>
          </a:p>
        </p:txBody>
      </p:sp>
      <p:sp>
        <p:nvSpPr>
          <p:cNvPr id="25" name="TextBox 24"/>
          <p:cNvSpPr txBox="1"/>
          <p:nvPr/>
        </p:nvSpPr>
        <p:spPr>
          <a:xfrm>
            <a:off x="7086600" y="3200400"/>
            <a:ext cx="5029200" cy="457200"/>
          </a:xfrm>
          <a:prstGeom prst="rect">
            <a:avLst/>
          </a:prstGeom>
          <a:noFill/>
        </p:spPr>
        <p:txBody>
          <a:bodyPr wrap="square" lIns="0" rIns="0" tIns="0" bIns="0" anchor="t">
            <a:spAutoFit/>
          </a:bodyPr>
          <a:lstStyle/>
          <a:p>
            <a:pPr algn="l">
              <a:lnSpc>
                <a:spcPct val="115000"/>
              </a:lnSpc>
            </a:pPr>
            <a:r>
              <a:rPr sz="1800" b="1">
                <a:solidFill>
                  <a:srgbClr val="141414"/>
                </a:solidFill>
                <a:latin typeface="Calibri"/>
              </a:rPr>
              <a:t>References</a:t>
            </a:r>
          </a:p>
        </p:txBody>
      </p:sp>
      <p:sp>
        <p:nvSpPr>
          <p:cNvPr id="26" name="Rectangle 25"/>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28" name="TextBox 27"/>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29" name="TextBox 28"/>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Rectangle 1"/>
          <p:cNvSpPr/>
          <p:nvPr/>
        </p:nvSpPr>
        <p:spPr>
          <a:xfrm>
            <a:off x="0" y="2286000"/>
            <a:ext cx="365760" cy="22860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lIns="0" rIns="0" tIns="0" bIns="0" anchor="t">
            <a:spAutoFit/>
          </a:bodyPr>
          <a:lstStyle/>
          <a:p>
            <a:pPr algn="l">
              <a:lnSpc>
                <a:spcPct val="115000"/>
              </a:lnSpc>
            </a:pPr>
            <a:r>
              <a:rPr sz="1400" b="1">
                <a:solidFill>
                  <a:srgbClr val="E5D4FF"/>
                </a:solidFill>
                <a:latin typeface="Calibri"/>
              </a:rPr>
              <a:t>What the data shows</a:t>
            </a:r>
          </a:p>
        </p:txBody>
      </p:sp>
      <p:sp>
        <p:nvSpPr>
          <p:cNvPr id="4" name="TextBox 3"/>
          <p:cNvSpPr txBox="1"/>
          <p:nvPr/>
        </p:nvSpPr>
        <p:spPr>
          <a:xfrm>
            <a:off x="822960" y="2834640"/>
            <a:ext cx="10515600" cy="1828800"/>
          </a:xfrm>
          <a:prstGeom prst="rect">
            <a:avLst/>
          </a:prstGeom>
          <a:noFill/>
        </p:spPr>
        <p:txBody>
          <a:bodyPr wrap="square" lIns="0" rIns="0" tIns="0" bIns="0" anchor="t">
            <a:spAutoFit/>
          </a:bodyPr>
          <a:lstStyle/>
          <a:p>
            <a:pPr algn="l">
              <a:lnSpc>
                <a:spcPct val="110000"/>
              </a:lnSpc>
            </a:pPr>
            <a:r>
              <a:rPr sz="5400" b="1">
                <a:solidFill>
                  <a:srgbClr val="FFFFFF"/>
                </a:solidFill>
                <a:latin typeface="Calibri"/>
              </a:rPr>
              <a:t>01  Findings &amp; Trends</a:t>
            </a:r>
          </a:p>
        </p:txBody>
      </p:sp>
      <p:sp>
        <p:nvSpPr>
          <p:cNvPr id="5" name="TextBox 4"/>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E5D4FF"/>
                </a:solidFill>
                <a:latin typeface="Calibri"/>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Findings</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The Headline Numbers</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AI lifts average productivity by 15%, but the gains are deeply uneven.</a:t>
            </a:r>
          </a:p>
        </p:txBody>
      </p:sp>
      <p:sp>
        <p:nvSpPr>
          <p:cNvPr id="6" name="Rectangle 5"/>
          <p:cNvSpPr/>
          <p:nvPr/>
        </p:nvSpPr>
        <p:spPr>
          <a:xfrm>
            <a:off x="365760" y="2194560"/>
            <a:ext cx="2727883" cy="18288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423160"/>
            <a:ext cx="2362123" cy="914400"/>
          </a:xfrm>
          <a:prstGeom prst="rect">
            <a:avLst/>
          </a:prstGeom>
          <a:noFill/>
        </p:spPr>
        <p:txBody>
          <a:bodyPr wrap="square" lIns="0" rIns="0" tIns="0" bIns="0" anchor="t">
            <a:spAutoFit/>
          </a:bodyPr>
          <a:lstStyle/>
          <a:p>
            <a:pPr algn="l">
              <a:lnSpc>
                <a:spcPct val="100000"/>
              </a:lnSpc>
            </a:pPr>
            <a:r>
              <a:rPr sz="4400" b="1">
                <a:solidFill>
                  <a:srgbClr val="FFFFFF"/>
                </a:solidFill>
                <a:latin typeface="Calibri"/>
              </a:rPr>
              <a:t>+15%</a:t>
            </a:r>
          </a:p>
        </p:txBody>
      </p:sp>
      <p:sp>
        <p:nvSpPr>
          <p:cNvPr id="8" name="TextBox 7"/>
          <p:cNvSpPr txBox="1"/>
          <p:nvPr/>
        </p:nvSpPr>
        <p:spPr>
          <a:xfrm>
            <a:off x="548640" y="3246120"/>
            <a:ext cx="2362123" cy="640080"/>
          </a:xfrm>
          <a:prstGeom prst="rect">
            <a:avLst/>
          </a:prstGeom>
          <a:noFill/>
        </p:spPr>
        <p:txBody>
          <a:bodyPr wrap="square" lIns="0" rIns="0" tIns="0" bIns="0" anchor="t">
            <a:spAutoFit/>
          </a:bodyPr>
          <a:lstStyle/>
          <a:p>
            <a:pPr algn="l">
              <a:lnSpc>
                <a:spcPct val="120000"/>
              </a:lnSpc>
            </a:pPr>
            <a:r>
              <a:rPr sz="1200" b="0">
                <a:solidFill>
                  <a:srgbClr val="E5D4FF"/>
                </a:solidFill>
                <a:latin typeface="Calibri"/>
              </a:rPr>
              <a:t>Avg. resolutions/hr (RPH) across 5,172 agents</a:t>
            </a:r>
          </a:p>
        </p:txBody>
      </p:sp>
      <p:sp>
        <p:nvSpPr>
          <p:cNvPr id="9" name="TextBox 8"/>
          <p:cNvSpPr txBox="1"/>
          <p:nvPr/>
        </p:nvSpPr>
        <p:spPr>
          <a:xfrm>
            <a:off x="548640" y="3703320"/>
            <a:ext cx="2362123" cy="274320"/>
          </a:xfrm>
          <a:prstGeom prst="rect">
            <a:avLst/>
          </a:prstGeom>
          <a:noFill/>
        </p:spPr>
        <p:txBody>
          <a:bodyPr wrap="square" lIns="0" rIns="0" tIns="0" bIns="0" anchor="t">
            <a:spAutoFit/>
          </a:bodyPr>
          <a:lstStyle/>
          <a:p>
            <a:pPr algn="l">
              <a:lnSpc>
                <a:spcPct val="115000"/>
              </a:lnSpc>
            </a:pPr>
            <a:r>
              <a:rPr sz="800" b="0">
                <a:solidFill>
                  <a:srgbClr val="E5D4FF"/>
                </a:solidFill>
                <a:latin typeface="Calibri"/>
              </a:rPr>
              <a:t>§Abstract; Table 2</a:t>
            </a:r>
          </a:p>
        </p:txBody>
      </p:sp>
      <p:sp>
        <p:nvSpPr>
          <p:cNvPr id="10" name="Rectangle 9"/>
          <p:cNvSpPr/>
          <p:nvPr/>
        </p:nvSpPr>
        <p:spPr>
          <a:xfrm>
            <a:off x="3276523" y="2194560"/>
            <a:ext cx="2727883" cy="1828800"/>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9403" y="2423160"/>
            <a:ext cx="2362123" cy="914400"/>
          </a:xfrm>
          <a:prstGeom prst="rect">
            <a:avLst/>
          </a:prstGeom>
          <a:noFill/>
        </p:spPr>
        <p:txBody>
          <a:bodyPr wrap="square" lIns="0" rIns="0" tIns="0" bIns="0" anchor="t">
            <a:spAutoFit/>
          </a:bodyPr>
          <a:lstStyle/>
          <a:p>
            <a:pPr algn="l">
              <a:lnSpc>
                <a:spcPct val="100000"/>
              </a:lnSpc>
            </a:pPr>
            <a:r>
              <a:rPr sz="4400" b="1">
                <a:solidFill>
                  <a:srgbClr val="FFFFFF"/>
                </a:solidFill>
                <a:latin typeface="Calibri"/>
              </a:rPr>
              <a:t>+36%</a:t>
            </a:r>
          </a:p>
        </p:txBody>
      </p:sp>
      <p:sp>
        <p:nvSpPr>
          <p:cNvPr id="12" name="TextBox 11"/>
          <p:cNvSpPr txBox="1"/>
          <p:nvPr/>
        </p:nvSpPr>
        <p:spPr>
          <a:xfrm>
            <a:off x="3459403" y="3246120"/>
            <a:ext cx="2362123" cy="640080"/>
          </a:xfrm>
          <a:prstGeom prst="rect">
            <a:avLst/>
          </a:prstGeom>
          <a:noFill/>
        </p:spPr>
        <p:txBody>
          <a:bodyPr wrap="square" lIns="0" rIns="0" tIns="0" bIns="0" anchor="t">
            <a:spAutoFit/>
          </a:bodyPr>
          <a:lstStyle/>
          <a:p>
            <a:pPr algn="l">
              <a:lnSpc>
                <a:spcPct val="120000"/>
              </a:lnSpc>
            </a:pPr>
            <a:r>
              <a:rPr sz="1200" b="0">
                <a:solidFill>
                  <a:srgbClr val="E5D4FF"/>
                </a:solidFill>
                <a:latin typeface="Calibri"/>
              </a:rPr>
              <a:t>RPH gain for the lowest-skill quintile</a:t>
            </a:r>
          </a:p>
        </p:txBody>
      </p:sp>
      <p:sp>
        <p:nvSpPr>
          <p:cNvPr id="13" name="TextBox 12"/>
          <p:cNvSpPr txBox="1"/>
          <p:nvPr/>
        </p:nvSpPr>
        <p:spPr>
          <a:xfrm>
            <a:off x="3459403" y="3703320"/>
            <a:ext cx="2362123" cy="274320"/>
          </a:xfrm>
          <a:prstGeom prst="rect">
            <a:avLst/>
          </a:prstGeom>
          <a:noFill/>
        </p:spPr>
        <p:txBody>
          <a:bodyPr wrap="square" lIns="0" rIns="0" tIns="0" bIns="0" anchor="t">
            <a:spAutoFit/>
          </a:bodyPr>
          <a:lstStyle/>
          <a:p>
            <a:pPr algn="l">
              <a:lnSpc>
                <a:spcPct val="115000"/>
              </a:lnSpc>
            </a:pPr>
            <a:r>
              <a:rPr sz="800" b="0">
                <a:solidFill>
                  <a:srgbClr val="E5D4FF"/>
                </a:solidFill>
                <a:latin typeface="Calibri"/>
              </a:rPr>
              <a:t>§5.2; Table 3</a:t>
            </a:r>
          </a:p>
        </p:txBody>
      </p:sp>
      <p:sp>
        <p:nvSpPr>
          <p:cNvPr id="14" name="Rectangle 13"/>
          <p:cNvSpPr/>
          <p:nvPr/>
        </p:nvSpPr>
        <p:spPr>
          <a:xfrm>
            <a:off x="6187286" y="2194560"/>
            <a:ext cx="2727883" cy="18288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6" y="2423160"/>
            <a:ext cx="2362123" cy="914400"/>
          </a:xfrm>
          <a:prstGeom prst="rect">
            <a:avLst/>
          </a:prstGeom>
          <a:noFill/>
        </p:spPr>
        <p:txBody>
          <a:bodyPr wrap="square" lIns="0" rIns="0" tIns="0" bIns="0" anchor="t">
            <a:spAutoFit/>
          </a:bodyPr>
          <a:lstStyle/>
          <a:p>
            <a:pPr algn="l">
              <a:lnSpc>
                <a:spcPct val="100000"/>
              </a:lnSpc>
            </a:pPr>
            <a:r>
              <a:rPr sz="4400" b="1">
                <a:solidFill>
                  <a:srgbClr val="FFFFFF"/>
                </a:solidFill>
                <a:latin typeface="Calibri"/>
              </a:rPr>
              <a:t>0%</a:t>
            </a:r>
          </a:p>
        </p:txBody>
      </p:sp>
      <p:sp>
        <p:nvSpPr>
          <p:cNvPr id="16" name="TextBox 15"/>
          <p:cNvSpPr txBox="1"/>
          <p:nvPr/>
        </p:nvSpPr>
        <p:spPr>
          <a:xfrm>
            <a:off x="6370166" y="3246120"/>
            <a:ext cx="2362123" cy="640080"/>
          </a:xfrm>
          <a:prstGeom prst="rect">
            <a:avLst/>
          </a:prstGeom>
          <a:noFill/>
        </p:spPr>
        <p:txBody>
          <a:bodyPr wrap="square" lIns="0" rIns="0" tIns="0" bIns="0" anchor="t">
            <a:spAutoFit/>
          </a:bodyPr>
          <a:lstStyle/>
          <a:p>
            <a:pPr algn="l">
              <a:lnSpc>
                <a:spcPct val="120000"/>
              </a:lnSpc>
            </a:pPr>
            <a:r>
              <a:rPr sz="1200" b="0">
                <a:solidFill>
                  <a:srgbClr val="E5D4FF"/>
                </a:solidFill>
                <a:latin typeface="Calibri"/>
              </a:rPr>
              <a:t>RPH gain for the highest-skill quintile</a:t>
            </a:r>
          </a:p>
        </p:txBody>
      </p:sp>
      <p:sp>
        <p:nvSpPr>
          <p:cNvPr id="17" name="TextBox 16"/>
          <p:cNvSpPr txBox="1"/>
          <p:nvPr/>
        </p:nvSpPr>
        <p:spPr>
          <a:xfrm>
            <a:off x="6370166" y="3703320"/>
            <a:ext cx="2362123" cy="274320"/>
          </a:xfrm>
          <a:prstGeom prst="rect">
            <a:avLst/>
          </a:prstGeom>
          <a:noFill/>
        </p:spPr>
        <p:txBody>
          <a:bodyPr wrap="square" lIns="0" rIns="0" tIns="0" bIns="0" anchor="t">
            <a:spAutoFit/>
          </a:bodyPr>
          <a:lstStyle/>
          <a:p>
            <a:pPr algn="l">
              <a:lnSpc>
                <a:spcPct val="115000"/>
              </a:lnSpc>
            </a:pPr>
            <a:r>
              <a:rPr sz="800" b="0">
                <a:solidFill>
                  <a:srgbClr val="E5D4FF"/>
                </a:solidFill>
                <a:latin typeface="Calibri"/>
              </a:rPr>
              <a:t>§5.2; Table 3</a:t>
            </a:r>
          </a:p>
        </p:txBody>
      </p:sp>
      <p:sp>
        <p:nvSpPr>
          <p:cNvPr id="18" name="Rectangle 17"/>
          <p:cNvSpPr/>
          <p:nvPr/>
        </p:nvSpPr>
        <p:spPr>
          <a:xfrm>
            <a:off x="9098049" y="2194560"/>
            <a:ext cx="2727883" cy="1828800"/>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0929" y="2423160"/>
            <a:ext cx="2362123" cy="914400"/>
          </a:xfrm>
          <a:prstGeom prst="rect">
            <a:avLst/>
          </a:prstGeom>
          <a:noFill/>
        </p:spPr>
        <p:txBody>
          <a:bodyPr wrap="square" lIns="0" rIns="0" tIns="0" bIns="0" anchor="t">
            <a:spAutoFit/>
          </a:bodyPr>
          <a:lstStyle/>
          <a:p>
            <a:pPr algn="l">
              <a:lnSpc>
                <a:spcPct val="100000"/>
              </a:lnSpc>
            </a:pPr>
            <a:r>
              <a:rPr sz="4400" b="1">
                <a:solidFill>
                  <a:srgbClr val="FFFFFF"/>
                </a:solidFill>
                <a:latin typeface="Calibri"/>
              </a:rPr>
              <a:t>−40%</a:t>
            </a:r>
          </a:p>
        </p:txBody>
      </p:sp>
      <p:sp>
        <p:nvSpPr>
          <p:cNvPr id="20" name="TextBox 19"/>
          <p:cNvSpPr txBox="1"/>
          <p:nvPr/>
        </p:nvSpPr>
        <p:spPr>
          <a:xfrm>
            <a:off x="9280929" y="3246120"/>
            <a:ext cx="2362123" cy="640080"/>
          </a:xfrm>
          <a:prstGeom prst="rect">
            <a:avLst/>
          </a:prstGeom>
          <a:noFill/>
        </p:spPr>
        <p:txBody>
          <a:bodyPr wrap="square" lIns="0" rIns="0" tIns="0" bIns="0" anchor="t">
            <a:spAutoFit/>
          </a:bodyPr>
          <a:lstStyle/>
          <a:p>
            <a:pPr algn="l">
              <a:lnSpc>
                <a:spcPct val="120000"/>
              </a:lnSpc>
            </a:pPr>
            <a:r>
              <a:rPr sz="1200" b="0">
                <a:solidFill>
                  <a:srgbClr val="E5D4FF"/>
                </a:solidFill>
                <a:latin typeface="Calibri"/>
              </a:rPr>
              <a:t>Reduction in new-hire attrition</a:t>
            </a:r>
          </a:p>
        </p:txBody>
      </p:sp>
      <p:sp>
        <p:nvSpPr>
          <p:cNvPr id="21" name="TextBox 20"/>
          <p:cNvSpPr txBox="1"/>
          <p:nvPr/>
        </p:nvSpPr>
        <p:spPr>
          <a:xfrm>
            <a:off x="9280929" y="3703320"/>
            <a:ext cx="2362123" cy="274320"/>
          </a:xfrm>
          <a:prstGeom prst="rect">
            <a:avLst/>
          </a:prstGeom>
          <a:noFill/>
        </p:spPr>
        <p:txBody>
          <a:bodyPr wrap="square" lIns="0" rIns="0" tIns="0" bIns="0" anchor="t">
            <a:spAutoFit/>
          </a:bodyPr>
          <a:lstStyle/>
          <a:p>
            <a:pPr algn="l">
              <a:lnSpc>
                <a:spcPct val="115000"/>
              </a:lnSpc>
            </a:pPr>
            <a:r>
              <a:rPr sz="800" b="0">
                <a:solidFill>
                  <a:srgbClr val="E5D4FF"/>
                </a:solidFill>
                <a:latin typeface="Calibri"/>
              </a:rPr>
              <a:t>§7.2</a:t>
            </a:r>
          </a:p>
        </p:txBody>
      </p:sp>
      <p:sp>
        <p:nvSpPr>
          <p:cNvPr id="22" name="TextBox 21"/>
          <p:cNvSpPr txBox="1"/>
          <p:nvPr/>
        </p:nvSpPr>
        <p:spPr>
          <a:xfrm>
            <a:off x="365760" y="4389120"/>
            <a:ext cx="11457432" cy="914400"/>
          </a:xfrm>
          <a:prstGeom prst="rect">
            <a:avLst/>
          </a:prstGeom>
          <a:noFill/>
        </p:spPr>
        <p:txBody>
          <a:bodyPr wrap="square" lIns="0" rIns="0" tIns="0" bIns="0" anchor="t">
            <a:spAutoFit/>
          </a:bodyPr>
          <a:lstStyle/>
          <a:p>
            <a:pPr algn="l">
              <a:lnSpc>
                <a:spcPct val="130000"/>
              </a:lnSpc>
            </a:pPr>
            <a:r>
              <a:rPr sz="1400" b="0">
                <a:solidFill>
                  <a:srgbClr val="4A4A4A"/>
                </a:solidFill>
                <a:latin typeface="Calibri"/>
              </a:rPr>
              <a:t>Average gain masks a striking distribution: junior agents leap forward, senior agents barely move. The same intervention, very different outcomes.</a:t>
            </a:r>
          </a:p>
        </p:txBody>
      </p:sp>
      <p:sp>
        <p:nvSpPr>
          <p:cNvPr id="23" name="Rectangle 22"/>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25" name="TextBox 24"/>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26" name="TextBox 25"/>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Trend Reversal</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AI Flips the Script on Skill-Biased Tech</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Earlier IT waves rewarded the strong; GenAI is the first to lift the weak.</a:t>
            </a:r>
          </a:p>
        </p:txBody>
      </p:sp>
      <p:sp>
        <p:nvSpPr>
          <p:cNvPr id="6" name="Rectangle 5"/>
          <p:cNvSpPr/>
          <p:nvPr/>
        </p:nvSpPr>
        <p:spPr>
          <a:xfrm>
            <a:off x="365760" y="2194560"/>
            <a:ext cx="5440680" cy="32918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194560"/>
            <a:ext cx="5440680" cy="45720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8600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Past IT Waves (PC, Internet, ERP)</a:t>
            </a:r>
          </a:p>
        </p:txBody>
      </p:sp>
      <p:sp>
        <p:nvSpPr>
          <p:cNvPr id="9" name="TextBox 8"/>
          <p:cNvSpPr txBox="1"/>
          <p:nvPr/>
        </p:nvSpPr>
        <p:spPr>
          <a:xfrm>
            <a:off x="548640" y="2834640"/>
            <a:ext cx="5074920" cy="2560320"/>
          </a:xfrm>
          <a:prstGeom prst="rect">
            <a:avLst/>
          </a:prstGeom>
          <a:noFill/>
        </p:spPr>
        <p:txBody>
          <a:bodyPr wrap="square" lIns="0" rIns="0" tIns="0" bIns="0">
            <a:spAutoFit/>
          </a:bodyPr>
          <a:lstStyle/>
          <a:p>
            <a:pPr algn="l">
              <a:lnSpc>
                <a:spcPct val="140000"/>
              </a:lnSpc>
              <a:spcAft>
                <a:spcPts val="600"/>
              </a:spcAft>
            </a:pPr>
            <a:r>
              <a:rPr sz="1600" b="0">
                <a:solidFill>
                  <a:srgbClr val="141414"/>
                </a:solidFill>
                <a:latin typeface="Calibri"/>
              </a:rPr>
              <a:t>• Skill-biased technical change</a:t>
            </a:r>
          </a:p>
          <a:p>
            <a:pPr algn="l">
              <a:lnSpc>
                <a:spcPct val="140000"/>
              </a:lnSpc>
              <a:spcAft>
                <a:spcPts val="600"/>
              </a:spcAft>
            </a:pPr>
            <a:r>
              <a:rPr sz="1600" b="0">
                <a:solidFill>
                  <a:srgbClr val="141414"/>
                </a:solidFill>
                <a:latin typeface="Calibri"/>
              </a:rPr>
              <a:t>• Top performers benefited most</a:t>
            </a:r>
          </a:p>
          <a:p>
            <a:pPr algn="l">
              <a:lnSpc>
                <a:spcPct val="140000"/>
              </a:lnSpc>
              <a:spcAft>
                <a:spcPts val="600"/>
              </a:spcAft>
            </a:pPr>
            <a:r>
              <a:rPr sz="1600" b="0">
                <a:solidFill>
                  <a:srgbClr val="141414"/>
                </a:solidFill>
                <a:latin typeface="Calibri"/>
              </a:rPr>
              <a:t>• Wage inequality widened</a:t>
            </a:r>
          </a:p>
        </p:txBody>
      </p:sp>
      <p:sp>
        <p:nvSpPr>
          <p:cNvPr id="10" name="Rectangle 9"/>
          <p:cNvSpPr/>
          <p:nvPr/>
        </p:nvSpPr>
        <p:spPr>
          <a:xfrm>
            <a:off x="6355080" y="2194560"/>
            <a:ext cx="5440680" cy="32918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2194560"/>
            <a:ext cx="5440680" cy="4572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28600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Generative AI (this study)</a:t>
            </a:r>
          </a:p>
        </p:txBody>
      </p:sp>
      <p:sp>
        <p:nvSpPr>
          <p:cNvPr id="13" name="TextBox 12"/>
          <p:cNvSpPr txBox="1"/>
          <p:nvPr/>
        </p:nvSpPr>
        <p:spPr>
          <a:xfrm>
            <a:off x="6537960" y="2834640"/>
            <a:ext cx="5074920" cy="2560320"/>
          </a:xfrm>
          <a:prstGeom prst="rect">
            <a:avLst/>
          </a:prstGeom>
          <a:noFill/>
        </p:spPr>
        <p:txBody>
          <a:bodyPr wrap="square" lIns="0" rIns="0" tIns="0" bIns="0">
            <a:spAutoFit/>
          </a:bodyPr>
          <a:lstStyle/>
          <a:p>
            <a:pPr algn="l">
              <a:lnSpc>
                <a:spcPct val="140000"/>
              </a:lnSpc>
              <a:spcAft>
                <a:spcPts val="600"/>
              </a:spcAft>
            </a:pPr>
            <a:r>
              <a:rPr sz="1600" b="0">
                <a:solidFill>
                  <a:srgbClr val="460073"/>
                </a:solidFill>
                <a:latin typeface="Calibri"/>
              </a:rPr>
              <a:t>• Skill-equalizing effect</a:t>
            </a:r>
          </a:p>
          <a:p>
            <a:pPr algn="l">
              <a:lnSpc>
                <a:spcPct val="140000"/>
              </a:lnSpc>
              <a:spcAft>
                <a:spcPts val="600"/>
              </a:spcAft>
            </a:pPr>
            <a:r>
              <a:rPr sz="1600" b="0">
                <a:solidFill>
                  <a:srgbClr val="460073"/>
                </a:solidFill>
                <a:latin typeface="Calibri"/>
              </a:rPr>
              <a:t>• Lowest-skill agents gain the most</a:t>
            </a:r>
          </a:p>
          <a:p>
            <a:pPr algn="l">
              <a:lnSpc>
                <a:spcPct val="140000"/>
              </a:lnSpc>
              <a:spcAft>
                <a:spcPts val="600"/>
              </a:spcAft>
            </a:pPr>
            <a:r>
              <a:rPr sz="1600" b="0">
                <a:solidFill>
                  <a:srgbClr val="460073"/>
                </a:solidFill>
                <a:latin typeface="Calibri"/>
              </a:rPr>
              <a:t>• 2-month new hires match 6-month veterans</a:t>
            </a:r>
          </a:p>
        </p:txBody>
      </p:sp>
      <p:sp>
        <p:nvSpPr>
          <p:cNvPr id="14" name="TextBox 13"/>
          <p:cNvSpPr txBox="1"/>
          <p:nvPr/>
        </p:nvSpPr>
        <p:spPr>
          <a:xfrm>
            <a:off x="365760" y="5760720"/>
            <a:ext cx="11457432"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Source reference: §Abstract; §5; §6.1</a:t>
            </a:r>
          </a:p>
        </p:txBody>
      </p:sp>
      <p:sp>
        <p:nvSpPr>
          <p:cNvPr id="15" name="Rectangle 14"/>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17" name="TextBox 16"/>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18" name="TextBox 17"/>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Rectangle 1"/>
          <p:cNvSpPr/>
          <p:nvPr/>
        </p:nvSpPr>
        <p:spPr>
          <a:xfrm>
            <a:off x="0" y="2286000"/>
            <a:ext cx="365760" cy="22860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lIns="0" rIns="0" tIns="0" bIns="0" anchor="t">
            <a:spAutoFit/>
          </a:bodyPr>
          <a:lstStyle/>
          <a:p>
            <a:pPr algn="l">
              <a:lnSpc>
                <a:spcPct val="115000"/>
              </a:lnSpc>
            </a:pPr>
            <a:r>
              <a:rPr sz="1400" b="1">
                <a:solidFill>
                  <a:srgbClr val="E5D4FF"/>
                </a:solidFill>
                <a:latin typeface="Calibri"/>
              </a:rPr>
              <a:t>What the authors are arguing</a:t>
            </a:r>
          </a:p>
        </p:txBody>
      </p:sp>
      <p:sp>
        <p:nvSpPr>
          <p:cNvPr id="4" name="TextBox 3"/>
          <p:cNvSpPr txBox="1"/>
          <p:nvPr/>
        </p:nvSpPr>
        <p:spPr>
          <a:xfrm>
            <a:off x="822960" y="2834640"/>
            <a:ext cx="10515600" cy="1828800"/>
          </a:xfrm>
          <a:prstGeom prst="rect">
            <a:avLst/>
          </a:prstGeom>
          <a:noFill/>
        </p:spPr>
        <p:txBody>
          <a:bodyPr wrap="square" lIns="0" rIns="0" tIns="0" bIns="0" anchor="t">
            <a:spAutoFit/>
          </a:bodyPr>
          <a:lstStyle/>
          <a:p>
            <a:pPr algn="l">
              <a:lnSpc>
                <a:spcPct val="110000"/>
              </a:lnSpc>
            </a:pPr>
            <a:r>
              <a:rPr sz="5400" b="1">
                <a:solidFill>
                  <a:srgbClr val="FFFFFF"/>
                </a:solidFill>
                <a:latin typeface="Calibri"/>
              </a:rPr>
              <a:t>02  Core Views</a:t>
            </a:r>
          </a:p>
        </p:txBody>
      </p:sp>
      <p:sp>
        <p:nvSpPr>
          <p:cNvPr id="5" name="TextBox 4"/>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E5D4FF"/>
                </a:solidFill>
                <a:latin typeface="Calibri"/>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5D4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Authors' Thesis</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Thesis: GenAI Is Skill-Equalizing</a:t>
            </a:r>
          </a:p>
        </p:txBody>
      </p:sp>
      <p:sp>
        <p:nvSpPr>
          <p:cNvPr id="5" name="TextBox 4"/>
          <p:cNvSpPr txBox="1"/>
          <p:nvPr/>
        </p:nvSpPr>
        <p:spPr>
          <a:xfrm>
            <a:off x="365760" y="1645920"/>
            <a:ext cx="1828800" cy="1828800"/>
          </a:xfrm>
          <a:prstGeom prst="rect">
            <a:avLst/>
          </a:prstGeom>
          <a:noFill/>
        </p:spPr>
        <p:txBody>
          <a:bodyPr wrap="square" lIns="0" rIns="0" tIns="0" bIns="0" anchor="t">
            <a:spAutoFit/>
          </a:bodyPr>
          <a:lstStyle/>
          <a:p>
            <a:pPr algn="l">
              <a:lnSpc>
                <a:spcPct val="90000"/>
              </a:lnSpc>
            </a:pPr>
            <a:r>
              <a:rPr sz="16000" b="1">
                <a:solidFill>
                  <a:srgbClr val="A100FF"/>
                </a:solidFill>
                <a:latin typeface="Calibri"/>
              </a:rPr>
              <a:t>“</a:t>
            </a:r>
          </a:p>
        </p:txBody>
      </p:sp>
      <p:sp>
        <p:nvSpPr>
          <p:cNvPr id="6" name="TextBox 5"/>
          <p:cNvSpPr txBox="1"/>
          <p:nvPr/>
        </p:nvSpPr>
        <p:spPr>
          <a:xfrm>
            <a:off x="1828800" y="2286000"/>
            <a:ext cx="9875520" cy="2743200"/>
          </a:xfrm>
          <a:prstGeom prst="rect">
            <a:avLst/>
          </a:prstGeom>
          <a:noFill/>
        </p:spPr>
        <p:txBody>
          <a:bodyPr wrap="square" lIns="0" rIns="0" tIns="0" bIns="0" anchor="t">
            <a:spAutoFit/>
          </a:bodyPr>
          <a:lstStyle/>
          <a:p>
            <a:pPr algn="l">
              <a:lnSpc>
                <a:spcPct val="135000"/>
              </a:lnSpc>
            </a:pPr>
            <a:r>
              <a:rPr sz="2400" b="0">
                <a:solidFill>
                  <a:srgbClr val="460073"/>
                </a:solidFill>
                <a:latin typeface="Calibri"/>
              </a:rPr>
              <a:t>Less experienced and lower-skilled workers improve both the speed and quality of their output while the most experienced and highest-skilled workers see small gains in speed and small declines in quality.</a:t>
            </a:r>
          </a:p>
        </p:txBody>
      </p:sp>
      <p:sp>
        <p:nvSpPr>
          <p:cNvPr id="7" name="TextBox 6"/>
          <p:cNvSpPr txBox="1"/>
          <p:nvPr/>
        </p:nvSpPr>
        <p:spPr>
          <a:xfrm>
            <a:off x="1828800" y="5212080"/>
            <a:ext cx="9875520" cy="365760"/>
          </a:xfrm>
          <a:prstGeom prst="rect">
            <a:avLst/>
          </a:prstGeom>
          <a:noFill/>
        </p:spPr>
        <p:txBody>
          <a:bodyPr wrap="square" lIns="0" rIns="0" tIns="0" bIns="0" anchor="t">
            <a:spAutoFit/>
          </a:bodyPr>
          <a:lstStyle/>
          <a:p>
            <a:pPr algn="l">
              <a:lnSpc>
                <a:spcPct val="115000"/>
              </a:lnSpc>
            </a:pPr>
            <a:r>
              <a:rPr sz="1400" b="1">
                <a:solidFill>
                  <a:srgbClr val="4A4A4A"/>
                </a:solidFill>
                <a:latin typeface="Calibri"/>
              </a:rPr>
              <a:t>— Brynjolfsson, Li &amp; Raymond (2024), §Abstract</a:t>
            </a:r>
          </a:p>
        </p:txBody>
      </p:sp>
      <p:sp>
        <p:nvSpPr>
          <p:cNvPr id="8" name="Rectangle 7"/>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10" name="TextBox 9"/>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11" name="TextBox 10"/>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Mechanisms</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Three Mechanisms Behind the Gains</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The lift isn't magic — it's encoded best practice flowing from top to bottom.</a:t>
            </a:r>
          </a:p>
        </p:txBody>
      </p:sp>
      <p:sp>
        <p:nvSpPr>
          <p:cNvPr id="6" name="Rectangle 5"/>
          <p:cNvSpPr/>
          <p:nvPr/>
        </p:nvSpPr>
        <p:spPr>
          <a:xfrm>
            <a:off x="365760" y="2194560"/>
            <a:ext cx="3657600"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29184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1. Encoded Tacit Knowledge</a:t>
            </a:r>
          </a:p>
        </p:txBody>
      </p:sp>
      <p:sp>
        <p:nvSpPr>
          <p:cNvPr id="8" name="Rectangle 7"/>
          <p:cNvSpPr/>
          <p:nvPr/>
        </p:nvSpPr>
        <p:spPr>
          <a:xfrm>
            <a:off x="365760" y="2697480"/>
            <a:ext cx="3657600" cy="2788920"/>
          </a:xfrm>
          <a:prstGeom prst="rect">
            <a:avLst/>
          </a:prstGeom>
          <a:solidFill>
            <a:srgbClr val="FA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926080"/>
            <a:ext cx="3200400" cy="2103120"/>
          </a:xfrm>
          <a:prstGeom prst="rect">
            <a:avLst/>
          </a:prstGeom>
          <a:noFill/>
        </p:spPr>
        <p:txBody>
          <a:bodyPr wrap="square" lIns="0" rIns="0" tIns="0" bIns="0" anchor="t">
            <a:spAutoFit/>
          </a:bodyPr>
          <a:lstStyle/>
          <a:p>
            <a:pPr algn="l">
              <a:lnSpc>
                <a:spcPct val="135000"/>
              </a:lnSpc>
            </a:pPr>
            <a:r>
              <a:rPr sz="1500" b="0">
                <a:solidFill>
                  <a:srgbClr val="141414"/>
                </a:solidFill>
                <a:latin typeface="Calibri"/>
              </a:rPr>
              <a:t>AI learns top performers' patterns and broadcasts them to everyone — durable learning, not dependency.</a:t>
            </a:r>
          </a:p>
        </p:txBody>
      </p:sp>
      <p:sp>
        <p:nvSpPr>
          <p:cNvPr id="10" name="TextBox 9"/>
          <p:cNvSpPr txBox="1"/>
          <p:nvPr/>
        </p:nvSpPr>
        <p:spPr>
          <a:xfrm>
            <a:off x="594360" y="5120640"/>
            <a:ext cx="3200400"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§6.2 outage natural experiment</a:t>
            </a:r>
          </a:p>
        </p:txBody>
      </p:sp>
      <p:sp>
        <p:nvSpPr>
          <p:cNvPr id="11" name="Rectangle 10"/>
          <p:cNvSpPr/>
          <p:nvPr/>
        </p:nvSpPr>
        <p:spPr>
          <a:xfrm>
            <a:off x="4187952" y="2194560"/>
            <a:ext cx="3657600" cy="502920"/>
          </a:xfrm>
          <a:prstGeom prst="rect">
            <a:avLst/>
          </a:prstGeom>
          <a:solidFill>
            <a:srgbClr val="7B4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2" y="2286000"/>
            <a:ext cx="329184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2. Language Uplift</a:t>
            </a:r>
          </a:p>
        </p:txBody>
      </p:sp>
      <p:sp>
        <p:nvSpPr>
          <p:cNvPr id="13" name="Rectangle 12"/>
          <p:cNvSpPr/>
          <p:nvPr/>
        </p:nvSpPr>
        <p:spPr>
          <a:xfrm>
            <a:off x="4187952" y="2697480"/>
            <a:ext cx="3657600" cy="2788920"/>
          </a:xfrm>
          <a:prstGeom prst="rect">
            <a:avLst/>
          </a:prstGeom>
          <a:solidFill>
            <a:srgbClr val="FA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6552" y="2926080"/>
            <a:ext cx="3200400" cy="2103120"/>
          </a:xfrm>
          <a:prstGeom prst="rect">
            <a:avLst/>
          </a:prstGeom>
          <a:noFill/>
        </p:spPr>
        <p:txBody>
          <a:bodyPr wrap="square" lIns="0" rIns="0" tIns="0" bIns="0" anchor="t">
            <a:spAutoFit/>
          </a:bodyPr>
          <a:lstStyle/>
          <a:p>
            <a:pPr algn="l">
              <a:lnSpc>
                <a:spcPct val="135000"/>
              </a:lnSpc>
            </a:pPr>
            <a:r>
              <a:rPr sz="1500" b="0">
                <a:solidFill>
                  <a:srgbClr val="141414"/>
                </a:solidFill>
                <a:latin typeface="Calibri"/>
              </a:rPr>
              <a:t>Conversation analysis shows non-native English speakers' fluency converging toward top-performer style.</a:t>
            </a:r>
          </a:p>
        </p:txBody>
      </p:sp>
      <p:sp>
        <p:nvSpPr>
          <p:cNvPr id="15" name="TextBox 14"/>
          <p:cNvSpPr txBox="1"/>
          <p:nvPr/>
        </p:nvSpPr>
        <p:spPr>
          <a:xfrm>
            <a:off x="4416552" y="5120640"/>
            <a:ext cx="3200400"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§6.3 text analysis</a:t>
            </a:r>
          </a:p>
        </p:txBody>
      </p:sp>
      <p:sp>
        <p:nvSpPr>
          <p:cNvPr id="16" name="Rectangle 15"/>
          <p:cNvSpPr/>
          <p:nvPr/>
        </p:nvSpPr>
        <p:spPr>
          <a:xfrm>
            <a:off x="8010144" y="2194560"/>
            <a:ext cx="3657600" cy="502920"/>
          </a:xfrm>
          <a:prstGeom prst="rect">
            <a:avLst/>
          </a:prstGeom>
          <a:solidFill>
            <a:srgbClr val="BE8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2286000"/>
            <a:ext cx="329184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3. Rare-Problem Coverage</a:t>
            </a:r>
          </a:p>
        </p:txBody>
      </p:sp>
      <p:sp>
        <p:nvSpPr>
          <p:cNvPr id="18" name="Rectangle 17"/>
          <p:cNvSpPr/>
          <p:nvPr/>
        </p:nvSpPr>
        <p:spPr>
          <a:xfrm>
            <a:off x="8010144" y="2697480"/>
            <a:ext cx="3657600" cy="2788920"/>
          </a:xfrm>
          <a:prstGeom prst="rect">
            <a:avLst/>
          </a:prstGeom>
          <a:solidFill>
            <a:srgbClr val="FA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926080"/>
            <a:ext cx="3200400" cy="2103120"/>
          </a:xfrm>
          <a:prstGeom prst="rect">
            <a:avLst/>
          </a:prstGeom>
          <a:noFill/>
        </p:spPr>
        <p:txBody>
          <a:bodyPr wrap="square" lIns="0" rIns="0" tIns="0" bIns="0" anchor="t">
            <a:spAutoFit/>
          </a:bodyPr>
          <a:lstStyle/>
          <a:p>
            <a:pPr algn="l">
              <a:lnSpc>
                <a:spcPct val="135000"/>
              </a:lnSpc>
            </a:pPr>
            <a:r>
              <a:rPr sz="1500" b="0">
                <a:solidFill>
                  <a:srgbClr val="141414"/>
                </a:solidFill>
                <a:latin typeface="Calibri"/>
              </a:rPr>
              <a:t>Largest gains on rare issues — where human baseline is weakest, AI net contribution is highest.</a:t>
            </a:r>
          </a:p>
        </p:txBody>
      </p:sp>
      <p:sp>
        <p:nvSpPr>
          <p:cNvPr id="20" name="TextBox 19"/>
          <p:cNvSpPr txBox="1"/>
          <p:nvPr/>
        </p:nvSpPr>
        <p:spPr>
          <a:xfrm>
            <a:off x="8238744" y="5120640"/>
            <a:ext cx="3200400"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§6.4 topic stratification</a:t>
            </a:r>
          </a:p>
        </p:txBody>
      </p:sp>
      <p:sp>
        <p:nvSpPr>
          <p:cNvPr id="21" name="Rectangle 20"/>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23" name="TextBox 22"/>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24" name="TextBox 23"/>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Rectangle 1"/>
          <p:cNvSpPr/>
          <p:nvPr/>
        </p:nvSpPr>
        <p:spPr>
          <a:xfrm>
            <a:off x="0" y="2286000"/>
            <a:ext cx="365760" cy="22860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lIns="0" rIns="0" tIns="0" bIns="0" anchor="t">
            <a:spAutoFit/>
          </a:bodyPr>
          <a:lstStyle/>
          <a:p>
            <a:pPr algn="l">
              <a:lnSpc>
                <a:spcPct val="115000"/>
              </a:lnSpc>
            </a:pPr>
            <a:r>
              <a:rPr sz="1400" b="1">
                <a:solidFill>
                  <a:srgbClr val="E5D4FF"/>
                </a:solidFill>
                <a:latin typeface="Calibri"/>
              </a:rPr>
              <a:t>How this changes work itself</a:t>
            </a:r>
          </a:p>
        </p:txBody>
      </p:sp>
      <p:sp>
        <p:nvSpPr>
          <p:cNvPr id="4" name="TextBox 3"/>
          <p:cNvSpPr txBox="1"/>
          <p:nvPr/>
        </p:nvSpPr>
        <p:spPr>
          <a:xfrm>
            <a:off x="822960" y="2834640"/>
            <a:ext cx="10515600" cy="1828800"/>
          </a:xfrm>
          <a:prstGeom prst="rect">
            <a:avLst/>
          </a:prstGeom>
          <a:noFill/>
        </p:spPr>
        <p:txBody>
          <a:bodyPr wrap="square" lIns="0" rIns="0" tIns="0" bIns="0" anchor="t">
            <a:spAutoFit/>
          </a:bodyPr>
          <a:lstStyle/>
          <a:p>
            <a:pPr algn="l">
              <a:lnSpc>
                <a:spcPct val="110000"/>
              </a:lnSpc>
            </a:pPr>
            <a:r>
              <a:rPr sz="5400" b="1">
                <a:solidFill>
                  <a:srgbClr val="FFFFFF"/>
                </a:solidFill>
                <a:latin typeface="Calibri"/>
              </a:rPr>
              <a:t>03  Themes</a:t>
            </a:r>
          </a:p>
        </p:txBody>
      </p:sp>
      <p:sp>
        <p:nvSpPr>
          <p:cNvPr id="5" name="TextBox 4"/>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E5D4FF"/>
                </a:solidFill>
                <a:latin typeface="Calibri"/>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Theme</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Theme A — The Learning Curve Is Compressed</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Ramp-up time collapses; tenure-based seniority loses signal value.</a:t>
            </a:r>
          </a:p>
        </p:txBody>
      </p:sp>
      <p:sp>
        <p:nvSpPr>
          <p:cNvPr id="6" name="Rectangle 5"/>
          <p:cNvSpPr/>
          <p:nvPr/>
        </p:nvSpPr>
        <p:spPr>
          <a:xfrm>
            <a:off x="365760" y="2286000"/>
            <a:ext cx="5440680" cy="4572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7744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Without AI</a:t>
            </a:r>
          </a:p>
        </p:txBody>
      </p:sp>
      <p:sp>
        <p:nvSpPr>
          <p:cNvPr id="8" name="Rectangle 7"/>
          <p:cNvSpPr/>
          <p:nvPr/>
        </p:nvSpPr>
        <p:spPr>
          <a:xfrm>
            <a:off x="365760" y="2743200"/>
            <a:ext cx="5440680" cy="2651760"/>
          </a:xfrm>
          <a:prstGeom prst="rect">
            <a:avLst/>
          </a:prstGeom>
          <a:solidFill>
            <a:srgbClr val="FA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71800"/>
            <a:ext cx="4892040" cy="2331720"/>
          </a:xfrm>
          <a:prstGeom prst="rect">
            <a:avLst/>
          </a:prstGeom>
          <a:noFill/>
        </p:spPr>
        <p:txBody>
          <a:bodyPr wrap="square" lIns="0" rIns="0" tIns="0" bIns="0">
            <a:spAutoFit/>
          </a:bodyPr>
          <a:lstStyle/>
          <a:p>
            <a:pPr algn="l">
              <a:lnSpc>
                <a:spcPct val="150000"/>
              </a:lnSpc>
              <a:spcAft>
                <a:spcPts val="600"/>
              </a:spcAft>
            </a:pPr>
            <a:r>
              <a:rPr sz="1600" b="0">
                <a:solidFill>
                  <a:srgbClr val="141414"/>
                </a:solidFill>
                <a:latin typeface="Calibri"/>
              </a:rPr>
              <a:t>• 8–10 months to reach 2.5 RPH</a:t>
            </a:r>
          </a:p>
          <a:p>
            <a:pPr algn="l">
              <a:lnSpc>
                <a:spcPct val="150000"/>
              </a:lnSpc>
              <a:spcAft>
                <a:spcPts val="600"/>
              </a:spcAft>
            </a:pPr>
            <a:r>
              <a:rPr sz="1600" b="0">
                <a:solidFill>
                  <a:srgbClr val="141414"/>
                </a:solidFill>
                <a:latin typeface="Calibri"/>
              </a:rPr>
              <a:t>• 25% new-hire attrition within 6 months</a:t>
            </a:r>
          </a:p>
          <a:p>
            <a:pPr algn="l">
              <a:lnSpc>
                <a:spcPct val="150000"/>
              </a:lnSpc>
              <a:spcAft>
                <a:spcPts val="600"/>
              </a:spcAft>
            </a:pPr>
            <a:r>
              <a:rPr sz="1600" b="0">
                <a:solidFill>
                  <a:srgbClr val="141414"/>
                </a:solidFill>
                <a:latin typeface="Calibri"/>
              </a:rPr>
              <a:t>• Tenure strongly predicts performance</a:t>
            </a:r>
          </a:p>
        </p:txBody>
      </p:sp>
      <p:sp>
        <p:nvSpPr>
          <p:cNvPr id="10" name="Rectangle 9"/>
          <p:cNvSpPr/>
          <p:nvPr/>
        </p:nvSpPr>
        <p:spPr>
          <a:xfrm>
            <a:off x="6355080" y="2286000"/>
            <a:ext cx="5440680" cy="4572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37744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With AI</a:t>
            </a:r>
          </a:p>
        </p:txBody>
      </p:sp>
      <p:sp>
        <p:nvSpPr>
          <p:cNvPr id="12" name="Rectangle 11"/>
          <p:cNvSpPr/>
          <p:nvPr/>
        </p:nvSpPr>
        <p:spPr>
          <a:xfrm>
            <a:off x="6355080" y="2743200"/>
            <a:ext cx="5440680" cy="2651760"/>
          </a:xfrm>
          <a:prstGeom prst="rect">
            <a:avLst/>
          </a:prstGeom>
          <a:solidFill>
            <a:srgbClr val="E5D4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971800"/>
            <a:ext cx="4892040" cy="2331720"/>
          </a:xfrm>
          <a:prstGeom prst="rect">
            <a:avLst/>
          </a:prstGeom>
          <a:noFill/>
        </p:spPr>
        <p:txBody>
          <a:bodyPr wrap="square" lIns="0" rIns="0" tIns="0" bIns="0">
            <a:spAutoFit/>
          </a:bodyPr>
          <a:lstStyle/>
          <a:p>
            <a:pPr algn="l">
              <a:lnSpc>
                <a:spcPct val="150000"/>
              </a:lnSpc>
              <a:spcAft>
                <a:spcPts val="600"/>
              </a:spcAft>
            </a:pPr>
            <a:r>
              <a:rPr sz="1600" b="0">
                <a:solidFill>
                  <a:srgbClr val="460073"/>
                </a:solidFill>
                <a:latin typeface="Calibri"/>
              </a:rPr>
              <a:t>• 5 months to reach 3.0 RPH</a:t>
            </a:r>
          </a:p>
          <a:p>
            <a:pPr algn="l">
              <a:lnSpc>
                <a:spcPct val="150000"/>
              </a:lnSpc>
              <a:spcAft>
                <a:spcPts val="600"/>
              </a:spcAft>
            </a:pPr>
            <a:r>
              <a:rPr sz="1600" b="0">
                <a:solidFill>
                  <a:srgbClr val="460073"/>
                </a:solidFill>
                <a:latin typeface="Calibri"/>
              </a:rPr>
              <a:t>• ~15% new-hire attrition (−40%)</a:t>
            </a:r>
          </a:p>
          <a:p>
            <a:pPr algn="l">
              <a:lnSpc>
                <a:spcPct val="150000"/>
              </a:lnSpc>
              <a:spcAft>
                <a:spcPts val="600"/>
              </a:spcAft>
            </a:pPr>
            <a:r>
              <a:rPr sz="1600" b="0">
                <a:solidFill>
                  <a:srgbClr val="460073"/>
                </a:solidFill>
                <a:latin typeface="Calibri"/>
              </a:rPr>
              <a:t>• Tenure premium weakens</a:t>
            </a:r>
          </a:p>
        </p:txBody>
      </p:sp>
      <p:sp>
        <p:nvSpPr>
          <p:cNvPr id="14" name="TextBox 13"/>
          <p:cNvSpPr txBox="1"/>
          <p:nvPr/>
        </p:nvSpPr>
        <p:spPr>
          <a:xfrm>
            <a:off x="365760" y="5577840"/>
            <a:ext cx="11457432"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Source reference: §6.1; §7.2</a:t>
            </a:r>
          </a:p>
        </p:txBody>
      </p:sp>
      <p:sp>
        <p:nvSpPr>
          <p:cNvPr id="15" name="Rectangle 14"/>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17" name="TextBox 16"/>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18" name="TextBox 17"/>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Theme</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Theme B — Customer Experience Improves Too</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AI assistance doesn't make agents feel robotic — customers respond better.</a:t>
            </a:r>
          </a:p>
        </p:txBody>
      </p:sp>
      <p:sp>
        <p:nvSpPr>
          <p:cNvPr id="6" name="Rectangle 5"/>
          <p:cNvSpPr/>
          <p:nvPr/>
        </p:nvSpPr>
        <p:spPr>
          <a:xfrm>
            <a:off x="365760" y="2286000"/>
            <a:ext cx="5440680" cy="4572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7744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Customer Behavior</a:t>
            </a:r>
          </a:p>
        </p:txBody>
      </p:sp>
      <p:sp>
        <p:nvSpPr>
          <p:cNvPr id="8" name="Rectangle 7"/>
          <p:cNvSpPr/>
          <p:nvPr/>
        </p:nvSpPr>
        <p:spPr>
          <a:xfrm>
            <a:off x="365760" y="2743200"/>
            <a:ext cx="5440680" cy="2651760"/>
          </a:xfrm>
          <a:prstGeom prst="rect">
            <a:avLst/>
          </a:prstGeom>
          <a:solidFill>
            <a:srgbClr val="FA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71800"/>
            <a:ext cx="4892040" cy="2331720"/>
          </a:xfrm>
          <a:prstGeom prst="rect">
            <a:avLst/>
          </a:prstGeom>
          <a:noFill/>
        </p:spPr>
        <p:txBody>
          <a:bodyPr wrap="square" lIns="0" rIns="0" tIns="0" bIns="0">
            <a:spAutoFit/>
          </a:bodyPr>
          <a:lstStyle/>
          <a:p>
            <a:pPr algn="l">
              <a:lnSpc>
                <a:spcPct val="150000"/>
              </a:lnSpc>
              <a:spcAft>
                <a:spcPts val="600"/>
              </a:spcAft>
            </a:pPr>
            <a:r>
              <a:rPr sz="1600" b="0">
                <a:solidFill>
                  <a:srgbClr val="141414"/>
                </a:solidFill>
                <a:latin typeface="Calibri"/>
              </a:rPr>
              <a:t>• Fewer aggressive / negative messages</a:t>
            </a:r>
          </a:p>
          <a:p>
            <a:pPr algn="l">
              <a:lnSpc>
                <a:spcPct val="150000"/>
              </a:lnSpc>
              <a:spcAft>
                <a:spcPts val="600"/>
              </a:spcAft>
            </a:pPr>
            <a:r>
              <a:rPr sz="1600" b="0">
                <a:solidFill>
                  <a:srgbClr val="141414"/>
                </a:solidFill>
                <a:latin typeface="Calibri"/>
              </a:rPr>
              <a:t>• Manager-escalation requests −25%</a:t>
            </a:r>
          </a:p>
          <a:p>
            <a:pPr algn="l">
              <a:lnSpc>
                <a:spcPct val="150000"/>
              </a:lnSpc>
              <a:spcAft>
                <a:spcPts val="600"/>
              </a:spcAft>
            </a:pPr>
            <a:r>
              <a:rPr sz="1600" b="0">
                <a:solidFill>
                  <a:srgbClr val="141414"/>
                </a:solidFill>
                <a:latin typeface="Calibri"/>
              </a:rPr>
              <a:t>• From 6.0% baseline to ~4.5%</a:t>
            </a:r>
          </a:p>
        </p:txBody>
      </p:sp>
      <p:sp>
        <p:nvSpPr>
          <p:cNvPr id="10" name="Rectangle 9"/>
          <p:cNvSpPr/>
          <p:nvPr/>
        </p:nvSpPr>
        <p:spPr>
          <a:xfrm>
            <a:off x="6355080" y="2286000"/>
            <a:ext cx="5440680" cy="4572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37744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Adoption Pattern</a:t>
            </a:r>
          </a:p>
        </p:txBody>
      </p:sp>
      <p:sp>
        <p:nvSpPr>
          <p:cNvPr id="12" name="Rectangle 11"/>
          <p:cNvSpPr/>
          <p:nvPr/>
        </p:nvSpPr>
        <p:spPr>
          <a:xfrm>
            <a:off x="6355080" y="2743200"/>
            <a:ext cx="5440680" cy="2651760"/>
          </a:xfrm>
          <a:prstGeom prst="rect">
            <a:avLst/>
          </a:prstGeom>
          <a:solidFill>
            <a:srgbClr val="E5D4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971800"/>
            <a:ext cx="4892040" cy="2331720"/>
          </a:xfrm>
          <a:prstGeom prst="rect">
            <a:avLst/>
          </a:prstGeom>
          <a:noFill/>
        </p:spPr>
        <p:txBody>
          <a:bodyPr wrap="square" lIns="0" rIns="0" tIns="0" bIns="0">
            <a:spAutoFit/>
          </a:bodyPr>
          <a:lstStyle/>
          <a:p>
            <a:pPr algn="l">
              <a:lnSpc>
                <a:spcPct val="150000"/>
              </a:lnSpc>
              <a:spcAft>
                <a:spcPts val="600"/>
              </a:spcAft>
            </a:pPr>
            <a:r>
              <a:rPr sz="1600" b="0">
                <a:solidFill>
                  <a:srgbClr val="460073"/>
                </a:solidFill>
                <a:latin typeface="Calibri"/>
              </a:rPr>
              <a:t>• Avg. agent accepts 35% of suggestions</a:t>
            </a:r>
          </a:p>
          <a:p>
            <a:pPr algn="l">
              <a:lnSpc>
                <a:spcPct val="150000"/>
              </a:lnSpc>
              <a:spcAft>
                <a:spcPts val="600"/>
              </a:spcAft>
            </a:pPr>
            <a:r>
              <a:rPr sz="1600" b="0">
                <a:solidFill>
                  <a:srgbClr val="460073"/>
                </a:solidFill>
                <a:latin typeface="Calibri"/>
              </a:rPr>
              <a:t>• Adoption rises with exposure</a:t>
            </a:r>
          </a:p>
          <a:p>
            <a:pPr algn="l">
              <a:lnSpc>
                <a:spcPct val="150000"/>
              </a:lnSpc>
              <a:spcAft>
                <a:spcPts val="600"/>
              </a:spcAft>
            </a:pPr>
            <a:r>
              <a:rPr sz="1600" b="0">
                <a:solidFill>
                  <a:srgbClr val="460073"/>
                </a:solidFill>
                <a:latin typeface="Calibri"/>
              </a:rPr>
              <a:t>• Skeptical seniors warm up over time</a:t>
            </a:r>
          </a:p>
        </p:txBody>
      </p:sp>
      <p:sp>
        <p:nvSpPr>
          <p:cNvPr id="14" name="TextBox 13"/>
          <p:cNvSpPr txBox="1"/>
          <p:nvPr/>
        </p:nvSpPr>
        <p:spPr>
          <a:xfrm>
            <a:off x="365760" y="5577840"/>
            <a:ext cx="11457432"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Source reference: §7.1; §6.5</a:t>
            </a:r>
          </a:p>
        </p:txBody>
      </p:sp>
      <p:sp>
        <p:nvSpPr>
          <p:cNvPr id="15" name="Rectangle 14"/>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17" name="TextBox 16"/>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18" name="TextBox 17"/>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Rectangle 1"/>
          <p:cNvSpPr/>
          <p:nvPr/>
        </p:nvSpPr>
        <p:spPr>
          <a:xfrm>
            <a:off x="0" y="2286000"/>
            <a:ext cx="365760" cy="22860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lIns="0" rIns="0" tIns="0" bIns="0" anchor="t">
            <a:spAutoFit/>
          </a:bodyPr>
          <a:lstStyle/>
          <a:p>
            <a:pPr algn="l">
              <a:lnSpc>
                <a:spcPct val="115000"/>
              </a:lnSpc>
            </a:pPr>
            <a:r>
              <a:rPr sz="1400" b="1">
                <a:solidFill>
                  <a:srgbClr val="E5D4FF"/>
                </a:solidFill>
                <a:latin typeface="Calibri"/>
              </a:rPr>
              <a:t>What this means strategically</a:t>
            </a:r>
          </a:p>
        </p:txBody>
      </p:sp>
      <p:sp>
        <p:nvSpPr>
          <p:cNvPr id="4" name="TextBox 3"/>
          <p:cNvSpPr txBox="1"/>
          <p:nvPr/>
        </p:nvSpPr>
        <p:spPr>
          <a:xfrm>
            <a:off x="822960" y="2834640"/>
            <a:ext cx="10515600" cy="1828800"/>
          </a:xfrm>
          <a:prstGeom prst="rect">
            <a:avLst/>
          </a:prstGeom>
          <a:noFill/>
        </p:spPr>
        <p:txBody>
          <a:bodyPr wrap="square" lIns="0" rIns="0" tIns="0" bIns="0" anchor="t">
            <a:spAutoFit/>
          </a:bodyPr>
          <a:lstStyle/>
          <a:p>
            <a:pPr algn="l">
              <a:lnSpc>
                <a:spcPct val="110000"/>
              </a:lnSpc>
            </a:pPr>
            <a:r>
              <a:rPr sz="5400" b="1">
                <a:solidFill>
                  <a:srgbClr val="FFFFFF"/>
                </a:solidFill>
                <a:latin typeface="Calibri"/>
              </a:rPr>
              <a:t>04  Insights</a:t>
            </a:r>
          </a:p>
        </p:txBody>
      </p:sp>
      <p:sp>
        <p:nvSpPr>
          <p:cNvPr id="5" name="TextBox 4"/>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E5D4FF"/>
                </a:solidFill>
                <a:latin typeface="Calibri"/>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Strategic Insight</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Strategic Insight: Two Long-Term Risks</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Today's productivity win quietly creates two structural problems.</a:t>
            </a:r>
          </a:p>
        </p:txBody>
      </p:sp>
      <p:sp>
        <p:nvSpPr>
          <p:cNvPr id="6" name="Rectangle 5"/>
          <p:cNvSpPr/>
          <p:nvPr/>
        </p:nvSpPr>
        <p:spPr>
          <a:xfrm>
            <a:off x="365760" y="2286000"/>
            <a:ext cx="137160" cy="3108960"/>
          </a:xfrm>
          <a:prstGeom prst="rect">
            <a:avLst/>
          </a:prstGeom>
          <a:solidFill>
            <a:srgbClr val="FF5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286000"/>
            <a:ext cx="5303520" cy="31089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60320"/>
            <a:ext cx="4892040" cy="548640"/>
          </a:xfrm>
          <a:prstGeom prst="rect">
            <a:avLst/>
          </a:prstGeom>
          <a:noFill/>
        </p:spPr>
        <p:txBody>
          <a:bodyPr wrap="square" lIns="0" rIns="0" tIns="0" bIns="0" anchor="t">
            <a:spAutoFit/>
          </a:bodyPr>
          <a:lstStyle/>
          <a:p>
            <a:pPr algn="l">
              <a:lnSpc>
                <a:spcPct val="115000"/>
              </a:lnSpc>
            </a:pPr>
            <a:r>
              <a:rPr sz="1800" b="1">
                <a:solidFill>
                  <a:srgbClr val="FF50A0"/>
                </a:solidFill>
                <a:latin typeface="Calibri"/>
              </a:rPr>
              <a:t>Risk 1 — Top Talent Flattening</a:t>
            </a:r>
          </a:p>
        </p:txBody>
      </p:sp>
      <p:sp>
        <p:nvSpPr>
          <p:cNvPr id="9" name="TextBox 8"/>
          <p:cNvSpPr txBox="1"/>
          <p:nvPr/>
        </p:nvSpPr>
        <p:spPr>
          <a:xfrm>
            <a:off x="777240" y="3200400"/>
            <a:ext cx="4892040" cy="2011680"/>
          </a:xfrm>
          <a:prstGeom prst="rect">
            <a:avLst/>
          </a:prstGeom>
          <a:noFill/>
        </p:spPr>
        <p:txBody>
          <a:bodyPr wrap="square" lIns="0" rIns="0" tIns="0" bIns="0" anchor="t">
            <a:spAutoFit/>
          </a:bodyPr>
          <a:lstStyle/>
          <a:p>
            <a:pPr algn="l">
              <a:lnSpc>
                <a:spcPct val="140000"/>
              </a:lnSpc>
            </a:pPr>
            <a:r>
              <a:rPr sz="1500" b="0">
                <a:solidFill>
                  <a:srgbClr val="141414"/>
                </a:solidFill>
                <a:latin typeface="Calibri"/>
              </a:rPr>
              <a:t>If senior agents increasingly defer to AI's median-quality suggestions, their original creative contribution declines — the very signal future models depend on.</a:t>
            </a:r>
          </a:p>
        </p:txBody>
      </p:sp>
      <p:sp>
        <p:nvSpPr>
          <p:cNvPr id="10" name="Rectangle 9"/>
          <p:cNvSpPr/>
          <p:nvPr/>
        </p:nvSpPr>
        <p:spPr>
          <a:xfrm>
            <a:off x="5989320" y="2286000"/>
            <a:ext cx="137160" cy="3108960"/>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2286000"/>
            <a:ext cx="5303520" cy="31089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560320"/>
            <a:ext cx="4892040" cy="548640"/>
          </a:xfrm>
          <a:prstGeom prst="rect">
            <a:avLst/>
          </a:prstGeom>
          <a:noFill/>
        </p:spPr>
        <p:txBody>
          <a:bodyPr wrap="square" lIns="0" rIns="0" tIns="0" bIns="0" anchor="t">
            <a:spAutoFit/>
          </a:bodyPr>
          <a:lstStyle/>
          <a:p>
            <a:pPr algn="l">
              <a:lnSpc>
                <a:spcPct val="115000"/>
              </a:lnSpc>
            </a:pPr>
            <a:r>
              <a:rPr sz="1800" b="1">
                <a:solidFill>
                  <a:srgbClr val="460073"/>
                </a:solidFill>
                <a:latin typeface="Calibri"/>
              </a:rPr>
              <a:t>Risk 2 — Training Data Decay</a:t>
            </a:r>
          </a:p>
        </p:txBody>
      </p:sp>
      <p:sp>
        <p:nvSpPr>
          <p:cNvPr id="13" name="TextBox 12"/>
          <p:cNvSpPr txBox="1"/>
          <p:nvPr/>
        </p:nvSpPr>
        <p:spPr>
          <a:xfrm>
            <a:off x="6400800" y="3200400"/>
            <a:ext cx="4892040" cy="2011680"/>
          </a:xfrm>
          <a:prstGeom prst="rect">
            <a:avLst/>
          </a:prstGeom>
          <a:noFill/>
        </p:spPr>
        <p:txBody>
          <a:bodyPr wrap="square" lIns="0" rIns="0" tIns="0" bIns="0" anchor="t">
            <a:spAutoFit/>
          </a:bodyPr>
          <a:lstStyle/>
          <a:p>
            <a:pPr algn="l">
              <a:lnSpc>
                <a:spcPct val="140000"/>
              </a:lnSpc>
            </a:pPr>
            <a:r>
              <a:rPr sz="1500" b="0">
                <a:solidFill>
                  <a:srgbClr val="141414"/>
                </a:solidFill>
                <a:latin typeface="Calibri"/>
              </a:rPr>
              <a:t>Agent conversations are both customer service AND model training data. Without compensation mechanisms, the source of intelligence erodes over time.</a:t>
            </a:r>
          </a:p>
        </p:txBody>
      </p:sp>
      <p:sp>
        <p:nvSpPr>
          <p:cNvPr id="14" name="TextBox 13"/>
          <p:cNvSpPr txBox="1"/>
          <p:nvPr/>
        </p:nvSpPr>
        <p:spPr>
          <a:xfrm>
            <a:off x="365760" y="5577840"/>
            <a:ext cx="11457432" cy="274320"/>
          </a:xfrm>
          <a:prstGeom prst="rect">
            <a:avLst/>
          </a:prstGeom>
          <a:noFill/>
        </p:spPr>
        <p:txBody>
          <a:bodyPr wrap="square" lIns="0" rIns="0" tIns="0" bIns="0" anchor="t">
            <a:spAutoFit/>
          </a:bodyPr>
          <a:lstStyle/>
          <a:p>
            <a:pPr algn="l">
              <a:lnSpc>
                <a:spcPct val="115000"/>
              </a:lnSpc>
            </a:pPr>
            <a:r>
              <a:rPr sz="900" b="0">
                <a:solidFill>
                  <a:srgbClr val="8A8A8A"/>
                </a:solidFill>
                <a:latin typeface="Calibri"/>
              </a:rPr>
              <a:t>Source reference: §8 (Discussion)</a:t>
            </a:r>
          </a:p>
        </p:txBody>
      </p:sp>
      <p:sp>
        <p:nvSpPr>
          <p:cNvPr id="15" name="Rectangle 14"/>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17" name="TextBox 16"/>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18" name="TextBox 17"/>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Rectangle 1"/>
          <p:cNvSpPr/>
          <p:nvPr/>
        </p:nvSpPr>
        <p:spPr>
          <a:xfrm>
            <a:off x="0" y="2286000"/>
            <a:ext cx="365760" cy="22860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lIns="0" rIns="0" tIns="0" bIns="0" anchor="t">
            <a:spAutoFit/>
          </a:bodyPr>
          <a:lstStyle/>
          <a:p>
            <a:pPr algn="l">
              <a:lnSpc>
                <a:spcPct val="115000"/>
              </a:lnSpc>
            </a:pPr>
            <a:r>
              <a:rPr sz="1400" b="1">
                <a:solidFill>
                  <a:srgbClr val="E5D4FF"/>
                </a:solidFill>
                <a:latin typeface="Calibri"/>
              </a:rPr>
              <a:t>What enterprise leaders should do now</a:t>
            </a:r>
          </a:p>
        </p:txBody>
      </p:sp>
      <p:sp>
        <p:nvSpPr>
          <p:cNvPr id="4" name="TextBox 3"/>
          <p:cNvSpPr txBox="1"/>
          <p:nvPr/>
        </p:nvSpPr>
        <p:spPr>
          <a:xfrm>
            <a:off x="822960" y="2834640"/>
            <a:ext cx="10515600" cy="1828800"/>
          </a:xfrm>
          <a:prstGeom prst="rect">
            <a:avLst/>
          </a:prstGeom>
          <a:noFill/>
        </p:spPr>
        <p:txBody>
          <a:bodyPr wrap="square" lIns="0" rIns="0" tIns="0" bIns="0" anchor="t">
            <a:spAutoFit/>
          </a:bodyPr>
          <a:lstStyle/>
          <a:p>
            <a:pPr algn="l">
              <a:lnSpc>
                <a:spcPct val="110000"/>
              </a:lnSpc>
            </a:pPr>
            <a:r>
              <a:rPr sz="5400" b="1">
                <a:solidFill>
                  <a:srgbClr val="FFFFFF"/>
                </a:solidFill>
                <a:latin typeface="Calibri"/>
              </a:rPr>
              <a:t>05  Recommended Actions</a:t>
            </a:r>
          </a:p>
        </p:txBody>
      </p:sp>
      <p:sp>
        <p:nvSpPr>
          <p:cNvPr id="5" name="TextBox 4"/>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E5D4FF"/>
                </a:solidFill>
                <a:latin typeface="Calibri"/>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Recommended Actions</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Five Moves for Enterprise Leaders</a:t>
            </a:r>
          </a:p>
        </p:txBody>
      </p:sp>
      <p:sp>
        <p:nvSpPr>
          <p:cNvPr id="5" name="TextBox 4"/>
          <p:cNvSpPr txBox="1"/>
          <p:nvPr/>
        </p:nvSpPr>
        <p:spPr>
          <a:xfrm>
            <a:off x="365760" y="1325880"/>
            <a:ext cx="11457432" cy="548640"/>
          </a:xfrm>
          <a:prstGeom prst="rect">
            <a:avLst/>
          </a:prstGeom>
          <a:noFill/>
        </p:spPr>
        <p:txBody>
          <a:bodyPr wrap="square" lIns="0" rIns="0" tIns="0" bIns="0" anchor="t">
            <a:spAutoFit/>
          </a:bodyPr>
          <a:lstStyle/>
          <a:p>
            <a:pPr algn="l">
              <a:lnSpc>
                <a:spcPct val="120000"/>
              </a:lnSpc>
            </a:pPr>
            <a:r>
              <a:rPr sz="1800" b="0">
                <a:solidFill>
                  <a:srgbClr val="4A4A4A"/>
                </a:solidFill>
                <a:latin typeface="Calibri"/>
              </a:rPr>
              <a:t>Treat this study as a playbook, not a forecast.</a:t>
            </a:r>
          </a:p>
        </p:txBody>
      </p:sp>
      <p:sp>
        <p:nvSpPr>
          <p:cNvPr id="6" name="Oval 5"/>
          <p:cNvSpPr/>
          <p:nvPr/>
        </p:nvSpPr>
        <p:spPr>
          <a:xfrm>
            <a:off x="365760" y="2377440"/>
            <a:ext cx="594360" cy="59436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450592"/>
            <a:ext cx="594360" cy="457200"/>
          </a:xfrm>
          <a:prstGeom prst="rect">
            <a:avLst/>
          </a:prstGeom>
          <a:noFill/>
        </p:spPr>
        <p:txBody>
          <a:bodyPr wrap="square" lIns="0" rIns="0" tIns="0" bIns="0" anchor="t">
            <a:spAutoFit/>
          </a:bodyPr>
          <a:lstStyle/>
          <a:p>
            <a:pPr algn="ctr">
              <a:lnSpc>
                <a:spcPct val="115000"/>
              </a:lnSpc>
            </a:pPr>
            <a:r>
              <a:rPr sz="2000" b="1">
                <a:solidFill>
                  <a:srgbClr val="FFFFFF"/>
                </a:solidFill>
                <a:latin typeface="Calibri"/>
              </a:rPr>
              <a:t>1</a:t>
            </a:r>
          </a:p>
        </p:txBody>
      </p:sp>
      <p:sp>
        <p:nvSpPr>
          <p:cNvPr id="8" name="TextBox 7"/>
          <p:cNvSpPr txBox="1"/>
          <p:nvPr/>
        </p:nvSpPr>
        <p:spPr>
          <a:xfrm>
            <a:off x="1143000" y="2359152"/>
            <a:ext cx="10680192" cy="365760"/>
          </a:xfrm>
          <a:prstGeom prst="rect">
            <a:avLst/>
          </a:prstGeom>
          <a:noFill/>
        </p:spPr>
        <p:txBody>
          <a:bodyPr wrap="square" lIns="0" rIns="0" tIns="0" bIns="0" anchor="t">
            <a:spAutoFit/>
          </a:bodyPr>
          <a:lstStyle/>
          <a:p>
            <a:pPr algn="l">
              <a:lnSpc>
                <a:spcPct val="115000"/>
              </a:lnSpc>
            </a:pPr>
            <a:r>
              <a:rPr sz="1600" b="1">
                <a:solidFill>
                  <a:srgbClr val="460073"/>
                </a:solidFill>
                <a:latin typeface="Calibri"/>
              </a:rPr>
              <a:t>1. Reset HR Economics</a:t>
            </a:r>
          </a:p>
        </p:txBody>
      </p:sp>
      <p:sp>
        <p:nvSpPr>
          <p:cNvPr id="9" name="TextBox 8"/>
          <p:cNvSpPr txBox="1"/>
          <p:nvPr/>
        </p:nvSpPr>
        <p:spPr>
          <a:xfrm>
            <a:off x="1143000" y="2697480"/>
            <a:ext cx="10680192" cy="365760"/>
          </a:xfrm>
          <a:prstGeom prst="rect">
            <a:avLst/>
          </a:prstGeom>
          <a:noFill/>
        </p:spPr>
        <p:txBody>
          <a:bodyPr wrap="square" lIns="0" rIns="0" tIns="0" bIns="0" anchor="t">
            <a:spAutoFit/>
          </a:bodyPr>
          <a:lstStyle/>
          <a:p>
            <a:pPr algn="l">
              <a:lnSpc>
                <a:spcPct val="125000"/>
              </a:lnSpc>
            </a:pPr>
            <a:r>
              <a:rPr sz="1300" b="0">
                <a:solidFill>
                  <a:srgbClr val="4A4A4A"/>
                </a:solidFill>
                <a:latin typeface="Calibri"/>
              </a:rPr>
              <a:t>Re-evaluate seniority-based pay curves — AI compresses the experience premium.</a:t>
            </a:r>
          </a:p>
        </p:txBody>
      </p:sp>
      <p:sp>
        <p:nvSpPr>
          <p:cNvPr id="10" name="Oval 9"/>
          <p:cNvSpPr/>
          <p:nvPr/>
        </p:nvSpPr>
        <p:spPr>
          <a:xfrm>
            <a:off x="365760" y="3200400"/>
            <a:ext cx="594360" cy="59436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273552"/>
            <a:ext cx="594360" cy="457200"/>
          </a:xfrm>
          <a:prstGeom prst="rect">
            <a:avLst/>
          </a:prstGeom>
          <a:noFill/>
        </p:spPr>
        <p:txBody>
          <a:bodyPr wrap="square" lIns="0" rIns="0" tIns="0" bIns="0" anchor="t">
            <a:spAutoFit/>
          </a:bodyPr>
          <a:lstStyle/>
          <a:p>
            <a:pPr algn="ctr">
              <a:lnSpc>
                <a:spcPct val="115000"/>
              </a:lnSpc>
            </a:pPr>
            <a:r>
              <a:rPr sz="2000" b="1">
                <a:solidFill>
                  <a:srgbClr val="FFFFFF"/>
                </a:solidFill>
                <a:latin typeface="Calibri"/>
              </a:rPr>
              <a:t>2</a:t>
            </a:r>
          </a:p>
        </p:txBody>
      </p:sp>
      <p:sp>
        <p:nvSpPr>
          <p:cNvPr id="12" name="TextBox 11"/>
          <p:cNvSpPr txBox="1"/>
          <p:nvPr/>
        </p:nvSpPr>
        <p:spPr>
          <a:xfrm>
            <a:off x="1143000" y="3182112"/>
            <a:ext cx="10680192" cy="365760"/>
          </a:xfrm>
          <a:prstGeom prst="rect">
            <a:avLst/>
          </a:prstGeom>
          <a:noFill/>
        </p:spPr>
        <p:txBody>
          <a:bodyPr wrap="square" lIns="0" rIns="0" tIns="0" bIns="0" anchor="t">
            <a:spAutoFit/>
          </a:bodyPr>
          <a:lstStyle/>
          <a:p>
            <a:pPr algn="l">
              <a:lnSpc>
                <a:spcPct val="115000"/>
              </a:lnSpc>
            </a:pPr>
            <a:r>
              <a:rPr sz="1600" b="1">
                <a:solidFill>
                  <a:srgbClr val="460073"/>
                </a:solidFill>
                <a:latin typeface="Calibri"/>
              </a:rPr>
              <a:t>2. Rewire AI ROI Targets</a:t>
            </a:r>
          </a:p>
        </p:txBody>
      </p:sp>
      <p:sp>
        <p:nvSpPr>
          <p:cNvPr id="13" name="TextBox 12"/>
          <p:cNvSpPr txBox="1"/>
          <p:nvPr/>
        </p:nvSpPr>
        <p:spPr>
          <a:xfrm>
            <a:off x="1143000" y="3520440"/>
            <a:ext cx="10680192" cy="365760"/>
          </a:xfrm>
          <a:prstGeom prst="rect">
            <a:avLst/>
          </a:prstGeom>
          <a:noFill/>
        </p:spPr>
        <p:txBody>
          <a:bodyPr wrap="square" lIns="0" rIns="0" tIns="0" bIns="0" anchor="t">
            <a:spAutoFit/>
          </a:bodyPr>
          <a:lstStyle/>
          <a:p>
            <a:pPr algn="l">
              <a:lnSpc>
                <a:spcPct val="125000"/>
              </a:lnSpc>
            </a:pPr>
            <a:r>
              <a:rPr sz="1300" b="0">
                <a:solidFill>
                  <a:srgbClr val="4A4A4A"/>
                </a:solidFill>
                <a:latin typeface="Calibri"/>
              </a:rPr>
              <a:t>Make new-hire retention a hard KPI for AI deployments, not just speed metrics.</a:t>
            </a:r>
          </a:p>
        </p:txBody>
      </p:sp>
      <p:sp>
        <p:nvSpPr>
          <p:cNvPr id="14" name="Oval 13"/>
          <p:cNvSpPr/>
          <p:nvPr/>
        </p:nvSpPr>
        <p:spPr>
          <a:xfrm>
            <a:off x="365760" y="4023360"/>
            <a:ext cx="594360" cy="59436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096512"/>
            <a:ext cx="594360" cy="457200"/>
          </a:xfrm>
          <a:prstGeom prst="rect">
            <a:avLst/>
          </a:prstGeom>
          <a:noFill/>
        </p:spPr>
        <p:txBody>
          <a:bodyPr wrap="square" lIns="0" rIns="0" tIns="0" bIns="0" anchor="t">
            <a:spAutoFit/>
          </a:bodyPr>
          <a:lstStyle/>
          <a:p>
            <a:pPr algn="ctr">
              <a:lnSpc>
                <a:spcPct val="115000"/>
              </a:lnSpc>
            </a:pPr>
            <a:r>
              <a:rPr sz="2000" b="1">
                <a:solidFill>
                  <a:srgbClr val="FFFFFF"/>
                </a:solidFill>
                <a:latin typeface="Calibri"/>
              </a:rPr>
              <a:t>3</a:t>
            </a:r>
          </a:p>
        </p:txBody>
      </p:sp>
      <p:sp>
        <p:nvSpPr>
          <p:cNvPr id="16" name="TextBox 15"/>
          <p:cNvSpPr txBox="1"/>
          <p:nvPr/>
        </p:nvSpPr>
        <p:spPr>
          <a:xfrm>
            <a:off x="1143000" y="4005072"/>
            <a:ext cx="10680192" cy="365760"/>
          </a:xfrm>
          <a:prstGeom prst="rect">
            <a:avLst/>
          </a:prstGeom>
          <a:noFill/>
        </p:spPr>
        <p:txBody>
          <a:bodyPr wrap="square" lIns="0" rIns="0" tIns="0" bIns="0" anchor="t">
            <a:spAutoFit/>
          </a:bodyPr>
          <a:lstStyle/>
          <a:p>
            <a:pPr algn="l">
              <a:lnSpc>
                <a:spcPct val="115000"/>
              </a:lnSpc>
            </a:pPr>
            <a:r>
              <a:rPr sz="1600" b="1">
                <a:solidFill>
                  <a:srgbClr val="460073"/>
                </a:solidFill>
                <a:latin typeface="Calibri"/>
              </a:rPr>
              <a:t>3. Treat Conversations as Capital</a:t>
            </a:r>
          </a:p>
        </p:txBody>
      </p:sp>
      <p:sp>
        <p:nvSpPr>
          <p:cNvPr id="17" name="TextBox 16"/>
          <p:cNvSpPr txBox="1"/>
          <p:nvPr/>
        </p:nvSpPr>
        <p:spPr>
          <a:xfrm>
            <a:off x="1143000" y="4343400"/>
            <a:ext cx="10680192" cy="365760"/>
          </a:xfrm>
          <a:prstGeom prst="rect">
            <a:avLst/>
          </a:prstGeom>
          <a:noFill/>
        </p:spPr>
        <p:txBody>
          <a:bodyPr wrap="square" lIns="0" rIns="0" tIns="0" bIns="0" anchor="t">
            <a:spAutoFit/>
          </a:bodyPr>
          <a:lstStyle/>
          <a:p>
            <a:pPr algn="l">
              <a:lnSpc>
                <a:spcPct val="125000"/>
              </a:lnSpc>
            </a:pPr>
            <a:r>
              <a:rPr sz="1300" b="0">
                <a:solidFill>
                  <a:srgbClr val="4A4A4A"/>
                </a:solidFill>
                <a:latin typeface="Calibri"/>
              </a:rPr>
              <a:t>Establish attribution &amp; incentive systems for employees whose work trains AI models.</a:t>
            </a:r>
          </a:p>
        </p:txBody>
      </p:sp>
      <p:sp>
        <p:nvSpPr>
          <p:cNvPr id="18" name="Oval 17"/>
          <p:cNvSpPr/>
          <p:nvPr/>
        </p:nvSpPr>
        <p:spPr>
          <a:xfrm>
            <a:off x="365760" y="4846320"/>
            <a:ext cx="594360" cy="59436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919472"/>
            <a:ext cx="594360" cy="457200"/>
          </a:xfrm>
          <a:prstGeom prst="rect">
            <a:avLst/>
          </a:prstGeom>
          <a:noFill/>
        </p:spPr>
        <p:txBody>
          <a:bodyPr wrap="square" lIns="0" rIns="0" tIns="0" bIns="0" anchor="t">
            <a:spAutoFit/>
          </a:bodyPr>
          <a:lstStyle/>
          <a:p>
            <a:pPr algn="ctr">
              <a:lnSpc>
                <a:spcPct val="115000"/>
              </a:lnSpc>
            </a:pPr>
            <a:r>
              <a:rPr sz="2000" b="1">
                <a:solidFill>
                  <a:srgbClr val="FFFFFF"/>
                </a:solidFill>
                <a:latin typeface="Calibri"/>
              </a:rPr>
              <a:t>4</a:t>
            </a:r>
          </a:p>
        </p:txBody>
      </p:sp>
      <p:sp>
        <p:nvSpPr>
          <p:cNvPr id="20" name="TextBox 19"/>
          <p:cNvSpPr txBox="1"/>
          <p:nvPr/>
        </p:nvSpPr>
        <p:spPr>
          <a:xfrm>
            <a:off x="1143000" y="4828032"/>
            <a:ext cx="10680192" cy="365760"/>
          </a:xfrm>
          <a:prstGeom prst="rect">
            <a:avLst/>
          </a:prstGeom>
          <a:noFill/>
        </p:spPr>
        <p:txBody>
          <a:bodyPr wrap="square" lIns="0" rIns="0" tIns="0" bIns="0" anchor="t">
            <a:spAutoFit/>
          </a:bodyPr>
          <a:lstStyle/>
          <a:p>
            <a:pPr algn="l">
              <a:lnSpc>
                <a:spcPct val="115000"/>
              </a:lnSpc>
            </a:pPr>
            <a:r>
              <a:rPr sz="1600" b="1">
                <a:solidFill>
                  <a:srgbClr val="460073"/>
                </a:solidFill>
                <a:latin typeface="Calibri"/>
              </a:rPr>
              <a:t>4. Compress Onboarding</a:t>
            </a:r>
          </a:p>
        </p:txBody>
      </p:sp>
      <p:sp>
        <p:nvSpPr>
          <p:cNvPr id="21" name="TextBox 20"/>
          <p:cNvSpPr txBox="1"/>
          <p:nvPr/>
        </p:nvSpPr>
        <p:spPr>
          <a:xfrm>
            <a:off x="1143000" y="5166360"/>
            <a:ext cx="10680192" cy="365760"/>
          </a:xfrm>
          <a:prstGeom prst="rect">
            <a:avLst/>
          </a:prstGeom>
          <a:noFill/>
        </p:spPr>
        <p:txBody>
          <a:bodyPr wrap="square" lIns="0" rIns="0" tIns="0" bIns="0" anchor="t">
            <a:spAutoFit/>
          </a:bodyPr>
          <a:lstStyle/>
          <a:p>
            <a:pPr algn="l">
              <a:lnSpc>
                <a:spcPct val="125000"/>
              </a:lnSpc>
            </a:pPr>
            <a:r>
              <a:rPr sz="1300" b="0">
                <a:solidFill>
                  <a:srgbClr val="4A4A4A"/>
                </a:solidFill>
                <a:latin typeface="Calibri"/>
              </a:rPr>
              <a:t>Use AI to shrink customer-service ramp-up from 6–9 months to 2–3 months.</a:t>
            </a:r>
          </a:p>
        </p:txBody>
      </p:sp>
      <p:sp>
        <p:nvSpPr>
          <p:cNvPr id="22" name="Oval 21"/>
          <p:cNvSpPr/>
          <p:nvPr/>
        </p:nvSpPr>
        <p:spPr>
          <a:xfrm>
            <a:off x="365760" y="5669280"/>
            <a:ext cx="594360" cy="594360"/>
          </a:xfrm>
          <a:prstGeom prst="ellipse">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742432"/>
            <a:ext cx="594360" cy="457200"/>
          </a:xfrm>
          <a:prstGeom prst="rect">
            <a:avLst/>
          </a:prstGeom>
          <a:noFill/>
        </p:spPr>
        <p:txBody>
          <a:bodyPr wrap="square" lIns="0" rIns="0" tIns="0" bIns="0" anchor="t">
            <a:spAutoFit/>
          </a:bodyPr>
          <a:lstStyle/>
          <a:p>
            <a:pPr algn="ctr">
              <a:lnSpc>
                <a:spcPct val="115000"/>
              </a:lnSpc>
            </a:pPr>
            <a:r>
              <a:rPr sz="2000" b="1">
                <a:solidFill>
                  <a:srgbClr val="FFFFFF"/>
                </a:solidFill>
                <a:latin typeface="Calibri"/>
              </a:rPr>
              <a:t>5</a:t>
            </a:r>
          </a:p>
        </p:txBody>
      </p:sp>
      <p:sp>
        <p:nvSpPr>
          <p:cNvPr id="24" name="TextBox 23"/>
          <p:cNvSpPr txBox="1"/>
          <p:nvPr/>
        </p:nvSpPr>
        <p:spPr>
          <a:xfrm>
            <a:off x="1143000" y="5650992"/>
            <a:ext cx="10680192" cy="365760"/>
          </a:xfrm>
          <a:prstGeom prst="rect">
            <a:avLst/>
          </a:prstGeom>
          <a:noFill/>
        </p:spPr>
        <p:txBody>
          <a:bodyPr wrap="square" lIns="0" rIns="0" tIns="0" bIns="0" anchor="t">
            <a:spAutoFit/>
          </a:bodyPr>
          <a:lstStyle/>
          <a:p>
            <a:pPr algn="l">
              <a:lnSpc>
                <a:spcPct val="115000"/>
              </a:lnSpc>
            </a:pPr>
            <a:r>
              <a:rPr sz="1600" b="1">
                <a:solidFill>
                  <a:srgbClr val="460073"/>
                </a:solidFill>
                <a:latin typeface="Calibri"/>
              </a:rPr>
              <a:t>5. Protect Top-Talent Originality</a:t>
            </a:r>
          </a:p>
        </p:txBody>
      </p:sp>
      <p:sp>
        <p:nvSpPr>
          <p:cNvPr id="25" name="TextBox 24"/>
          <p:cNvSpPr txBox="1"/>
          <p:nvPr/>
        </p:nvSpPr>
        <p:spPr>
          <a:xfrm>
            <a:off x="1143000" y="5989320"/>
            <a:ext cx="10680192" cy="365760"/>
          </a:xfrm>
          <a:prstGeom prst="rect">
            <a:avLst/>
          </a:prstGeom>
          <a:noFill/>
        </p:spPr>
        <p:txBody>
          <a:bodyPr wrap="square" lIns="0" rIns="0" tIns="0" bIns="0" anchor="t">
            <a:spAutoFit/>
          </a:bodyPr>
          <a:lstStyle/>
          <a:p>
            <a:pPr algn="l">
              <a:lnSpc>
                <a:spcPct val="125000"/>
              </a:lnSpc>
            </a:pPr>
            <a:r>
              <a:rPr sz="1300" b="0">
                <a:solidFill>
                  <a:srgbClr val="4A4A4A"/>
                </a:solidFill>
                <a:latin typeface="Calibri"/>
              </a:rPr>
              <a:t>Reserve high-difficulty, AI-free tasks for senior staff to preserve creative output.</a:t>
            </a:r>
          </a:p>
        </p:txBody>
      </p:sp>
      <p:sp>
        <p:nvSpPr>
          <p:cNvPr id="26" name="Rectangle 25"/>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28" name="TextBox 27"/>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29" name="TextBox 28"/>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F"/>
        </a:solidFill>
        <a:effectLst/>
      </p:bgPr>
    </p:bg>
    <p:spTree>
      <p:nvGrpSpPr>
        <p:cNvPr id="1" name=""/>
        <p:cNvGrpSpPr/>
        <p:nvPr/>
      </p:nvGrpSpPr>
      <p:grpSpPr/>
      <p:sp>
        <p:nvSpPr>
          <p:cNvPr id="2" name="Rectangle 1"/>
          <p:cNvSpPr/>
          <p:nvPr/>
        </p:nvSpPr>
        <p:spPr>
          <a:xfrm>
            <a:off x="365760" y="365760"/>
            <a:ext cx="457200"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7315200" cy="274320"/>
          </a:xfrm>
          <a:prstGeom prst="rect">
            <a:avLst/>
          </a:prstGeom>
          <a:noFill/>
        </p:spPr>
        <p:txBody>
          <a:bodyPr wrap="square" lIns="0" rIns="0" tIns="0" bIns="0" anchor="t">
            <a:spAutoFit/>
          </a:bodyPr>
          <a:lstStyle/>
          <a:p>
            <a:pPr algn="l">
              <a:lnSpc>
                <a:spcPct val="115000"/>
              </a:lnSpc>
            </a:pPr>
            <a:r>
              <a:rPr sz="1100" b="1">
                <a:solidFill>
                  <a:srgbClr val="A100FF"/>
                </a:solidFill>
                <a:latin typeface="Calibri"/>
              </a:rPr>
              <a:t>References</a:t>
            </a:r>
          </a:p>
        </p:txBody>
      </p:sp>
      <p:sp>
        <p:nvSpPr>
          <p:cNvPr id="4" name="TextBox 3"/>
          <p:cNvSpPr txBox="1"/>
          <p:nvPr/>
        </p:nvSpPr>
        <p:spPr>
          <a:xfrm>
            <a:off x="365760" y="640080"/>
            <a:ext cx="11457432" cy="640080"/>
          </a:xfrm>
          <a:prstGeom prst="rect">
            <a:avLst/>
          </a:prstGeom>
          <a:noFill/>
        </p:spPr>
        <p:txBody>
          <a:bodyPr wrap="square" lIns="0" rIns="0" tIns="0" bIns="0" anchor="t">
            <a:spAutoFit/>
          </a:bodyPr>
          <a:lstStyle/>
          <a:p>
            <a:pPr algn="l">
              <a:lnSpc>
                <a:spcPct val="115000"/>
              </a:lnSpc>
            </a:pPr>
            <a:r>
              <a:rPr sz="3000" b="1">
                <a:solidFill>
                  <a:srgbClr val="460073"/>
                </a:solidFill>
                <a:latin typeface="Calibri"/>
              </a:rPr>
              <a:t>References &amp; Source</a:t>
            </a:r>
          </a:p>
        </p:txBody>
      </p:sp>
      <p:sp>
        <p:nvSpPr>
          <p:cNvPr id="5" name="TextBox 4"/>
          <p:cNvSpPr txBox="1"/>
          <p:nvPr/>
        </p:nvSpPr>
        <p:spPr>
          <a:xfrm>
            <a:off x="365760" y="1645920"/>
            <a:ext cx="11457432" cy="4572000"/>
          </a:xfrm>
          <a:prstGeom prst="rect">
            <a:avLst/>
          </a:prstGeom>
          <a:noFill/>
        </p:spPr>
        <p:txBody>
          <a:bodyPr wrap="square" lIns="0" rIns="0" tIns="0" bIns="0">
            <a:spAutoFit/>
          </a:bodyPr>
          <a:lstStyle/>
          <a:p>
            <a:pPr algn="l">
              <a:lnSpc>
                <a:spcPct val="140000"/>
              </a:lnSpc>
              <a:spcAft>
                <a:spcPts val="600"/>
              </a:spcAft>
            </a:pPr>
            <a:r>
              <a:rPr sz="1200" b="0">
                <a:solidFill>
                  <a:srgbClr val="141414"/>
                </a:solidFill>
                <a:latin typeface="Calibri"/>
              </a:rPr>
              <a:t>• Brynjolfsson, E., Li, D., &amp; Raymond, L. (2024). Generative AI at Work. NBER Working Paper No. 31161 / arXiv:2304.11771v2 (Nov 7, 2024).</a:t>
            </a:r>
          </a:p>
          <a:p>
            <a:pPr algn="l">
              <a:lnSpc>
                <a:spcPct val="140000"/>
              </a:lnSpc>
              <a:spcAft>
                <a:spcPts val="600"/>
              </a:spcAft>
            </a:pPr>
            <a:r>
              <a:rPr sz="1200" b="0">
                <a:solidFill>
                  <a:srgbClr val="141414"/>
                </a:solidFill>
                <a:latin typeface="Calibri"/>
              </a:rPr>
              <a:t>• Published as: Quarterly Journal of Economics, Vol. 140, No. 2, 2025, pp. 889–942.</a:t>
            </a:r>
          </a:p>
          <a:p>
            <a:pPr algn="l">
              <a:lnSpc>
                <a:spcPct val="140000"/>
              </a:lnSpc>
              <a:spcAft>
                <a:spcPts val="600"/>
              </a:spcAft>
            </a:pPr>
            <a:r>
              <a:rPr sz="1200" b="0">
                <a:solidFill>
                  <a:srgbClr val="141414"/>
                </a:solidFill>
                <a:latin typeface="Calibri"/>
              </a:rPr>
              <a:t>• Original source: https://arxiv.org/abs/2304.11771</a:t>
            </a:r>
          </a:p>
          <a:p>
            <a:pPr algn="l">
              <a:lnSpc>
                <a:spcPct val="140000"/>
              </a:lnSpc>
              <a:spcAft>
                <a:spcPts val="600"/>
              </a:spcAft>
            </a:pPr>
            <a:r>
              <a:rPr sz="1200" b="0">
                <a:solidFill>
                  <a:srgbClr val="141414"/>
                </a:solidFill>
                <a:latin typeface="Calibri"/>
              </a:rPr>
              <a:t>• Sample: 5,172 customer-service agents at a Fortune 500 business-process software firm.</a:t>
            </a:r>
          </a:p>
          <a:p>
            <a:pPr algn="l">
              <a:lnSpc>
                <a:spcPct val="140000"/>
              </a:lnSpc>
              <a:spcAft>
                <a:spcPts val="600"/>
              </a:spcAft>
            </a:pPr>
            <a:r>
              <a:rPr sz="1200" b="0">
                <a:solidFill>
                  <a:srgbClr val="141414"/>
                </a:solidFill>
                <a:latin typeface="Calibri"/>
              </a:rPr>
              <a:t>• Identification: Two-way fixed effects DiD; Sun-Abraham robust estimators; outage-based natural experiment for learning persistence.</a:t>
            </a:r>
          </a:p>
          <a:p>
            <a:pPr algn="l">
              <a:lnSpc>
                <a:spcPct val="140000"/>
              </a:lnSpc>
              <a:spcAft>
                <a:spcPts val="600"/>
              </a:spcAft>
            </a:pPr>
            <a:r>
              <a:rPr sz="1200" b="0">
                <a:solidFill>
                  <a:srgbClr val="141414"/>
                </a:solidFill>
                <a:latin typeface="Calibri"/>
              </a:rPr>
              <a:t>• All statistics in this deck cited from §Abstract, §5–§8, Tables 2–3, and Figures 2–4 / 10–11 of the paper.</a:t>
            </a:r>
          </a:p>
        </p:txBody>
      </p:sp>
      <p:sp>
        <p:nvSpPr>
          <p:cNvPr id="6" name="Rectangle 5"/>
          <p:cNvSpPr/>
          <p:nvPr/>
        </p:nvSpPr>
        <p:spPr>
          <a:xfrm>
            <a:off x="365760" y="6446520"/>
            <a:ext cx="11457432"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5943600" cy="274320"/>
          </a:xfrm>
          <a:prstGeom prst="rect">
            <a:avLst/>
          </a:prstGeom>
          <a:noFill/>
        </p:spPr>
        <p:txBody>
          <a:bodyPr wrap="square" lIns="0" rIns="0" tIns="0" bIns="0" anchor="t">
            <a:spAutoFit/>
          </a:bodyPr>
          <a:lstStyle/>
          <a:p>
            <a:pPr algn="l">
              <a:lnSpc>
                <a:spcPct val="115000"/>
              </a:lnSpc>
            </a:pPr>
            <a:r>
              <a:rPr sz="800" b="0">
                <a:solidFill>
                  <a:srgbClr val="8A8A8A"/>
                </a:solidFill>
                <a:latin typeface="Calibri"/>
              </a:rPr>
              <a:t>Source: Erik Brynjolfsson, Danielle Li, Lindsey Raymond · NBER Working Paper No. 31161 / arXiv:2304.11771v2</a:t>
            </a:r>
          </a:p>
        </p:txBody>
      </p:sp>
      <p:sp>
        <p:nvSpPr>
          <p:cNvPr id="8" name="TextBox 7"/>
          <p:cNvSpPr txBox="1"/>
          <p:nvPr/>
        </p:nvSpPr>
        <p:spPr>
          <a:xfrm>
            <a:off x="365760" y="6510528"/>
            <a:ext cx="11457432" cy="274320"/>
          </a:xfrm>
          <a:prstGeom prst="rect">
            <a:avLst/>
          </a:prstGeom>
          <a:noFill/>
        </p:spPr>
        <p:txBody>
          <a:bodyPr wrap="square" lIns="0" rIns="0" tIns="0" bIns="0" anchor="t">
            <a:spAutoFit/>
          </a:bodyPr>
          <a:lstStyle/>
          <a:p>
            <a:pPr algn="ctr">
              <a:lnSpc>
                <a:spcPct val="115000"/>
              </a:lnSpc>
            </a:pPr>
            <a:r>
              <a:rPr sz="800" b="0">
                <a:solidFill>
                  <a:srgbClr val="8A8A8A"/>
                </a:solidFill>
                <a:latin typeface="Calibri"/>
              </a:rPr>
              <a:t>Generative AI at Work · Executive Briefing</a:t>
            </a:r>
          </a:p>
        </p:txBody>
      </p:sp>
      <p:sp>
        <p:nvSpPr>
          <p:cNvPr id="9" name="TextBox 8"/>
          <p:cNvSpPr txBox="1"/>
          <p:nvPr/>
        </p:nvSpPr>
        <p:spPr>
          <a:xfrm>
            <a:off x="365760" y="6510528"/>
            <a:ext cx="11457432" cy="274320"/>
          </a:xfrm>
          <a:prstGeom prst="rect">
            <a:avLst/>
          </a:prstGeom>
          <a:noFill/>
        </p:spPr>
        <p:txBody>
          <a:bodyPr wrap="square" lIns="0" rIns="0" tIns="0" bIns="0" anchor="t">
            <a:spAutoFit/>
          </a:bodyPr>
          <a:lstStyle/>
          <a:p>
            <a:pPr algn="r">
              <a:lnSpc>
                <a:spcPct val="115000"/>
              </a:lnSpc>
            </a:pPr>
            <a:r>
              <a:rPr sz="800" b="0">
                <a:solidFill>
                  <a:srgbClr val="8A8A8A"/>
                </a:solidFill>
                <a:latin typeface="Calibri"/>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Rectangle 1"/>
          <p:cNvSpPr/>
          <p:nvPr/>
        </p:nvSpPr>
        <p:spPr>
          <a:xfrm>
            <a:off x="0" y="3108960"/>
            <a:ext cx="12191695" cy="45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377440"/>
            <a:ext cx="11457432" cy="914400"/>
          </a:xfrm>
          <a:prstGeom prst="rect">
            <a:avLst/>
          </a:prstGeom>
          <a:noFill/>
        </p:spPr>
        <p:txBody>
          <a:bodyPr wrap="square" lIns="0" rIns="0" tIns="0" bIns="0" anchor="t">
            <a:spAutoFit/>
          </a:bodyPr>
          <a:lstStyle/>
          <a:p>
            <a:pPr algn="ctr">
              <a:lnSpc>
                <a:spcPct val="115000"/>
              </a:lnSpc>
            </a:pPr>
            <a:r>
              <a:rPr sz="6000" b="1">
                <a:solidFill>
                  <a:srgbClr val="FFFFFF"/>
                </a:solidFill>
                <a:latin typeface="Calibri"/>
              </a:rPr>
              <a:t>Thank You</a:t>
            </a:r>
          </a:p>
        </p:txBody>
      </p:sp>
      <p:sp>
        <p:nvSpPr>
          <p:cNvPr id="4" name="TextBox 3"/>
          <p:cNvSpPr txBox="1"/>
          <p:nvPr/>
        </p:nvSpPr>
        <p:spPr>
          <a:xfrm>
            <a:off x="365760" y="3383280"/>
            <a:ext cx="11457432" cy="548640"/>
          </a:xfrm>
          <a:prstGeom prst="rect">
            <a:avLst/>
          </a:prstGeom>
          <a:noFill/>
        </p:spPr>
        <p:txBody>
          <a:bodyPr wrap="square" lIns="0" rIns="0" tIns="0" bIns="0" anchor="t">
            <a:spAutoFit/>
          </a:bodyPr>
          <a:lstStyle/>
          <a:p>
            <a:pPr algn="ctr">
              <a:lnSpc>
                <a:spcPct val="115000"/>
              </a:lnSpc>
            </a:pPr>
            <a:r>
              <a:rPr sz="1800" b="0">
                <a:solidFill>
                  <a:srgbClr val="E5D4FF"/>
                </a:solidFill>
                <a:latin typeface="Calibri"/>
              </a:rPr>
              <a:t>AI Daily Reads — Curated by aidigest.club</a:t>
            </a:r>
          </a:p>
        </p:txBody>
      </p:sp>
      <p:sp>
        <p:nvSpPr>
          <p:cNvPr id="5" name="TextBox 4"/>
          <p:cNvSpPr txBox="1"/>
          <p:nvPr/>
        </p:nvSpPr>
        <p:spPr>
          <a:xfrm>
            <a:off x="365760" y="6217920"/>
            <a:ext cx="11457432" cy="365760"/>
          </a:xfrm>
          <a:prstGeom prst="rect">
            <a:avLst/>
          </a:prstGeom>
          <a:noFill/>
        </p:spPr>
        <p:txBody>
          <a:bodyPr wrap="square" lIns="0" rIns="0" tIns="0" bIns="0" anchor="t">
            <a:spAutoFit/>
          </a:bodyPr>
          <a:lstStyle/>
          <a:p>
            <a:pPr algn="ctr">
              <a:lnSpc>
                <a:spcPct val="115000"/>
              </a:lnSpc>
            </a:pPr>
            <a:r>
              <a:rPr sz="1000" b="0">
                <a:solidFill>
                  <a:srgbClr val="BE82FF"/>
                </a:solidFill>
                <a:latin typeface="Calibri"/>
              </a:rPr>
              <a:t>Slides generated from primary source · For executive briefing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