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141413"/>
                </a:solidFill>
                <a:latin typeface="Poppins"/>
              </a:rPr>
              <a:t>aidigest · reads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71800" y="539496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E8E6DC"/>
          </a:solidFill>
          <a:ln w="6350"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379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B0AEA5"/>
                </a:solidFill>
                <a:latin typeface="Lora"/>
              </a:rPr>
              <a:t>Curated by aidigest.club  /  Anthropic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37960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spc="200">
                <a:solidFill>
                  <a:srgbClr val="B0AEA5"/>
                </a:solidFill>
                <a:latin typeface="Poppins"/>
              </a:rPr>
              <a:t>01  / 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1887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D97757"/>
                </a:solidFill>
                <a:latin typeface="Poppins"/>
              </a:rPr>
              <a:t>AI DAILY READS · EXECUTIVE BRIEF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77724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5000" b="1" i="0">
                <a:solidFill>
                  <a:srgbClr val="141413"/>
                </a:solidFill>
                <a:latin typeface="Poppins"/>
              </a:rPr>
              <a:t>The 2026 AI Index</a:t>
            </a:r>
          </a:p>
          <a:p>
            <a:pPr algn="l">
              <a:lnSpc>
                <a:spcPct val="106000"/>
              </a:lnSpc>
            </a:pPr>
            <a:r>
              <a:rPr sz="5000" b="1" i="0">
                <a:solidFill>
                  <a:srgbClr val="141413"/>
                </a:solidFill>
                <a:latin typeface="Poppins"/>
              </a:rPr>
              <a:t>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7772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1">
                <a:solidFill>
                  <a:srgbClr val="B0AEA5"/>
                </a:solidFill>
                <a:latin typeface="Lora"/>
              </a:rPr>
              <a:t>Capability has not plateaued · the U.S.-China gap has closed · adoption is faster than the PC era — but governance, education, and work are not keeping up.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577840"/>
            <a:ext cx="2286000" cy="2540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715000"/>
            <a:ext cx="7772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141413"/>
                </a:solidFill>
                <a:latin typeface="Poppins"/>
              </a:rPr>
              <a:t>Stanford HAI  ·  April 2026  ·  9th annual edition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95360" y="1188720"/>
            <a:ext cx="25400" cy="475488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1371600"/>
            <a:ext cx="2697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141413"/>
                </a:solidFill>
                <a:latin typeface="Poppins"/>
              </a:rPr>
              <a:t>2.7%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960" y="2148840"/>
            <a:ext cx="2697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1">
                <a:solidFill>
                  <a:srgbClr val="B0AEA5"/>
                </a:solidFill>
                <a:latin typeface="Lora"/>
              </a:rPr>
              <a:t>U.S.-China model gap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60" y="2880360"/>
            <a:ext cx="2697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141413"/>
                </a:solidFill>
                <a:latin typeface="Poppins"/>
              </a:rPr>
              <a:t>88%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3657600"/>
            <a:ext cx="2697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1">
                <a:solidFill>
                  <a:srgbClr val="B0AEA5"/>
                </a:solidFill>
                <a:latin typeface="Lora"/>
              </a:rPr>
              <a:t>Org. AI adoption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4389120"/>
            <a:ext cx="2697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141413"/>
                </a:solidFill>
                <a:latin typeface="Poppins"/>
              </a:rPr>
              <a:t>−89%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5166360"/>
            <a:ext cx="2697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1">
                <a:solidFill>
                  <a:srgbClr val="B0AEA5"/>
                </a:solidFill>
                <a:latin typeface="Lora"/>
              </a:rPr>
              <a:t>U.S. talent net inflow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141413"/>
                </a:solidFill>
                <a:latin typeface="Poppins"/>
              </a:rPr>
              <a:t>aidigest · reads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71800" y="539496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D97757"/>
                </a:solidFill>
                <a:latin typeface="Poppins"/>
              </a:rPr>
              <a:t>CONTEXT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E8E6DC"/>
          </a:solidFill>
          <a:ln w="6350"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379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B0AEA5"/>
                </a:solidFill>
                <a:latin typeface="Lora"/>
              </a:rPr>
              <a:t>Curated by aidigest.club  /  Anthropic 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37960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spc="200">
                <a:solidFill>
                  <a:srgbClr val="B0AEA5"/>
                </a:solidFill>
                <a:latin typeface="Poppins"/>
              </a:rPr>
              <a:t>02  / 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10911535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41413"/>
                </a:solidFill>
                <a:latin typeface="Poppins"/>
              </a:rPr>
              <a:t>From “will AI work?”</a:t>
            </a:r>
          </a:p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41413"/>
                </a:solidFill>
                <a:latin typeface="Poppins"/>
              </a:rPr>
              <a:t>to “can systems keep up?”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34640"/>
            <a:ext cx="1090879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 i="1">
                <a:solidFill>
                  <a:srgbClr val="141413"/>
                </a:solidFill>
                <a:latin typeface="Lora"/>
              </a:rPr>
              <a:t>The 9th edition of the AI Index makes the underlying question visible. AI capability is accelerating; the U.S.-China model gap has effectively closed; adoption is outpacing every prior platform. The bottleneck is no longer the technology — it is the policy, workforce, and evaluation systems around 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931920"/>
            <a:ext cx="1828800" cy="25400"/>
          </a:xfrm>
          <a:prstGeom prst="rect">
            <a:avLst/>
          </a:prstGeom>
          <a:solidFill>
            <a:srgbClr val="B0AEA5"/>
          </a:solidFill>
          <a:ln w="6350">
            <a:solidFill>
              <a:srgbClr val="B0A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023360"/>
            <a:ext cx="5349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0AEA5"/>
                </a:solidFill>
                <a:latin typeface="Poppins"/>
              </a:rPr>
              <a:t>OLD NARRATIVE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34840"/>
            <a:ext cx="5349240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100" b="1" i="0">
                <a:solidFill>
                  <a:srgbClr val="B0AEA5"/>
                </a:solidFill>
                <a:latin typeface="Poppins"/>
              </a:rPr>
              <a:t>—  </a:t>
            </a:r>
            <a:r>
              <a:rPr sz="1150" b="0" i="0">
                <a:solidFill>
                  <a:srgbClr val="141413"/>
                </a:solidFill>
                <a:latin typeface="Lora"/>
              </a:rPr>
              <a:t>Capability gains will slow as we approach human baselines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100" b="1" i="0">
                <a:solidFill>
                  <a:srgbClr val="B0AEA5"/>
                </a:solidFill>
                <a:latin typeface="Poppins"/>
              </a:rPr>
              <a:t>—  </a:t>
            </a:r>
            <a:r>
              <a:rPr sz="1150" b="0" i="0">
                <a:solidFill>
                  <a:srgbClr val="141413"/>
                </a:solidFill>
                <a:latin typeface="Lora"/>
              </a:rPr>
              <a:t>U.S. labs hold a comfortable lead over China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100" b="1" i="0">
                <a:solidFill>
                  <a:srgbClr val="B0AEA5"/>
                </a:solidFill>
                <a:latin typeface="Poppins"/>
              </a:rPr>
              <a:t>—  </a:t>
            </a:r>
            <a:r>
              <a:rPr sz="1150" b="0" i="0">
                <a:solidFill>
                  <a:srgbClr val="141413"/>
                </a:solidFill>
                <a:latin typeface="Lora"/>
              </a:rPr>
              <a:t>Enterprise adoption will follow a slow technology curve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100" b="1" i="0">
                <a:solidFill>
                  <a:srgbClr val="B0AEA5"/>
                </a:solidFill>
                <a:latin typeface="Poppins"/>
              </a:rPr>
              <a:t>—  </a:t>
            </a:r>
            <a:r>
              <a:rPr sz="1150" b="0" i="0">
                <a:solidFill>
                  <a:srgbClr val="141413"/>
                </a:solidFill>
                <a:latin typeface="Lora"/>
              </a:rPr>
              <a:t>Talent and capital will continue to concentrate in the U.S.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9632" y="3931920"/>
            <a:ext cx="1828800" cy="2540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9632" y="4023360"/>
            <a:ext cx="5349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D97757"/>
                </a:solidFill>
                <a:latin typeface="Poppins"/>
              </a:rPr>
              <a:t>WHAT 2026 ACTUALLY SHOWS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9632" y="4434840"/>
            <a:ext cx="5349240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100" b="1" i="0">
                <a:solidFill>
                  <a:srgbClr val="D97757"/>
                </a:solidFill>
                <a:latin typeface="Poppins"/>
              </a:rPr>
              <a:t>—  </a:t>
            </a:r>
            <a:r>
              <a:rPr sz="1150" b="0" i="0">
                <a:solidFill>
                  <a:srgbClr val="141413"/>
                </a:solidFill>
                <a:latin typeface="Lora"/>
              </a:rPr>
              <a:t>Capability is still accelerating — SWE-bench 60% → ~100% in a year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100" b="1" i="0">
                <a:solidFill>
                  <a:srgbClr val="D97757"/>
                </a:solidFill>
                <a:latin typeface="Poppins"/>
              </a:rPr>
              <a:t>—  </a:t>
            </a:r>
            <a:r>
              <a:rPr sz="1150" b="0" i="0">
                <a:solidFill>
                  <a:srgbClr val="141413"/>
                </a:solidFill>
                <a:latin typeface="Lora"/>
              </a:rPr>
              <a:t>U.S.-China flagship gap collapsed to 2.7%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100" b="1" i="0">
                <a:solidFill>
                  <a:srgbClr val="D97757"/>
                </a:solidFill>
                <a:latin typeface="Poppins"/>
              </a:rPr>
              <a:t>—  </a:t>
            </a:r>
            <a:r>
              <a:rPr sz="1150" b="0" i="0">
                <a:solidFill>
                  <a:srgbClr val="141413"/>
                </a:solidFill>
                <a:latin typeface="Lora"/>
              </a:rPr>
              <a:t>53% population reach in 3 years — faster than the PC and the internet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100" b="1" i="0">
                <a:solidFill>
                  <a:srgbClr val="D97757"/>
                </a:solidFill>
                <a:latin typeface="Poppins"/>
              </a:rPr>
              <a:t>—  </a:t>
            </a:r>
            <a:r>
              <a:rPr sz="1150" b="0" i="0">
                <a:solidFill>
                  <a:srgbClr val="141413"/>
                </a:solidFill>
                <a:latin typeface="Lora"/>
              </a:rPr>
              <a:t>U.S. AI researcher net inflow fell 89% since 2017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FAF9F5"/>
                </a:solidFill>
                <a:latin typeface="Poppins"/>
              </a:rPr>
              <a:t>aidigest · reads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71800" y="539496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B0AEA5"/>
          </a:solidFill>
          <a:ln w="6350">
            <a:solidFill>
              <a:srgbClr val="B0A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379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E8E6DC"/>
                </a:solidFill>
                <a:latin typeface="Lora"/>
              </a:rPr>
              <a:t>Curated by aidigest.club  /  Anthropic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37960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spc="200">
                <a:solidFill>
                  <a:srgbClr val="E8E6DC"/>
                </a:solidFill>
                <a:latin typeface="Poppins"/>
              </a:rPr>
              <a:t>03  / 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400">
                <a:solidFill>
                  <a:srgbClr val="FAF9F5"/>
                </a:solidFill>
                <a:latin typeface="Poppins"/>
              </a:rPr>
              <a:t>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097280"/>
            <a:ext cx="45720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8000" b="1" i="0">
                <a:solidFill>
                  <a:srgbClr val="FAF9F5"/>
                </a:solidFill>
                <a:latin typeface="Poppins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0" y="1188720"/>
            <a:ext cx="12700" cy="41148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49240" y="1188720"/>
            <a:ext cx="6355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FAF9F5"/>
                </a:solidFill>
                <a:latin typeface="Poppins"/>
              </a:rPr>
              <a:t>FINDINGS &amp; TRENDS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1600200"/>
            <a:ext cx="63550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FAF9F5"/>
                </a:solidFill>
                <a:latin typeface="Poppins"/>
              </a:rPr>
              <a:t>Four headline numbers from</a:t>
            </a:r>
          </a:p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FAF9F5"/>
                </a:solidFill>
                <a:latin typeface="Poppins"/>
              </a:rPr>
              <a:t>the 2026 edition.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49240" y="3931920"/>
            <a:ext cx="1371600" cy="254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49240" y="4069080"/>
            <a:ext cx="6355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AF9F5"/>
                </a:solidFill>
                <a:latin typeface="Poppins"/>
              </a:rPr>
              <a:t>IN THIS SECTION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4434840"/>
            <a:ext cx="63550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1" i="0">
                <a:solidFill>
                  <a:srgbClr val="FAF9F5"/>
                </a:solidFill>
                <a:latin typeface="Poppins"/>
              </a:rPr>
              <a:t>—  </a:t>
            </a:r>
            <a:r>
              <a:rPr sz="1400" b="0" i="1">
                <a:solidFill>
                  <a:srgbClr val="FAF9F5"/>
                </a:solidFill>
                <a:latin typeface="Lora"/>
              </a:rPr>
              <a:t>Capability has not plateaued — SWE-bench 60% → ~100%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1" i="0">
                <a:solidFill>
                  <a:srgbClr val="FAF9F5"/>
                </a:solidFill>
                <a:latin typeface="Poppins"/>
              </a:rPr>
              <a:t>—  </a:t>
            </a:r>
            <a:r>
              <a:rPr sz="1400" b="0" i="1">
                <a:solidFill>
                  <a:srgbClr val="FAF9F5"/>
                </a:solidFill>
                <a:latin typeface="Lora"/>
              </a:rPr>
              <a:t>U.S.-China flagship model gap shrunk to 2.7%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1" i="0">
                <a:solidFill>
                  <a:srgbClr val="FAF9F5"/>
                </a:solidFill>
                <a:latin typeface="Poppins"/>
              </a:rPr>
              <a:t>—  </a:t>
            </a:r>
            <a:r>
              <a:rPr sz="1400" b="0" i="1">
                <a:solidFill>
                  <a:srgbClr val="FAF9F5"/>
                </a:solidFill>
                <a:latin typeface="Lora"/>
              </a:rPr>
              <a:t>Generative AI reached 53% of the population in 3 years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1" i="0">
                <a:solidFill>
                  <a:srgbClr val="FAF9F5"/>
                </a:solidFill>
                <a:latin typeface="Poppins"/>
              </a:rPr>
              <a:t>—  </a:t>
            </a:r>
            <a:r>
              <a:rPr sz="1400" b="0" i="1">
                <a:solidFill>
                  <a:srgbClr val="FAF9F5"/>
                </a:solidFill>
                <a:latin typeface="Lora"/>
              </a:rPr>
              <a:t>U.S. AI talent net inflow collapsed 89%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141413"/>
                </a:solidFill>
                <a:latin typeface="Poppins"/>
              </a:rPr>
              <a:t>aidigest · reads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71800" y="539496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D97757"/>
                </a:solidFill>
                <a:latin typeface="Poppins"/>
              </a:rPr>
              <a:t>ACT 01 · KEY FINDINGS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E8E6DC"/>
          </a:solidFill>
          <a:ln w="6350"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379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B0AEA5"/>
                </a:solidFill>
                <a:latin typeface="Lora"/>
              </a:rPr>
              <a:t>Curated by aidigest.club  /  Anthropic 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37960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spc="200">
                <a:solidFill>
                  <a:srgbClr val="B0AEA5"/>
                </a:solidFill>
                <a:latin typeface="Poppins"/>
              </a:rPr>
              <a:t>04  / 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10911535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41413"/>
                </a:solidFill>
                <a:latin typeface="Poppins"/>
              </a:rPr>
              <a:t>The headline numbers.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B0AEA5"/>
                </a:solidFill>
                <a:latin typeface="Lora"/>
              </a:rPr>
              <a:t>Four data points that reframe the strategic conversation for 2026.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611880"/>
            <a:ext cx="25400" cy="265176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611880"/>
            <a:ext cx="2439847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141413"/>
                </a:solidFill>
                <a:latin typeface="Poppins"/>
              </a:rPr>
              <a:t>~100%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4526280"/>
            <a:ext cx="243984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 spc="200">
                <a:solidFill>
                  <a:srgbClr val="D97757"/>
                </a:solidFill>
                <a:latin typeface="Poppins"/>
              </a:rPr>
              <a:t>SWE-bench Verified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074920"/>
            <a:ext cx="2439847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1">
                <a:solidFill>
                  <a:srgbClr val="141413"/>
                </a:solidFill>
                <a:latin typeface="Lora"/>
              </a:rPr>
              <a:t>AI moved from 60% of human baseline to near-100% on the most serious coding benchmark in a single year. Capability is still accelerating.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9111" y="3611880"/>
            <a:ext cx="25400" cy="2651760"/>
          </a:xfrm>
          <a:prstGeom prst="rect">
            <a:avLst/>
          </a:prstGeom>
          <a:solidFill>
            <a:srgbClr val="6A9BCC"/>
          </a:solidFill>
          <a:ln w="6350">
            <a:solidFill>
              <a:srgbClr val="6A9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73703" y="3611880"/>
            <a:ext cx="2439847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141413"/>
                </a:solidFill>
                <a:latin typeface="Poppins"/>
              </a:rPr>
              <a:t>2.7%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73703" y="4526280"/>
            <a:ext cx="243984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 spc="200">
                <a:solidFill>
                  <a:srgbClr val="6A9BCC"/>
                </a:solidFill>
                <a:latin typeface="Poppins"/>
              </a:rPr>
              <a:t>U.S.-China gap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73703" y="5074920"/>
            <a:ext cx="2439847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1">
                <a:solidFill>
                  <a:srgbClr val="141413"/>
                </a:solidFill>
                <a:latin typeface="Lora"/>
              </a:rPr>
              <a:t>DeepSeek-R1 briefly matched the U.S. frontier in Feb 2025. By Mar 2026 the flagship Anthropic model leads by just 2.7% — effectively closed.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8143" y="3611880"/>
            <a:ext cx="25400" cy="2651760"/>
          </a:xfrm>
          <a:prstGeom prst="rect">
            <a:avLst/>
          </a:prstGeom>
          <a:solidFill>
            <a:srgbClr val="788C5D"/>
          </a:solidFill>
          <a:ln w="6350">
            <a:solidFill>
              <a:srgbClr val="788C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42735" y="3611880"/>
            <a:ext cx="2439847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141413"/>
                </a:solidFill>
                <a:latin typeface="Poppins"/>
              </a:rPr>
              <a:t>53%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2735" y="4526280"/>
            <a:ext cx="243984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 spc="200">
                <a:solidFill>
                  <a:srgbClr val="788C5D"/>
                </a:solidFill>
                <a:latin typeface="Poppins"/>
              </a:rPr>
              <a:t>3-year reach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2735" y="5074920"/>
            <a:ext cx="2439847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1">
                <a:solidFill>
                  <a:srgbClr val="141413"/>
                </a:solidFill>
                <a:latin typeface="Lora"/>
              </a:rPr>
              <a:t>Generative AI reached 53% of the population in 3 years — faster than the PC or the internet. Singapore 61%, UAE 54%, U.S. rank 24 (28.3%).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47175" y="3611880"/>
            <a:ext cx="25400" cy="265176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11767" y="3611880"/>
            <a:ext cx="2439847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141413"/>
                </a:solidFill>
                <a:latin typeface="Poppins"/>
              </a:rPr>
              <a:t>−89%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11767" y="4526280"/>
            <a:ext cx="243984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 spc="200">
                <a:solidFill>
                  <a:srgbClr val="D97757"/>
                </a:solidFill>
                <a:latin typeface="Poppins"/>
              </a:rPr>
              <a:t>U.S. AI talent inflow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1767" y="5074920"/>
            <a:ext cx="2439847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1">
                <a:solidFill>
                  <a:srgbClr val="141413"/>
                </a:solidFill>
                <a:latin typeface="Lora"/>
              </a:rPr>
              <a:t>AI researchers moving to the U.S. fell 89% since 2017 — with 80% of that drop in the last year alone. The talent reshuffle is real.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6355080"/>
            <a:ext cx="10911535" cy="6350"/>
          </a:xfrm>
          <a:prstGeom prst="rect">
            <a:avLst/>
          </a:prstGeom>
          <a:solidFill>
            <a:srgbClr val="E8E6DC"/>
          </a:solidFill>
          <a:ln w="6350"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A9BCC"/>
          </a:solidFill>
          <a:ln w="6350">
            <a:solidFill>
              <a:srgbClr val="6A9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FAF9F5"/>
                </a:solidFill>
                <a:latin typeface="Poppins"/>
              </a:rPr>
              <a:t>aidigest · reads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71800" y="539496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B0AEA5"/>
          </a:solidFill>
          <a:ln w="6350">
            <a:solidFill>
              <a:srgbClr val="B0A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379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E8E6DC"/>
                </a:solidFill>
                <a:latin typeface="Lora"/>
              </a:rPr>
              <a:t>Curated by aidigest.club  /  Anthropic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37960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spc="200">
                <a:solidFill>
                  <a:srgbClr val="E8E6DC"/>
                </a:solidFill>
                <a:latin typeface="Poppins"/>
              </a:rPr>
              <a:t>05  / 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400">
                <a:solidFill>
                  <a:srgbClr val="FAF9F5"/>
                </a:solidFill>
                <a:latin typeface="Poppins"/>
              </a:rPr>
              <a:t>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097280"/>
            <a:ext cx="45720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8000" b="1" i="0">
                <a:solidFill>
                  <a:srgbClr val="FAF9F5"/>
                </a:solidFill>
                <a:latin typeface="Poppins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0" y="1188720"/>
            <a:ext cx="12700" cy="41148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49240" y="1188720"/>
            <a:ext cx="6355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FAF9F5"/>
                </a:solidFill>
                <a:latin typeface="Poppins"/>
              </a:rPr>
              <a:t>CORE VIEWS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1600200"/>
            <a:ext cx="63550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FAF9F5"/>
                </a:solidFill>
                <a:latin typeface="Poppins"/>
              </a:rPr>
              <a:t>Stanford HAI's central message.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49240" y="3931920"/>
            <a:ext cx="1371600" cy="254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49240" y="4069080"/>
            <a:ext cx="6355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AF9F5"/>
                </a:solidFill>
                <a:latin typeface="Poppins"/>
              </a:rPr>
              <a:t>IN THIS SECTION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4434840"/>
            <a:ext cx="63550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1" i="0">
                <a:solidFill>
                  <a:srgbClr val="FAF9F5"/>
                </a:solidFill>
                <a:latin typeface="Poppins"/>
              </a:rPr>
              <a:t>—  </a:t>
            </a:r>
            <a:r>
              <a:rPr sz="1400" b="0" i="1">
                <a:solidFill>
                  <a:srgbClr val="FAF9F5"/>
                </a:solidFill>
                <a:latin typeface="Lora"/>
              </a:rPr>
              <a:t>AI is scaling — the systems around it are not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1" i="0">
                <a:solidFill>
                  <a:srgbClr val="FAF9F5"/>
                </a:solidFill>
                <a:latin typeface="Poppins"/>
              </a:rPr>
              <a:t>—  </a:t>
            </a:r>
            <a:r>
              <a:rPr sz="1400" b="0" i="1">
                <a:solidFill>
                  <a:srgbClr val="FAF9F5"/>
                </a:solidFill>
                <a:latin typeface="Lora"/>
              </a:rPr>
              <a:t>Model choice is no longer the decisive variable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1" i="0">
                <a:solidFill>
                  <a:srgbClr val="FAF9F5"/>
                </a:solidFill>
                <a:latin typeface="Poppins"/>
              </a:rPr>
              <a:t>—  </a:t>
            </a:r>
            <a:r>
              <a:rPr sz="1400" b="0" i="1">
                <a:solidFill>
                  <a:srgbClr val="FAF9F5"/>
                </a:solidFill>
                <a:latin typeface="Lora"/>
              </a:rPr>
              <a:t>Capability is jagged — superhuman in some tasks, sub-human in others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141413"/>
                </a:solidFill>
                <a:latin typeface="Poppins"/>
              </a:rPr>
              <a:t>aidigest · reads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71800" y="539496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6A9BCC"/>
                </a:solidFill>
                <a:latin typeface="Poppins"/>
              </a:rPr>
              <a:t>ACT 02 · THESIS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E8E6DC"/>
          </a:solidFill>
          <a:ln w="6350"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379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B0AEA5"/>
                </a:solidFill>
                <a:latin typeface="Lora"/>
              </a:rPr>
              <a:t>Curated by aidigest.club  /  Anthropic 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37960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spc="200">
                <a:solidFill>
                  <a:srgbClr val="B0AEA5"/>
                </a:solidFill>
                <a:latin typeface="Poppins"/>
              </a:rPr>
              <a:t>06  / 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10911535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41413"/>
                </a:solidFill>
                <a:latin typeface="Poppins"/>
              </a:rPr>
              <a:t>AI is scaling. The systems</a:t>
            </a:r>
          </a:p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41413"/>
                </a:solidFill>
                <a:latin typeface="Poppins"/>
              </a:rPr>
              <a:t>around it are not.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B0AEA5"/>
                </a:solidFill>
                <a:latin typeface="Lora"/>
              </a:rPr>
              <a:t>Capability and adoption are running ahead of governance, evaluation, education, and workforce policy.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37560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 i="0">
                <a:solidFill>
                  <a:srgbClr val="6A9BCC"/>
                </a:solidFill>
                <a:latin typeface="Poppins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520440"/>
            <a:ext cx="49834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50" b="0" i="1">
                <a:solidFill>
                  <a:srgbClr val="141413"/>
                </a:solidFill>
                <a:latin typeface="Lora"/>
              </a:rPr>
              <a:t>The data does not point in a single direction. It reveals a field that is scaling faster than the systems around it can adapt.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212080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200">
                <a:solidFill>
                  <a:srgbClr val="6A9BCC"/>
                </a:solidFill>
                <a:latin typeface="Poppins"/>
              </a:rPr>
              <a:t>—  Stanford HAI · AI Index 2026 · Overview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9632" y="3337560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 i="0">
                <a:solidFill>
                  <a:srgbClr val="D97757"/>
                </a:solidFill>
                <a:latin typeface="Poppins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3520440"/>
            <a:ext cx="49834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00" b="0" i="1">
                <a:solidFill>
                  <a:srgbClr val="141413"/>
                </a:solidFill>
                <a:latin typeface="Lora"/>
              </a:rPr>
              <a:t>AI capability is not plateauing. It is accelerating and reaching more people than ever.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5392" y="5212080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200">
                <a:solidFill>
                  <a:srgbClr val="D97757"/>
                </a:solidFill>
                <a:latin typeface="Poppins"/>
              </a:rPr>
              <a:t>—  AI Index 2026 · Technical Performance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760720"/>
            <a:ext cx="10911535" cy="19050"/>
          </a:xfrm>
          <a:prstGeom prst="rect">
            <a:avLst/>
          </a:prstGeom>
          <a:solidFill>
            <a:srgbClr val="141413"/>
          </a:solidFill>
          <a:ln w="6350">
            <a:solidFill>
              <a:srgbClr val="1414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85216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000" b="1" i="0" spc="400">
                <a:solidFill>
                  <a:srgbClr val="D97757"/>
                </a:solidFill>
                <a:latin typeface="Poppins"/>
              </a:rPr>
              <a:t>WHY THIS MATTERS  ·  </a:t>
            </a:r>
            <a:r>
              <a:rPr sz="1200" b="0" i="1">
                <a:solidFill>
                  <a:srgbClr val="141413"/>
                </a:solidFill>
                <a:latin typeface="Lora"/>
              </a:rPr>
              <a:t>The strategic question for enterprises and policy-makers has shifted from “can AI do this?” to “can our organisation, our regulations, and our workforce absorb this change fast enough?” The bottleneck is no longer the technology.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88C5D"/>
          </a:solidFill>
          <a:ln w="6350">
            <a:solidFill>
              <a:srgbClr val="788C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FAF9F5"/>
                </a:solidFill>
                <a:latin typeface="Poppins"/>
              </a:rPr>
              <a:t>aidigest · reads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71800" y="539496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B0AEA5"/>
          </a:solidFill>
          <a:ln w="6350">
            <a:solidFill>
              <a:srgbClr val="B0A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379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E8E6DC"/>
                </a:solidFill>
                <a:latin typeface="Lora"/>
              </a:rPr>
              <a:t>Curated by aidigest.club  /  Anthropic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37960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spc="200">
                <a:solidFill>
                  <a:srgbClr val="E8E6DC"/>
                </a:solidFill>
                <a:latin typeface="Poppins"/>
              </a:rPr>
              <a:t>07  / 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400">
                <a:solidFill>
                  <a:srgbClr val="FAF9F5"/>
                </a:solidFill>
                <a:latin typeface="Poppins"/>
              </a:rPr>
              <a:t>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097280"/>
            <a:ext cx="45720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8000" b="1" i="0">
                <a:solidFill>
                  <a:srgbClr val="FAF9F5"/>
                </a:solidFill>
                <a:latin typeface="Poppins"/>
              </a:rPr>
              <a:t>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0" y="1188720"/>
            <a:ext cx="12700" cy="41148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49240" y="1188720"/>
            <a:ext cx="6355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FAF9F5"/>
                </a:solidFill>
                <a:latin typeface="Poppins"/>
              </a:rPr>
              <a:t>THEMATIC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1600200"/>
            <a:ext cx="63550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FAF9F5"/>
                </a:solidFill>
                <a:latin typeface="Poppins"/>
              </a:rPr>
              <a:t>Two patterns the data</a:t>
            </a:r>
          </a:p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FAF9F5"/>
                </a:solidFill>
                <a:latin typeface="Poppins"/>
              </a:rPr>
              <a:t>makes unavoidable.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49240" y="3931920"/>
            <a:ext cx="1371600" cy="254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49240" y="4069080"/>
            <a:ext cx="6355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AF9F5"/>
                </a:solidFill>
                <a:latin typeface="Poppins"/>
              </a:rPr>
              <a:t>IN THIS SECTION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4434840"/>
            <a:ext cx="63550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1" i="0">
                <a:solidFill>
                  <a:srgbClr val="FAF9F5"/>
                </a:solidFill>
                <a:latin typeface="Poppins"/>
              </a:rPr>
              <a:t>—  </a:t>
            </a:r>
            <a:r>
              <a:rPr sz="1400" b="0" i="1">
                <a:solidFill>
                  <a:srgbClr val="FAF9F5"/>
                </a:solidFill>
                <a:latin typeface="Lora"/>
              </a:rPr>
              <a:t>U.S. vs China: leadership is now multi-axis, not single-line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1" i="0">
                <a:solidFill>
                  <a:srgbClr val="FAF9F5"/>
                </a:solidFill>
                <a:latin typeface="Poppins"/>
              </a:rPr>
              <a:t>—  </a:t>
            </a:r>
            <a:r>
              <a:rPr sz="1400" b="0" i="1">
                <a:solidFill>
                  <a:srgbClr val="FAF9F5"/>
                </a:solidFill>
                <a:latin typeface="Lora"/>
              </a:rPr>
              <a:t>Productivity gains and entry-level decline are appearing together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1" i="0">
                <a:solidFill>
                  <a:srgbClr val="FAF9F5"/>
                </a:solidFill>
                <a:latin typeface="Poppins"/>
              </a:rPr>
              <a:t>—  </a:t>
            </a:r>
            <a:r>
              <a:rPr sz="1400" b="0" i="1">
                <a:solidFill>
                  <a:srgbClr val="FAF9F5"/>
                </a:solidFill>
                <a:latin typeface="Lora"/>
              </a:rPr>
              <a:t>Capability is jagged — same model, brilliant and broken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141413"/>
                </a:solidFill>
                <a:latin typeface="Poppins"/>
              </a:rPr>
              <a:t>aidigest · reads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71800" y="539496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D97757"/>
                </a:solidFill>
                <a:latin typeface="Poppins"/>
              </a:rPr>
              <a:t>ACT 03 · THEME A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E8E6DC"/>
          </a:solidFill>
          <a:ln w="6350"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379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B0AEA5"/>
                </a:solidFill>
                <a:latin typeface="Lora"/>
              </a:rPr>
              <a:t>Curated by aidigest.club  /  Anthropic 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37960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spc="200">
                <a:solidFill>
                  <a:srgbClr val="B0AEA5"/>
                </a:solidFill>
                <a:latin typeface="Poppins"/>
              </a:rPr>
              <a:t>08  / 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10911535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41413"/>
                </a:solidFill>
                <a:latin typeface="Poppins"/>
              </a:rPr>
              <a:t>U.S. and China — leadership</a:t>
            </a:r>
          </a:p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41413"/>
                </a:solidFill>
                <a:latin typeface="Poppins"/>
              </a:rPr>
              <a:t>is now multi-axis.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B0AEA5"/>
                </a:solidFill>
                <a:latin typeface="Lora"/>
              </a:rPr>
              <a:t>The single-line “who is ahead” narrative no longer fits the data. Each country leads on different dimensions.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566160"/>
            <a:ext cx="25400" cy="233172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56616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D97757"/>
                </a:solidFill>
                <a:latin typeface="Poppins"/>
              </a:rPr>
              <a:t>U.S. LEADS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858768"/>
            <a:ext cx="5166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41413"/>
                </a:solidFill>
                <a:latin typeface="Poppins"/>
              </a:rPr>
              <a:t>Flagship &amp; capital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526280"/>
            <a:ext cx="5166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41413"/>
                </a:solidFill>
                <a:latin typeface="Poppins"/>
              </a:rPr>
              <a:t>Top-tier models, investment, datacenters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983480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1" i="0">
                <a:solidFill>
                  <a:srgbClr val="D97757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141413"/>
                </a:solidFill>
                <a:latin typeface="Lora"/>
              </a:rPr>
              <a:t>Top-tier model count and high-impact patents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1" i="0">
                <a:solidFill>
                  <a:srgbClr val="D97757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141413"/>
                </a:solidFill>
                <a:latin typeface="Lora"/>
              </a:rPr>
              <a:t>$285.9B private AI investment in 2025 (vs $12.4B in China)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1" i="0">
                <a:solidFill>
                  <a:srgbClr val="D97757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141413"/>
                </a:solidFill>
                <a:latin typeface="Lora"/>
              </a:rPr>
              <a:t>5,427 datacenters — 10× any other country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1" i="0">
                <a:solidFill>
                  <a:srgbClr val="D97757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141413"/>
                </a:solidFill>
                <a:latin typeface="Lora"/>
              </a:rPr>
              <a:t>1,953 new AI companies founded — 10× the runner-up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9632" y="3566160"/>
            <a:ext cx="25400" cy="2331720"/>
          </a:xfrm>
          <a:prstGeom prst="rect">
            <a:avLst/>
          </a:prstGeom>
          <a:solidFill>
            <a:srgbClr val="6A9BCC"/>
          </a:solidFill>
          <a:ln w="6350">
            <a:solidFill>
              <a:srgbClr val="6A9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356616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6A9BCC"/>
                </a:solidFill>
                <a:latin typeface="Poppins"/>
              </a:rPr>
              <a:t>CHINA LEADS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3858768"/>
            <a:ext cx="5166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41413"/>
                </a:solidFill>
                <a:latin typeface="Poppins"/>
              </a:rPr>
              <a:t>Research &amp; robotics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4526280"/>
            <a:ext cx="5166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41413"/>
                </a:solidFill>
                <a:latin typeface="Poppins"/>
              </a:rPr>
              <a:t>Papers, patents, industrial robots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4983480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1" i="0">
                <a:solidFill>
                  <a:srgbClr val="6A9BCC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141413"/>
                </a:solidFill>
                <a:latin typeface="Lora"/>
              </a:rPr>
              <a:t>Leads in paper count, citations, AI patents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1" i="0">
                <a:solidFill>
                  <a:srgbClr val="6A9BCC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141413"/>
                </a:solidFill>
                <a:latin typeface="Lora"/>
              </a:rPr>
              <a:t>Leads in industrial-robot installations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1" i="0">
                <a:solidFill>
                  <a:srgbClr val="6A9BCC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141413"/>
                </a:solidFill>
                <a:latin typeface="Lora"/>
              </a:rPr>
              <a:t>DeepSeek-R1 briefly matched the U.S. frontier (Feb 2025)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1" i="0">
                <a:solidFill>
                  <a:srgbClr val="6A9BCC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141413"/>
                </a:solidFill>
                <a:latin typeface="Lora"/>
              </a:rPr>
              <a:t>23× investment gap is misleading — government funds excluded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989320"/>
            <a:ext cx="10911535" cy="15240"/>
          </a:xfrm>
          <a:prstGeom prst="rect">
            <a:avLst/>
          </a:prstGeom>
          <a:solidFill>
            <a:srgbClr val="141413"/>
          </a:solidFill>
          <a:ln w="6350">
            <a:solidFill>
              <a:srgbClr val="1414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080760"/>
            <a:ext cx="1091153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1">
                <a:solidFill>
                  <a:srgbClr val="141413"/>
                </a:solidFill>
                <a:latin typeface="Lora"/>
              </a:rPr>
              <a:t>Korea leads on per-capita AI patents. The interesting strategic frontier is no longer “U.S. vs China” — it is which country gets the deployment, governance, and workforce stack right first.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141413"/>
                </a:solidFill>
                <a:latin typeface="Poppins"/>
              </a:rPr>
              <a:t>aidigest · reads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71800" y="539496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D97757"/>
                </a:solidFill>
                <a:latin typeface="Poppins"/>
              </a:rPr>
              <a:t>ACT 03 · THEME B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E8E6DC"/>
          </a:solidFill>
          <a:ln w="6350"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379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B0AEA5"/>
                </a:solidFill>
                <a:latin typeface="Lora"/>
              </a:rPr>
              <a:t>Curated by aidigest.club  /  Anthropic 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37960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spc="200">
                <a:solidFill>
                  <a:srgbClr val="B0AEA5"/>
                </a:solidFill>
                <a:latin typeface="Poppins"/>
              </a:rPr>
              <a:t>09  / 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10911535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41413"/>
                </a:solidFill>
                <a:latin typeface="Poppins"/>
              </a:rPr>
              <a:t>Productivity gains and</a:t>
            </a:r>
          </a:p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41413"/>
                </a:solidFill>
                <a:latin typeface="Poppins"/>
              </a:rPr>
              <a:t>entry-level decline — together.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B0AEA5"/>
                </a:solidFill>
                <a:latin typeface="Lora"/>
              </a:rPr>
              <a:t>AI is delivering measurable productivity gains. It is also hitting the bottom rungs of the career ladder first.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566160"/>
            <a:ext cx="25400" cy="2331720"/>
          </a:xfrm>
          <a:prstGeom prst="rect">
            <a:avLst/>
          </a:prstGeom>
          <a:solidFill>
            <a:srgbClr val="788C5D"/>
          </a:solidFill>
          <a:ln w="6350">
            <a:solidFill>
              <a:srgbClr val="788C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56616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788C5D"/>
                </a:solidFill>
                <a:latin typeface="Poppins"/>
              </a:rPr>
              <a:t>PRODUCTIVITY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858768"/>
            <a:ext cx="5166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41413"/>
                </a:solidFill>
                <a:latin typeface="Poppins"/>
              </a:rPr>
              <a:t>Real and measurable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526280"/>
            <a:ext cx="5166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41413"/>
                </a:solidFill>
                <a:latin typeface="Poppins"/>
              </a:rPr>
              <a:t>Customer service &amp; software gains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983480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1" i="0">
                <a:solidFill>
                  <a:srgbClr val="788C5D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141413"/>
                </a:solidFill>
                <a:latin typeface="Lora"/>
              </a:rPr>
              <a:t>Customer service productivity up 14–26%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1" i="0">
                <a:solidFill>
                  <a:srgbClr val="788C5D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141413"/>
                </a:solidFill>
                <a:latin typeface="Lora"/>
              </a:rPr>
              <a:t>Software development productivity up 14–26%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1" i="0">
                <a:solidFill>
                  <a:srgbClr val="788C5D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141413"/>
                </a:solidFill>
                <a:latin typeface="Lora"/>
              </a:rPr>
              <a:t>Enterprise agent deployment still in the single digits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1" i="0">
                <a:solidFill>
                  <a:srgbClr val="788C5D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141413"/>
                </a:solidFill>
                <a:latin typeface="Lora"/>
              </a:rPr>
              <a:t>Adoption rate is fast — ROI capture remains uneven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9632" y="3566160"/>
            <a:ext cx="25400" cy="233172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356616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D97757"/>
                </a:solidFill>
                <a:latin typeface="Poppins"/>
              </a:rPr>
              <a:t>DISPLACEMENT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3858768"/>
            <a:ext cx="5166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41413"/>
                </a:solidFill>
                <a:latin typeface="Poppins"/>
              </a:rPr>
              <a:t>Entry-level squeeze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4526280"/>
            <a:ext cx="5166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41413"/>
                </a:solidFill>
                <a:latin typeface="Poppins"/>
              </a:rPr>
              <a:t>Junior developer roles already declining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4983480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1" i="0">
                <a:solidFill>
                  <a:srgbClr val="D97757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141413"/>
                </a:solidFill>
                <a:latin typeface="Lora"/>
              </a:rPr>
              <a:t>U.S. developers age 22–25: −20% employment since 2024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1" i="0">
                <a:solidFill>
                  <a:srgbClr val="D97757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141413"/>
                </a:solidFill>
                <a:latin typeface="Lora"/>
              </a:rPr>
              <a:t>Senior developer headcount still growing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1" i="0">
                <a:solidFill>
                  <a:srgbClr val="D97757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141413"/>
                </a:solidFill>
                <a:latin typeface="Lora"/>
              </a:rPr>
              <a:t>AI is eating the junior tasks first — not the senior ones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1" i="0">
                <a:solidFill>
                  <a:srgbClr val="D97757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141413"/>
                </a:solidFill>
                <a:latin typeface="Lora"/>
              </a:rPr>
              <a:t>Anthropic 81k &amp; OECD report the same pattern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989320"/>
            <a:ext cx="10911535" cy="15240"/>
          </a:xfrm>
          <a:prstGeom prst="rect">
            <a:avLst/>
          </a:prstGeom>
          <a:solidFill>
            <a:srgbClr val="141413"/>
          </a:solidFill>
          <a:ln w="6350">
            <a:solidFill>
              <a:srgbClr val="1414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080760"/>
            <a:ext cx="1091153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1">
                <a:solidFill>
                  <a:srgbClr val="141413"/>
                </a:solidFill>
                <a:latin typeface="Lora"/>
              </a:rPr>
              <a:t>The combination is the real story. Enterprises capture the gain; the entry-level worker carries the cost. The 5-year risk is a missing middle — no senior pipeline if junior roles vanish.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FAF9F5"/>
                </a:solidFill>
                <a:latin typeface="Poppins"/>
              </a:rPr>
              <a:t>aidigest · reads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71800" y="539496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B0AEA5"/>
          </a:solidFill>
          <a:ln w="6350">
            <a:solidFill>
              <a:srgbClr val="B0A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379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E8E6DC"/>
                </a:solidFill>
                <a:latin typeface="Lora"/>
              </a:rPr>
              <a:t>Curated by aidigest.club  /  Anthropic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37960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spc="200">
                <a:solidFill>
                  <a:srgbClr val="E8E6DC"/>
                </a:solidFill>
                <a:latin typeface="Poppins"/>
              </a:rPr>
              <a:t>10  / 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400">
                <a:solidFill>
                  <a:srgbClr val="FAF9F5"/>
                </a:solidFill>
                <a:latin typeface="Poppins"/>
              </a:rPr>
              <a:t>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097280"/>
            <a:ext cx="45720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8000" b="1" i="0">
                <a:solidFill>
                  <a:srgbClr val="FAF9F5"/>
                </a:solidFill>
                <a:latin typeface="Poppins"/>
              </a:rPr>
              <a:t>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0" y="1188720"/>
            <a:ext cx="12700" cy="41148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49240" y="1188720"/>
            <a:ext cx="6355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FAF9F5"/>
                </a:solidFill>
                <a:latin typeface="Poppins"/>
              </a:rPr>
              <a:t>INSIGHTS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1600200"/>
            <a:ext cx="63550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FAF9F5"/>
                </a:solidFill>
                <a:latin typeface="Poppins"/>
              </a:rPr>
              <a:t>Two structural issues hiding</a:t>
            </a:r>
          </a:p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FAF9F5"/>
                </a:solidFill>
                <a:latin typeface="Poppins"/>
              </a:rPr>
              <a:t>behind the headline progress.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49240" y="3931920"/>
            <a:ext cx="1371600" cy="254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49240" y="4069080"/>
            <a:ext cx="6355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AF9F5"/>
                </a:solidFill>
                <a:latin typeface="Poppins"/>
              </a:rPr>
              <a:t>IN THIS SECTION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4434840"/>
            <a:ext cx="63550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1" i="0">
                <a:solidFill>
                  <a:srgbClr val="FAF9F5"/>
                </a:solidFill>
                <a:latin typeface="Poppins"/>
              </a:rPr>
              <a:t>—  </a:t>
            </a:r>
            <a:r>
              <a:rPr sz="1400" b="0" i="1">
                <a:solidFill>
                  <a:srgbClr val="FAF9F5"/>
                </a:solidFill>
                <a:latin typeface="Lora"/>
              </a:rPr>
              <a:t>Capability is jagged — superhuman and sub-human in the same model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1" i="0">
                <a:solidFill>
                  <a:srgbClr val="FAF9F5"/>
                </a:solidFill>
                <a:latin typeface="Poppins"/>
              </a:rPr>
              <a:t>—  </a:t>
            </a:r>
            <a:r>
              <a:rPr sz="1400" b="0" i="1">
                <a:solidFill>
                  <a:srgbClr val="FAF9F5"/>
                </a:solidFill>
                <a:latin typeface="Lora"/>
              </a:rPr>
              <a:t>Experts and the public live in different worlds — 50pt gap on jobs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1" i="0">
                <a:solidFill>
                  <a:srgbClr val="FAF9F5"/>
                </a:solidFill>
                <a:latin typeface="Poppins"/>
              </a:rPr>
              <a:t>—  </a:t>
            </a:r>
            <a:r>
              <a:rPr sz="1400" b="0" i="1">
                <a:solidFill>
                  <a:srgbClr val="FAF9F5"/>
                </a:solidFill>
                <a:latin typeface="Lora"/>
              </a:rPr>
              <a:t>Responsible AI is falling behind capability 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141413"/>
                </a:solidFill>
                <a:latin typeface="Poppins"/>
              </a:rPr>
              <a:t>aidigest · reads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71800" y="539496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D97757"/>
                </a:solidFill>
                <a:latin typeface="Poppins"/>
              </a:rPr>
              <a:t>ACT 04 · INSIGHTS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E8E6DC"/>
          </a:solidFill>
          <a:ln w="6350"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379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B0AEA5"/>
                </a:solidFill>
                <a:latin typeface="Lora"/>
              </a:rPr>
              <a:t>Curated by aidigest.club  /  Anthropic 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37960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spc="200">
                <a:solidFill>
                  <a:srgbClr val="B0AEA5"/>
                </a:solidFill>
                <a:latin typeface="Poppins"/>
              </a:rPr>
              <a:t>11  / 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10911535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41413"/>
                </a:solidFill>
                <a:latin typeface="Poppins"/>
              </a:rPr>
              <a:t>Brilliant and broken — in</a:t>
            </a:r>
          </a:p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41413"/>
                </a:solidFill>
                <a:latin typeface="Poppins"/>
              </a:rPr>
              <a:t>the same model.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B0AEA5"/>
                </a:solidFill>
                <a:latin typeface="Lora"/>
              </a:rPr>
              <a:t>The two patterns the index makes unavoidable: jagged capability, and a public-expert gap that will shape policy.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611880"/>
            <a:ext cx="1828800" cy="3810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721608"/>
            <a:ext cx="5349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D97757"/>
                </a:solidFill>
                <a:latin typeface="Poppins"/>
              </a:rPr>
              <a:t>INSIGHT 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023360"/>
            <a:ext cx="5349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1413"/>
                </a:solidFill>
                <a:latin typeface="Poppins"/>
              </a:rPr>
              <a:t>The Jagged Frontier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72000"/>
            <a:ext cx="5349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41413"/>
                </a:solidFill>
                <a:latin typeface="Lora"/>
              </a:rPr>
              <a:t>Capability is not a single ladder. The same flagship model wins gold at the International Mathematical Olympiad — and reads an analog clock correctly only 50% of the time.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367528"/>
            <a:ext cx="5349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D97757"/>
                </a:solidFill>
                <a:latin typeface="Poppins"/>
              </a:rPr>
              <a:t>CONCRETE 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605272"/>
            <a:ext cx="5349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B0AEA5"/>
                </a:solidFill>
                <a:latin typeface="Lora"/>
              </a:rPr>
              <a:t>Gemini Deep Think — IMO gold medal; analog clock reading 50.1%. AI agents on OSWorld jumped 12% → ~66%, but still fail one task in three.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5349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000" b="1" i="0">
                <a:solidFill>
                  <a:srgbClr val="D97757"/>
                </a:solidFill>
                <a:latin typeface="Poppins"/>
              </a:rPr>
              <a:t>Implication  ·  </a:t>
            </a:r>
            <a:r>
              <a:rPr sz="1100" b="0" i="1">
                <a:solidFill>
                  <a:srgbClr val="141413"/>
                </a:solidFill>
                <a:latin typeface="Lora"/>
              </a:rPr>
              <a:t>Product teams must build capability maps — atomic-task tests — not capability points. “It felt good in the demo” is the most common failure mode for enterprise AI agents.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11880"/>
            <a:ext cx="1828800" cy="38100"/>
          </a:xfrm>
          <a:prstGeom prst="rect">
            <a:avLst/>
          </a:prstGeom>
          <a:solidFill>
            <a:srgbClr val="6A9BCC"/>
          </a:solidFill>
          <a:ln w="6350">
            <a:solidFill>
              <a:srgbClr val="6A9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9632" y="3721608"/>
            <a:ext cx="5349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6A9BCC"/>
                </a:solidFill>
                <a:latin typeface="Poppins"/>
              </a:rPr>
              <a:t>INSIGHT 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9632" y="4023360"/>
            <a:ext cx="5349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1413"/>
                </a:solidFill>
                <a:latin typeface="Poppins"/>
              </a:rPr>
              <a:t>The 50-point perception gap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9632" y="4572000"/>
            <a:ext cx="5349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41413"/>
                </a:solidFill>
                <a:latin typeface="Lora"/>
              </a:rPr>
              <a:t>73% of AI experts expect a positive impact on jobs. Only 23% of the public agrees. A 50-point gap on the most consequential AI question — between the people building it and the people living with it.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9632" y="5367528"/>
            <a:ext cx="5349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6A9BCC"/>
                </a:solidFill>
                <a:latin typeface="Poppins"/>
              </a:rPr>
              <a:t>SURVEY SIGNAL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99632" y="5605272"/>
            <a:ext cx="5349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B0AEA5"/>
                </a:solidFill>
                <a:latin typeface="Lora"/>
              </a:rPr>
              <a:t>AI incidents recorded jumped from 233 (2024) to 362 (2025). Responsible-AI benchmarks remain sparse — most frontier labs report capability metrics only.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9632" y="5897880"/>
            <a:ext cx="5349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000" b="1" i="0">
                <a:solidFill>
                  <a:srgbClr val="6A9BCC"/>
                </a:solidFill>
                <a:latin typeface="Poppins"/>
              </a:rPr>
              <a:t>Implication  ·  </a:t>
            </a:r>
            <a:r>
              <a:rPr sz="1100" b="0" i="1">
                <a:solidFill>
                  <a:srgbClr val="141413"/>
                </a:solidFill>
                <a:latin typeface="Lora"/>
              </a:rPr>
              <a:t>Public trust is now the rate-limiting step on adoption. Enterprises that treat workforce anxiety as a comms problem will under-deploy. Treat it as design input.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A9BCC"/>
          </a:solidFill>
          <a:ln w="6350">
            <a:solidFill>
              <a:srgbClr val="6A9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FAF9F5"/>
                </a:solidFill>
                <a:latin typeface="Poppins"/>
              </a:rPr>
              <a:t>aidigest · reads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71800" y="539496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B0AEA5"/>
          </a:solidFill>
          <a:ln w="6350">
            <a:solidFill>
              <a:srgbClr val="B0A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379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E8E6DC"/>
                </a:solidFill>
                <a:latin typeface="Lora"/>
              </a:rPr>
              <a:t>Curated by aidigest.club  /  Anthropic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37960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spc="200">
                <a:solidFill>
                  <a:srgbClr val="E8E6DC"/>
                </a:solidFill>
                <a:latin typeface="Poppins"/>
              </a:rPr>
              <a:t>12  / 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400">
                <a:solidFill>
                  <a:srgbClr val="FAF9F5"/>
                </a:solidFill>
                <a:latin typeface="Poppins"/>
              </a:rPr>
              <a:t>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097280"/>
            <a:ext cx="45720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8000" b="1" i="0">
                <a:solidFill>
                  <a:srgbClr val="FAF9F5"/>
                </a:solidFill>
                <a:latin typeface="Poppins"/>
              </a:rPr>
              <a:t>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0" y="1188720"/>
            <a:ext cx="12700" cy="41148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49240" y="1188720"/>
            <a:ext cx="6355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FAF9F5"/>
                </a:solidFill>
                <a:latin typeface="Poppins"/>
              </a:rPr>
              <a:t>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1600200"/>
            <a:ext cx="63550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FAF9F5"/>
                </a:solidFill>
                <a:latin typeface="Poppins"/>
              </a:rPr>
              <a:t>Five concrete moves</a:t>
            </a:r>
          </a:p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FAF9F5"/>
                </a:solidFill>
                <a:latin typeface="Poppins"/>
              </a:rPr>
              <a:t>for enterprise leaders.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49240" y="3931920"/>
            <a:ext cx="1371600" cy="254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49240" y="4069080"/>
            <a:ext cx="6355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AF9F5"/>
                </a:solidFill>
                <a:latin typeface="Poppins"/>
              </a:rPr>
              <a:t>IN THIS SECTION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4434840"/>
            <a:ext cx="63550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1" i="0">
                <a:solidFill>
                  <a:srgbClr val="FAF9F5"/>
                </a:solidFill>
                <a:latin typeface="Poppins"/>
              </a:rPr>
              <a:t>—  </a:t>
            </a:r>
            <a:r>
              <a:rPr sz="1400" b="0" i="1">
                <a:solidFill>
                  <a:srgbClr val="FAF9F5"/>
                </a:solidFill>
                <a:latin typeface="Lora"/>
              </a:rPr>
              <a:t>Treat model choice as commodity — invest in deployment instead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1" i="0">
                <a:solidFill>
                  <a:srgbClr val="FAF9F5"/>
                </a:solidFill>
                <a:latin typeface="Poppins"/>
              </a:rPr>
              <a:t>—  </a:t>
            </a:r>
            <a:r>
              <a:rPr sz="1400" b="0" i="1">
                <a:solidFill>
                  <a:srgbClr val="FAF9F5"/>
                </a:solidFill>
                <a:latin typeface="Lora"/>
              </a:rPr>
              <a:t>Build capability maps, not capability demos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1" i="0">
                <a:solidFill>
                  <a:srgbClr val="FAF9F5"/>
                </a:solidFill>
                <a:latin typeface="Poppins"/>
              </a:rPr>
              <a:t>—  </a:t>
            </a:r>
            <a:r>
              <a:rPr sz="1400" b="0" i="1">
                <a:solidFill>
                  <a:srgbClr val="FAF9F5"/>
                </a:solidFill>
                <a:latin typeface="Lora"/>
              </a:rPr>
              <a:t>Protect the junior pipeline before it collapses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141413"/>
                </a:solidFill>
                <a:latin typeface="Poppins"/>
              </a:rPr>
              <a:t>aidigest · reads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71800" y="539496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D97757"/>
                </a:solidFill>
                <a:latin typeface="Poppins"/>
              </a:rPr>
              <a:t>ACT 05 · PLAYBOOK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E8E6DC"/>
          </a:solidFill>
          <a:ln w="6350"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379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B0AEA5"/>
                </a:solidFill>
                <a:latin typeface="Lora"/>
              </a:rPr>
              <a:t>Curated by aidigest.club  /  Anthropic 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37960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spc="200">
                <a:solidFill>
                  <a:srgbClr val="B0AEA5"/>
                </a:solidFill>
                <a:latin typeface="Poppins"/>
              </a:rPr>
              <a:t>13  / 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10911535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41413"/>
                </a:solidFill>
                <a:latin typeface="Poppins"/>
              </a:rPr>
              <a:t>Five moves for enterprise leaders.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B0AEA5"/>
                </a:solidFill>
                <a:latin typeface="Lora"/>
              </a:rPr>
              <a:t>Reorganise around deployment, governance, and workforce — not model selection.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20440"/>
            <a:ext cx="7772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D97757"/>
                </a:solidFill>
                <a:latin typeface="Poppins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17320" y="3611880"/>
            <a:ext cx="19050" cy="36576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91640" y="352044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41413"/>
                </a:solidFill>
                <a:latin typeface="Poppins"/>
              </a:rPr>
              <a:t>Commoditise model choice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3520440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141413"/>
                </a:solidFill>
                <a:latin typeface="Lora"/>
              </a:rPr>
              <a:t>Stop spending strategy cycles on which frontier model to license. A 2.7% gap is not a moat — deployment, data, and change management are.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352044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D97757"/>
                </a:solidFill>
                <a:latin typeface="Lora"/>
              </a:rPr>
              <a:t>Frees senior bandwidth for variables that actually move the ROI needle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061460"/>
            <a:ext cx="10911535" cy="6350"/>
          </a:xfrm>
          <a:prstGeom prst="rect">
            <a:avLst/>
          </a:prstGeom>
          <a:solidFill>
            <a:srgbClr val="E8E6DC"/>
          </a:solidFill>
          <a:ln w="6350"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069080"/>
            <a:ext cx="7772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6A9BCC"/>
                </a:solidFill>
                <a:latin typeface="Poppins"/>
              </a:rPr>
              <a:t>02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17320" y="4160520"/>
            <a:ext cx="19050" cy="365760"/>
          </a:xfrm>
          <a:prstGeom prst="rect">
            <a:avLst/>
          </a:prstGeom>
          <a:solidFill>
            <a:srgbClr val="6A9BCC"/>
          </a:solidFill>
          <a:ln w="6350">
            <a:solidFill>
              <a:srgbClr val="6A9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91640" y="40690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41413"/>
                </a:solidFill>
                <a:latin typeface="Poppins"/>
              </a:rPr>
              <a:t>Map capabilities atomically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4069080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141413"/>
                </a:solidFill>
                <a:latin typeface="Lora"/>
              </a:rPr>
              <a:t>For each AI use case, decompose the workflow into atomic tasks. Test each against your evals before promising the outcome to the business.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406908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6A9BCC"/>
                </a:solidFill>
                <a:latin typeface="Lora"/>
              </a:rPr>
              <a:t>Counters the Jagged Frontier risk · prevents capability-point illusions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610100"/>
            <a:ext cx="10911535" cy="6350"/>
          </a:xfrm>
          <a:prstGeom prst="rect">
            <a:avLst/>
          </a:prstGeom>
          <a:solidFill>
            <a:srgbClr val="E8E6DC"/>
          </a:solidFill>
          <a:ln w="6350"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617720"/>
            <a:ext cx="7772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788C5D"/>
                </a:solidFill>
                <a:latin typeface="Poppins"/>
              </a:rPr>
              <a:t>03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17320" y="4709160"/>
            <a:ext cx="19050" cy="365760"/>
          </a:xfrm>
          <a:prstGeom prst="rect">
            <a:avLst/>
          </a:prstGeom>
          <a:solidFill>
            <a:srgbClr val="788C5D"/>
          </a:solidFill>
          <a:ln w="6350">
            <a:solidFill>
              <a:srgbClr val="788C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91640" y="461772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41413"/>
                </a:solidFill>
                <a:latin typeface="Poppins"/>
              </a:rPr>
              <a:t>Protect the junior ladder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74920" y="4617720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141413"/>
                </a:solidFill>
                <a:latin typeface="Lora"/>
              </a:rPr>
              <a:t>Build AI-augmented apprenticeship paths. Use AI as a tutor for the junior role — not as a substitute for it. Track entry-level headcount as a KPI.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461772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788C5D"/>
                </a:solidFill>
                <a:latin typeface="Lora"/>
              </a:rPr>
              <a:t>Prevents the 5-year missing-middle risk · keeps your senior pipeline alive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5158740"/>
            <a:ext cx="10911535" cy="6350"/>
          </a:xfrm>
          <a:prstGeom prst="rect">
            <a:avLst/>
          </a:prstGeom>
          <a:solidFill>
            <a:srgbClr val="E8E6DC"/>
          </a:solidFill>
          <a:ln w="6350"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166360"/>
            <a:ext cx="7772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D97757"/>
                </a:solidFill>
                <a:latin typeface="Poppins"/>
              </a:rPr>
              <a:t>04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417320" y="5257800"/>
            <a:ext cx="19050" cy="36576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91640" y="516636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41413"/>
                </a:solidFill>
                <a:latin typeface="Poppins"/>
              </a:rPr>
              <a:t>Operationalise responsible AI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74920" y="5166360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141413"/>
                </a:solidFill>
                <a:latin typeface="Lora"/>
              </a:rPr>
              <a:t>Adopt a responsible-AI eval stack with the same rigor as capability evals. Track AI-incident rate as an internal KPI alongside latency and accuracy.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9720" y="516636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D97757"/>
                </a:solidFill>
                <a:latin typeface="Lora"/>
              </a:rPr>
              <a:t>Closes the perception gap with regulators and the workforce · reduces incident exposure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5707380"/>
            <a:ext cx="10911535" cy="6350"/>
          </a:xfrm>
          <a:prstGeom prst="rect">
            <a:avLst/>
          </a:prstGeom>
          <a:solidFill>
            <a:srgbClr val="E8E6DC"/>
          </a:solidFill>
          <a:ln w="6350"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715000"/>
            <a:ext cx="7772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6A9BCC"/>
                </a:solidFill>
                <a:latin typeface="Poppins"/>
              </a:rPr>
              <a:t>05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417320" y="5806440"/>
            <a:ext cx="19050" cy="365760"/>
          </a:xfrm>
          <a:prstGeom prst="rect">
            <a:avLst/>
          </a:prstGeom>
          <a:solidFill>
            <a:srgbClr val="6A9BCC"/>
          </a:solidFill>
          <a:ln w="6350">
            <a:solidFill>
              <a:srgbClr val="6A9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91640" y="571500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41413"/>
                </a:solidFill>
                <a:latin typeface="Poppins"/>
              </a:rPr>
              <a:t>Close the perception gap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74920" y="5715000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141413"/>
                </a:solidFill>
                <a:latin typeface="Lora"/>
              </a:rPr>
              <a:t>Run workforce-sentiment listening tied to actual exposure data. Communicate AI plans with the 50-point gap in mind — not the expert view.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89720" y="571500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6A9BCC"/>
                </a:solidFill>
                <a:latin typeface="Lora"/>
              </a:rPr>
              <a:t>Treats trust as deployment infrastructure · turns anxiety into participation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6256020"/>
            <a:ext cx="10911535" cy="6350"/>
          </a:xfrm>
          <a:prstGeom prst="rect">
            <a:avLst/>
          </a:prstGeom>
          <a:solidFill>
            <a:srgbClr val="E8E6DC"/>
          </a:solidFill>
          <a:ln w="6350"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141413"/>
                </a:solidFill>
                <a:latin typeface="Poppins"/>
              </a:rPr>
              <a:t>aidigest · reads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71800" y="539496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D97757"/>
                </a:solidFill>
                <a:latin typeface="Poppins"/>
              </a:rPr>
              <a:t>SYNTHESIS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E8E6DC"/>
          </a:solidFill>
          <a:ln w="6350"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379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B0AEA5"/>
                </a:solidFill>
                <a:latin typeface="Lora"/>
              </a:rPr>
              <a:t>Curated by aidigest.club  /  Anthropic 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37960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spc="200">
                <a:solidFill>
                  <a:srgbClr val="B0AEA5"/>
                </a:solidFill>
                <a:latin typeface="Poppins"/>
              </a:rPr>
              <a:t>14  / 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10911535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41413"/>
                </a:solidFill>
                <a:latin typeface="Poppins"/>
              </a:rPr>
              <a:t>AI is scaling faster than</a:t>
            </a:r>
          </a:p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41413"/>
                </a:solidFill>
                <a:latin typeface="Poppins"/>
              </a:rPr>
              <a:t>the systems around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B0AEA5"/>
                </a:solidFill>
                <a:latin typeface="Lora"/>
              </a:rPr>
              <a:t>The 2026 Index reframes the strategic question for the next five years.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520440"/>
            <a:ext cx="2286000" cy="3810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703320"/>
            <a:ext cx="345429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D97757"/>
                </a:solidFill>
                <a:latin typeface="Poppin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389120"/>
            <a:ext cx="34542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41413"/>
                </a:solidFill>
                <a:latin typeface="Poppins"/>
              </a:rPr>
              <a:t>What changed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937760"/>
            <a:ext cx="3454298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00" b="0" i="0">
                <a:solidFill>
                  <a:srgbClr val="141413"/>
                </a:solidFill>
                <a:latin typeface="Lora"/>
              </a:rPr>
              <a:t>Capability did not plateau. The U.S.-China gap closed. Adoption outpaced the PC and the internet. Model choice is no longer the decisive strategic variable.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68698" y="3520440"/>
            <a:ext cx="2286000" cy="38100"/>
          </a:xfrm>
          <a:prstGeom prst="rect">
            <a:avLst/>
          </a:prstGeom>
          <a:solidFill>
            <a:srgbClr val="6A9BCC"/>
          </a:solidFill>
          <a:ln w="6350">
            <a:solidFill>
              <a:srgbClr val="6A9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68698" y="3703320"/>
            <a:ext cx="345429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6A9BCC"/>
                </a:solidFill>
                <a:latin typeface="Poppin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8698" y="4389120"/>
            <a:ext cx="34542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41413"/>
                </a:solidFill>
                <a:latin typeface="Poppins"/>
              </a:rPr>
              <a:t>What it means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8698" y="4937760"/>
            <a:ext cx="3454298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00" b="0" i="0">
                <a:solidFill>
                  <a:srgbClr val="141413"/>
                </a:solidFill>
                <a:latin typeface="Lora"/>
              </a:rPr>
              <a:t>The bottleneck moved from the model to the systems around it: deployment, evaluation, education, workforce, governance. That is where the next 5 years of value will be captured — or lost.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97316" y="3520440"/>
            <a:ext cx="2286000" cy="38100"/>
          </a:xfrm>
          <a:prstGeom prst="rect">
            <a:avLst/>
          </a:prstGeom>
          <a:solidFill>
            <a:srgbClr val="788C5D"/>
          </a:solidFill>
          <a:ln w="6350">
            <a:solidFill>
              <a:srgbClr val="788C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7316" y="3703320"/>
            <a:ext cx="345429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788C5D"/>
                </a:solidFill>
                <a:latin typeface="Poppin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7316" y="4389120"/>
            <a:ext cx="34542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41413"/>
                </a:solidFill>
                <a:latin typeface="Poppins"/>
              </a:rPr>
              <a:t>What to watch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7316" y="4937760"/>
            <a:ext cx="3454298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00" b="0" i="0">
                <a:solidFill>
                  <a:srgbClr val="141413"/>
                </a:solidFill>
                <a:latin typeface="Lora"/>
              </a:rPr>
              <a:t>Jagged capability and the entry-level squeeze. The public-expert perception gap. Government-fund AI investment that does not show up in private-capital data. The talent reshuffle out of the U.S.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6080760"/>
            <a:ext cx="10911535" cy="15240"/>
          </a:xfrm>
          <a:prstGeom prst="rect">
            <a:avLst/>
          </a:prstGeom>
          <a:solidFill>
            <a:srgbClr val="141413"/>
          </a:solidFill>
          <a:ln w="6350">
            <a:solidFill>
              <a:srgbClr val="1414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617220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1">
                <a:solidFill>
                  <a:srgbClr val="141413"/>
                </a:solidFill>
                <a:latin typeface="Lora"/>
              </a:rPr>
              <a:t>The opportunity is not to pick the right model — it is to build the deployment, governance, and workforce stack that lets the model land.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3"/>
          </a:solidFill>
          <a:ln w="6350">
            <a:solidFill>
              <a:srgbClr val="1414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FAF9F5"/>
                </a:solidFill>
                <a:latin typeface="Poppins"/>
              </a:rPr>
              <a:t>aidigest · reads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71800" y="539496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B0AEA5"/>
          </a:solidFill>
          <a:ln w="6350">
            <a:solidFill>
              <a:srgbClr val="B0A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379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E8E6DC"/>
                </a:solidFill>
                <a:latin typeface="Lora"/>
              </a:rPr>
              <a:t>Curated by aidigest.club  /  Anthropic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37960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spc="200">
                <a:solidFill>
                  <a:srgbClr val="E8E6DC"/>
                </a:solidFill>
                <a:latin typeface="Poppins"/>
              </a:rPr>
              <a:t>15  / 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D97757"/>
                </a:solidFill>
                <a:latin typeface="Poppins"/>
              </a:rPr>
              <a:t>READ THE FULL 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 i="0">
                <a:solidFill>
                  <a:srgbClr val="FAF9F5"/>
                </a:solidFill>
                <a:latin typeface="Poppins"/>
              </a:rPr>
              <a:t>Thank you.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46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B0AEA5"/>
                </a:solidFill>
                <a:latin typeface="Lora"/>
              </a:rPr>
              <a:t>Curated executive briefs · aidigest.club / reads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434840"/>
            <a:ext cx="2286000" cy="2540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5720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D97757"/>
                </a:solidFill>
                <a:latin typeface="Poppins"/>
              </a:rPr>
              <a:t>READ THE FULL REPORT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937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AF9F5"/>
                </a:solidFill>
                <a:latin typeface="Poppins"/>
              </a:rPr>
              <a:t>Stanford HAI · AI Index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3949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B0AEA5"/>
                </a:solidFill>
                <a:latin typeface="Lora"/>
              </a:rPr>
              <a:t>https://hai.stanford.edu/assets/files/ai_index_report_2026.pdf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943600"/>
            <a:ext cx="1091153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1">
                <a:solidFill>
                  <a:srgbClr val="B0AEA5"/>
                </a:solidFill>
                <a:latin typeface="Lora"/>
              </a:rPr>
              <a:t>Gil, Y., Perrault, R. et al. (2026). The 2026 AI Index Report. Stanford Institute for Human-Centered AI · 9th annual edition.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