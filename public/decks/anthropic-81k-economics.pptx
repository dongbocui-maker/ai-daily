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accenture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2240280" y="676656"/>
            <a:ext cx="146304" cy="146304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500">
                <a:solidFill>
                  <a:srgbClr val="A100FF"/>
                </a:solidFill>
                <a:latin typeface="Calibri"/>
              </a:rPr>
              <a:t>AI DAILY READS · EXECUTIVE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8892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1A1A2E"/>
                </a:solidFill>
                <a:latin typeface="Calibri"/>
              </a:rPr>
              <a:t>Economics of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1">
                <a:solidFill>
                  <a:srgbClr val="4A4A5E"/>
                </a:solidFill>
                <a:latin typeface="Calibri"/>
              </a:rPr>
              <a:t>What 81,000 Claude users told Anthropic about productivity, exposure, and the fear of displacement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12064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6B80"/>
                </a:solidFill>
                <a:latin typeface="Calibri"/>
              </a:rPr>
              <a:t>Anthropic Economic Index · Massenkoff &amp; Huang ·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623560"/>
            <a:ext cx="2491740" cy="777240"/>
          </a:xfrm>
          <a:prstGeom prst="rect">
            <a:avLst/>
          </a:prstGeom>
          <a:solidFill>
            <a:srgbClr val="F5EFFA"/>
          </a:solidFill>
          <a:ln w="6350">
            <a:solidFill>
              <a:srgbClr val="E6D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5623560"/>
            <a:ext cx="73152" cy="77724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5696712"/>
            <a:ext cx="22631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200">
                <a:solidFill>
                  <a:srgbClr val="460073"/>
                </a:solidFill>
                <a:latin typeface="Calibri"/>
              </a:rPr>
              <a:t>SAMPLE SIZE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5916168"/>
            <a:ext cx="22631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Calibri"/>
              </a:rPr>
              <a:t>81,000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6140" y="5623560"/>
            <a:ext cx="2491740" cy="777240"/>
          </a:xfrm>
          <a:prstGeom prst="rect">
            <a:avLst/>
          </a:prstGeom>
          <a:solidFill>
            <a:srgbClr val="F5EFFA"/>
          </a:solidFill>
          <a:ln w="6350">
            <a:solidFill>
              <a:srgbClr val="E6D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6140" y="5623560"/>
            <a:ext cx="73152" cy="77724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0732" y="5696712"/>
            <a:ext cx="22631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200">
                <a:solidFill>
                  <a:srgbClr val="460073"/>
                </a:solidFill>
                <a:latin typeface="Calibri"/>
              </a:rPr>
              <a:t>MEAN PRODUCTIVITY RATING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0732" y="5916168"/>
            <a:ext cx="22631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Calibri"/>
              </a:rPr>
              <a:t>5.1 / 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5623560"/>
            <a:ext cx="2491740" cy="777240"/>
          </a:xfrm>
          <a:prstGeom prst="rect">
            <a:avLst/>
          </a:prstGeom>
          <a:solidFill>
            <a:srgbClr val="F5EFFA"/>
          </a:solidFill>
          <a:ln w="6350">
            <a:solidFill>
              <a:srgbClr val="E6D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80760" y="5623560"/>
            <a:ext cx="73152" cy="77724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5352" y="5696712"/>
            <a:ext cx="22631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200">
                <a:solidFill>
                  <a:srgbClr val="460073"/>
                </a:solidFill>
                <a:latin typeface="Calibri"/>
              </a:rPr>
              <a:t>VOICE DISPLACEMENT CONCERN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45352" y="5916168"/>
            <a:ext cx="22631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Calibri"/>
              </a:rPr>
              <a:t>1 in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55380" y="5623560"/>
            <a:ext cx="2491740" cy="777240"/>
          </a:xfrm>
          <a:prstGeom prst="rect">
            <a:avLst/>
          </a:prstGeom>
          <a:solidFill>
            <a:srgbClr val="F5EFFA"/>
          </a:solidFill>
          <a:ln w="6350">
            <a:solidFill>
              <a:srgbClr val="E6D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55380" y="5623560"/>
            <a:ext cx="73152" cy="77724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9972" y="5696712"/>
            <a:ext cx="22631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200">
                <a:solidFill>
                  <a:srgbClr val="460073"/>
                </a:solidFill>
                <a:latin typeface="Calibri"/>
              </a:rPr>
              <a:t>METHOD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9972" y="5916168"/>
            <a:ext cx="22631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Calibri"/>
              </a:rPr>
              <a:t>Open-ended survey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accenture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783080" y="310896"/>
            <a:ext cx="118872" cy="11887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A100FF"/>
                </a:solidFill>
                <a:latin typeface="Calibri"/>
              </a:rPr>
              <a:t>CONTEXT · WHY THIS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  <a:latin typeface="Calibri"/>
              </a:rPr>
              <a:t>From What AI Does → To How Users Feel About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44752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4A4A5E"/>
                </a:solidFill>
                <a:latin typeface="Calibri"/>
              </a:rPr>
              <a:t>First large-scale qualitative bridge between observed Claude usage and worker sentiment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19"/>
            <a:ext cx="11247120" cy="411480"/>
          </a:xfrm>
          <a:prstGeom prst="rect">
            <a:avLst/>
          </a:prstGeom>
          <a:solidFill>
            <a:srgbClr val="F5EFFA"/>
          </a:solidFill>
          <a:ln w="6350">
            <a:solidFill>
              <a:srgbClr val="E6D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74519"/>
            <a:ext cx="73152" cy="4114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9202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1">
                <a:solidFill>
                  <a:srgbClr val="1A1A2E"/>
                </a:solidFill>
                <a:latin typeface="Calibri"/>
              </a:rPr>
              <a:t>Prior Anthropic work measured what Claude is used for. This survey measures what those users feel.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14600"/>
            <a:ext cx="539496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514600"/>
            <a:ext cx="5394960" cy="45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679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300">
                <a:solidFill>
                  <a:srgbClr val="6B6B80"/>
                </a:solidFill>
                <a:latin typeface="Calibri"/>
              </a:rPr>
              <a:t>FROM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718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Calibri"/>
              </a:rPr>
              <a:t>What we knew 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474720"/>
            <a:ext cx="49377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>
                <a:solidFill>
                  <a:srgbClr val="A100FF"/>
                </a:solidFill>
                <a:latin typeface="Calibri"/>
              </a:rPr>
              <a:t>●  </a:t>
            </a:r>
            <a:r>
              <a:rPr sz="1050" b="0" i="0">
                <a:solidFill>
                  <a:srgbClr val="4A4A5E"/>
                </a:solidFill>
                <a:latin typeface="Calibri"/>
              </a:rPr>
              <a:t>Economic Index: tasks Claude performs</a:t>
            </a:r>
          </a:p>
          <a:p>
            <a:pPr algn="l">
              <a:lnSpc>
                <a:spcPct val="135000"/>
              </a:lnSpc>
            </a:pPr>
            <a:r>
              <a:rPr sz="1050">
                <a:solidFill>
                  <a:srgbClr val="A100FF"/>
                </a:solidFill>
                <a:latin typeface="Calibri"/>
              </a:rPr>
              <a:t>●  </a:t>
            </a:r>
            <a:r>
              <a:rPr sz="1050" b="0" i="0">
                <a:solidFill>
                  <a:srgbClr val="4A4A5E"/>
                </a:solidFill>
                <a:latin typeface="Calibri"/>
              </a:rPr>
              <a:t>Observed exposure: % of a role's tasks Claude touches</a:t>
            </a:r>
          </a:p>
          <a:p>
            <a:pPr algn="l">
              <a:lnSpc>
                <a:spcPct val="135000"/>
              </a:lnSpc>
            </a:pPr>
            <a:r>
              <a:rPr sz="1050">
                <a:solidFill>
                  <a:srgbClr val="A100FF"/>
                </a:solidFill>
                <a:latin typeface="Calibri"/>
              </a:rPr>
              <a:t>●  </a:t>
            </a:r>
            <a:r>
              <a:rPr sz="1050" b="0" i="0">
                <a:solidFill>
                  <a:srgbClr val="4A4A5E"/>
                </a:solidFill>
                <a:latin typeface="Calibri"/>
              </a:rPr>
              <a:t>Quantified usage — not perceptions</a:t>
            </a:r>
          </a:p>
          <a:p>
            <a:pPr algn="l">
              <a:lnSpc>
                <a:spcPct val="135000"/>
              </a:lnSpc>
            </a:pPr>
            <a:r>
              <a:rPr sz="1050">
                <a:solidFill>
                  <a:srgbClr val="A100FF"/>
                </a:solidFill>
                <a:latin typeface="Calibri"/>
              </a:rPr>
              <a:t>●  </a:t>
            </a:r>
            <a:r>
              <a:rPr sz="1050" b="0" i="0">
                <a:solidFill>
                  <a:srgbClr val="4A4A5E"/>
                </a:solidFill>
                <a:latin typeface="Calibri"/>
              </a:rPr>
              <a:t>No causal link to worker sentiment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514600"/>
            <a:ext cx="539496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2514600"/>
            <a:ext cx="5394960" cy="45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2679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300">
                <a:solidFill>
                  <a:srgbClr val="A100FF"/>
                </a:solidFill>
                <a:latin typeface="Calibri"/>
              </a:rPr>
              <a:t>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9718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Calibri"/>
              </a:rPr>
              <a:t>What this study adds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474720"/>
            <a:ext cx="49377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>
                <a:solidFill>
                  <a:srgbClr val="A100FF"/>
                </a:solidFill>
                <a:latin typeface="Calibri"/>
              </a:rPr>
              <a:t>●  </a:t>
            </a:r>
            <a:r>
              <a:rPr sz="1050" b="0" i="0">
                <a:solidFill>
                  <a:srgbClr val="4A4A5E"/>
                </a:solidFill>
                <a:latin typeface="Calibri"/>
              </a:rPr>
              <a:t>81,000 self-selected Claude users surveyed</a:t>
            </a:r>
          </a:p>
          <a:p>
            <a:pPr algn="l">
              <a:lnSpc>
                <a:spcPct val="135000"/>
              </a:lnSpc>
            </a:pPr>
            <a:r>
              <a:rPr sz="1050">
                <a:solidFill>
                  <a:srgbClr val="A100FF"/>
                </a:solidFill>
                <a:latin typeface="Calibri"/>
              </a:rPr>
              <a:t>●  </a:t>
            </a:r>
            <a:r>
              <a:rPr sz="1050" b="0" i="0">
                <a:solidFill>
                  <a:srgbClr val="4A4A5E"/>
                </a:solidFill>
                <a:latin typeface="Calibri"/>
              </a:rPr>
              <a:t>Open-ended interview inside Claude.ai</a:t>
            </a:r>
          </a:p>
          <a:p>
            <a:pPr algn="l">
              <a:lnSpc>
                <a:spcPct val="135000"/>
              </a:lnSpc>
            </a:pPr>
            <a:r>
              <a:rPr sz="1050">
                <a:solidFill>
                  <a:srgbClr val="A100FF"/>
                </a:solidFill>
                <a:latin typeface="Calibri"/>
              </a:rPr>
              <a:t>●  </a:t>
            </a:r>
            <a:r>
              <a:rPr sz="1050" b="0" i="0">
                <a:solidFill>
                  <a:srgbClr val="4A4A5E"/>
                </a:solidFill>
                <a:latin typeface="Calibri"/>
              </a:rPr>
              <a:t>LLM classifiers extract occupation, sentiment, stage</a:t>
            </a:r>
          </a:p>
          <a:p>
            <a:pPr algn="l">
              <a:lnSpc>
                <a:spcPct val="135000"/>
              </a:lnSpc>
            </a:pPr>
            <a:r>
              <a:rPr sz="1050">
                <a:solidFill>
                  <a:srgbClr val="A100FF"/>
                </a:solidFill>
                <a:latin typeface="Calibri"/>
              </a:rPr>
              <a:t>●  </a:t>
            </a:r>
            <a:r>
              <a:rPr sz="1050" b="0" i="0">
                <a:solidFill>
                  <a:srgbClr val="4A4A5E"/>
                </a:solidFill>
                <a:latin typeface="Calibri"/>
              </a:rPr>
              <a:t>Direct link between exposure data and felt threat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760720"/>
            <a:ext cx="3596640" cy="502920"/>
          </a:xfrm>
          <a:prstGeom prst="rect">
            <a:avLst/>
          </a:prstGeom>
          <a:solidFill>
            <a:srgbClr val="FAFAFC"/>
          </a:solidFill>
          <a:ln w="6350">
            <a:solidFill>
              <a:srgbClr val="D9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3596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460073"/>
                </a:solidFill>
                <a:latin typeface="Calibri"/>
              </a:rPr>
              <a:t>81,000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053328"/>
            <a:ext cx="3596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B6B80"/>
                </a:solidFill>
                <a:latin typeface="Calibri"/>
              </a:rPr>
              <a:t>users surveyed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82440" y="5760720"/>
            <a:ext cx="3596640" cy="502920"/>
          </a:xfrm>
          <a:prstGeom prst="rect">
            <a:avLst/>
          </a:prstGeom>
          <a:solidFill>
            <a:srgbClr val="FAFAFC"/>
          </a:solidFill>
          <a:ln w="6350">
            <a:solidFill>
              <a:srgbClr val="D9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82440" y="5806440"/>
            <a:ext cx="3596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460073"/>
                </a:solidFill>
                <a:latin typeface="Calibri"/>
              </a:rPr>
              <a:t>1 – 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82440" y="6053328"/>
            <a:ext cx="3596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B6B80"/>
                </a:solidFill>
                <a:latin typeface="Calibri"/>
              </a:rPr>
              <a:t>productivity rating scale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07680" y="5760720"/>
            <a:ext cx="3596640" cy="502920"/>
          </a:xfrm>
          <a:prstGeom prst="rect">
            <a:avLst/>
          </a:prstGeom>
          <a:solidFill>
            <a:srgbClr val="FAFAFC"/>
          </a:solidFill>
          <a:ln w="6350">
            <a:solidFill>
              <a:srgbClr val="D9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07680" y="5806440"/>
            <a:ext cx="3596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460073"/>
                </a:solidFill>
                <a:latin typeface="Calibri"/>
              </a:rPr>
              <a:t>Open-ended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07680" y="6053328"/>
            <a:ext cx="3596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B6B80"/>
                </a:solidFill>
                <a:latin typeface="Calibri"/>
              </a:rPr>
              <a:t>interview format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327648"/>
            <a:ext cx="11247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80"/>
                </a:solidFill>
                <a:latin typeface="Calibri"/>
              </a:rPr>
              <a:t>Source: Anthropic Research · Introduction &amp; Methodology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510528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6B80"/>
                </a:solidFill>
                <a:latin typeface="Calibri"/>
              </a:rPr>
              <a:t>Curated by aidigest.club  ·  AI Daily Reads  ·  Executive Brief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565392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6B80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accenture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783080" y="310896"/>
            <a:ext cx="118872" cy="11887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A100FF"/>
                </a:solidFill>
                <a:latin typeface="Calibri"/>
              </a:rPr>
              <a:t>DECK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  <a:latin typeface="Calibri"/>
              </a:rPr>
              <a:t>Five 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44752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4A4A5E"/>
                </a:solidFill>
                <a:latin typeface="Calibri"/>
              </a:rPr>
              <a:t>What this briefing covers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112471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73152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286000"/>
            <a:ext cx="10058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A100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2860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Calibri"/>
              </a:rPr>
              <a:t>Findings &amp; Trends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615184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4A4A5E"/>
                </a:solidFill>
                <a:latin typeface="Calibri"/>
              </a:rPr>
              <a:t>Three headline patterns from the survey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035808"/>
            <a:ext cx="112471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035808"/>
            <a:ext cx="73152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127248"/>
            <a:ext cx="10058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A100FF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2724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Calibri"/>
              </a:rPr>
              <a:t>Core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45643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4A4A5E"/>
                </a:solidFill>
                <a:latin typeface="Calibri"/>
              </a:rPr>
              <a:t>Sentiment tracks exposure · career stage matters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6"/>
            <a:ext cx="112471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77056"/>
            <a:ext cx="73152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968496"/>
            <a:ext cx="10058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A100FF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96849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Calibri"/>
              </a:rPr>
              <a:t>Thematic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29768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4A4A5E"/>
                </a:solidFill>
                <a:latin typeface="Calibri"/>
              </a:rPr>
              <a:t>Who fears AI · who actually benefits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718304"/>
            <a:ext cx="112471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718304"/>
            <a:ext cx="73152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809744"/>
            <a:ext cx="10058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A100FF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809744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Calibri"/>
              </a:rPr>
              <a:t>Strategic Insights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513892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4A4A5E"/>
                </a:solidFill>
                <a:latin typeface="Calibri"/>
              </a:rPr>
              <a:t>The U-shaped speedup-anxiety paradox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559552"/>
            <a:ext cx="73152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650992"/>
            <a:ext cx="10058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A100FF"/>
                </a:solidFill>
                <a:latin typeface="Calibr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65099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Calibri"/>
              </a:rPr>
              <a:t>Actions &amp; Recommendations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598017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4A4A5E"/>
                </a:solidFill>
                <a:latin typeface="Calibri"/>
              </a:rPr>
              <a:t>Five concrete moves for enterprise leaders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510528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6B80"/>
                </a:solidFill>
                <a:latin typeface="Calibri"/>
              </a:rPr>
              <a:t>Curated by aidigest.club  ·  AI Daily Reads  ·  Executive Brief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565392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6B80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500">
                <a:solidFill>
                  <a:srgbClr val="FFFFFF"/>
                </a:solidFill>
                <a:latin typeface="Calibri"/>
              </a:rPr>
              <a:t>ACT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33832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Findings &amp; Trends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828800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A4A5E"/>
                </a:solidFill>
                <a:latin typeface="Calibri"/>
              </a:rPr>
              <a:t>What the data shows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92608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A100FF"/>
                </a:solidFill>
                <a:latin typeface="Calibri"/>
              </a:rPr>
              <a:t>WHAT'S IN THIS 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3291840"/>
            <a:ext cx="71323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A100FF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1A1A2E"/>
                </a:solidFill>
                <a:latin typeface="Calibri"/>
              </a:rPr>
              <a:t>Exposure correlates with displacement fear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A100FF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1A1A2E"/>
                </a:solidFill>
                <a:latin typeface="Calibri"/>
              </a:rPr>
              <a:t>High AND low wage groups gain the most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A100FF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1A1A2E"/>
                </a:solidFill>
                <a:latin typeface="Calibri"/>
              </a:rPr>
              <a:t>Speedup feels empowering and threatening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510528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6B80"/>
                </a:solidFill>
                <a:latin typeface="Calibri"/>
              </a:rPr>
              <a:t>Curated by aidigest.club  ·  AI Daily Reads  ·  Executive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65392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6B80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accenture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783080" y="310896"/>
            <a:ext cx="118872" cy="11887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A100FF"/>
                </a:solidFill>
                <a:latin typeface="Calibri"/>
              </a:rPr>
              <a:t>ACT 01 · KEY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  <a:latin typeface="Calibri"/>
              </a:rPr>
              <a:t>The Headline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44752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4A4A5E"/>
                </a:solidFill>
                <a:latin typeface="Calibri"/>
              </a:rPr>
              <a:t>Productivity gains are real and large — anxiety scales with exposure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5509260" cy="16230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011680"/>
            <a:ext cx="5509260" cy="45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176272"/>
            <a:ext cx="49606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460073"/>
                </a:solidFill>
                <a:latin typeface="Calibri"/>
              </a:rPr>
              <a:t>5.1 /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52928"/>
            <a:ext cx="49606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2E"/>
                </a:solidFill>
                <a:latin typeface="Calibri"/>
              </a:rPr>
              <a:t>Mean productivity rating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00400"/>
            <a:ext cx="49606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4A4A5E"/>
                </a:solidFill>
                <a:latin typeface="Calibri"/>
              </a:rPr>
              <a:t>Self-reported on 1–7 scale · 5 ≈ substantially more productive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360420"/>
            <a:ext cx="49606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80"/>
                </a:solidFill>
                <a:latin typeface="Calibri"/>
              </a:rPr>
              <a:t>Source: §Who benefits from AI?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5060" y="2011680"/>
            <a:ext cx="5509260" cy="16230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5060" y="2011680"/>
            <a:ext cx="5509260" cy="45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76272"/>
            <a:ext cx="49606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460073"/>
                </a:solidFill>
                <a:latin typeface="Calibri"/>
              </a:rPr>
              <a:t>1 in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9380" y="2852928"/>
            <a:ext cx="49606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2E"/>
                </a:solidFill>
                <a:latin typeface="Calibri"/>
              </a:rPr>
              <a:t>Voice job-displacement concern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80" y="3200400"/>
            <a:ext cx="49606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4A4A5E"/>
                </a:solidFill>
                <a:latin typeface="Calibri"/>
              </a:rPr>
              <a:t>20% of respondents directly expressed worry about losing their role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9380" y="3360420"/>
            <a:ext cx="49606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80"/>
                </a:solidFill>
                <a:latin typeface="Calibri"/>
              </a:rPr>
              <a:t>Source: §Who worries about displacement?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863339"/>
            <a:ext cx="5509260" cy="16230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863339"/>
            <a:ext cx="5509260" cy="45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027931"/>
            <a:ext cx="49606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460073"/>
                </a:solidFill>
                <a:latin typeface="Calibri"/>
              </a:rPr>
              <a:t>3×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704588"/>
            <a:ext cx="49606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2E"/>
                </a:solidFill>
                <a:latin typeface="Calibri"/>
              </a:rPr>
              <a:t>Top vs bottom exposure quartile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52059"/>
            <a:ext cx="49606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4A4A5E"/>
                </a:solidFill>
                <a:latin typeface="Calibri"/>
              </a:rPr>
              <a:t>+1.3pt threat per 10pt exposure increase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212080"/>
            <a:ext cx="49606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80"/>
                </a:solidFill>
                <a:latin typeface="Calibri"/>
              </a:rPr>
              <a:t>Source: Figure 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5060" y="3863339"/>
            <a:ext cx="5509260" cy="16230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5060" y="3863339"/>
            <a:ext cx="5509260" cy="45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69380" y="4027931"/>
            <a:ext cx="49606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460073"/>
                </a:solidFill>
                <a:latin typeface="Calibri"/>
              </a:rPr>
              <a:t>48% · 40%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9380" y="4704588"/>
            <a:ext cx="49606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2E"/>
                </a:solidFill>
                <a:latin typeface="Calibri"/>
              </a:rPr>
              <a:t>Cite scope · speed gains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9380" y="5052059"/>
            <a:ext cx="49606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4A4A5E"/>
                </a:solidFill>
                <a:latin typeface="Calibri"/>
              </a:rPr>
              <a:t>Scope: “I'm a non-tech guy but now I'm a full-stack developer”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9380" y="5212080"/>
            <a:ext cx="49606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80"/>
                </a:solidFill>
                <a:latin typeface="Calibri"/>
              </a:rPr>
              <a:t>Source: §Scope and speed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623560"/>
            <a:ext cx="11247120" cy="640080"/>
          </a:xfrm>
          <a:prstGeom prst="rect">
            <a:avLst/>
          </a:prstGeom>
          <a:solidFill>
            <a:srgbClr val="F5EFFA"/>
          </a:solidFill>
          <a:ln w="6350">
            <a:solidFill>
              <a:srgbClr val="E6D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623560"/>
            <a:ext cx="73152" cy="6400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571500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1">
                <a:solidFill>
                  <a:srgbClr val="4A4A5E"/>
                </a:solidFill>
                <a:latin typeface="Calibri"/>
              </a:rPr>
              <a:t>Two stories sit on top of each other: AI makes people meaningfully more productive — and the same people, especially those most exposed, are increasingly nervous about what comes next.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510528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6B80"/>
                </a:solidFill>
                <a:latin typeface="Calibri"/>
              </a:rPr>
              <a:t>Curated by aidigest.club  ·  AI Daily Reads  ·  Executive Brief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565392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6B80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500">
                <a:solidFill>
                  <a:srgbClr val="FFFFFF"/>
                </a:solidFill>
                <a:latin typeface="Calibri"/>
              </a:rPr>
              <a:t>ACT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33832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Core 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828800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A4A5E"/>
                </a:solidFill>
                <a:latin typeface="Calibri"/>
              </a:rPr>
              <a:t>What the authors are arguing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92608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A100FF"/>
                </a:solidFill>
                <a:latin typeface="Calibri"/>
              </a:rPr>
              <a:t>WHAT'S IN THIS 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3291840"/>
            <a:ext cx="71323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A100FF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1A1A2E"/>
                </a:solidFill>
                <a:latin typeface="Calibri"/>
              </a:rPr>
              <a:t>Sentiment tracks observed exposure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A100FF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1A1A2E"/>
                </a:solidFill>
                <a:latin typeface="Calibri"/>
              </a:rPr>
              <a:t>Career stage shapes everything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A100FF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1A1A2E"/>
                </a:solidFill>
                <a:latin typeface="Calibri"/>
              </a:rPr>
              <a:t>Benefits ≠ feeling safe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510528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6B80"/>
                </a:solidFill>
                <a:latin typeface="Calibri"/>
              </a:rPr>
              <a:t>Curated by aidigest.club  ·  AI Daily Reads  ·  Executive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65392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6B80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accenture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783080" y="310896"/>
            <a:ext cx="118872" cy="11887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A100FF"/>
                </a:solidFill>
                <a:latin typeface="Calibri"/>
              </a:rPr>
              <a:t>ACT 02 · 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  <a:latin typeface="Calibri"/>
              </a:rPr>
              <a:t>People's Intuitions Match the Usage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44752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4A4A5E"/>
                </a:solidFill>
                <a:latin typeface="Calibri"/>
              </a:rPr>
              <a:t>Worker anxiety is concentrated where Claude is most active — not paranoia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65960"/>
            <a:ext cx="685800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965960"/>
            <a:ext cx="6858000" cy="45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103120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A100FF"/>
                </a:solidFill>
                <a:latin typeface="Calibri"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1A1A2E"/>
                </a:solidFill>
                <a:latin typeface="Calibri"/>
              </a:rPr>
              <a:t>People's intuitions track the usage data: they worry most about AI's effect in the jobs where we observe Claude doing the most work.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5487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60073"/>
                </a:solidFill>
                <a:latin typeface="Calibri"/>
              </a:rPr>
              <a:t>— Anthropic Research · Discussion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1965960"/>
            <a:ext cx="4114800" cy="3200400"/>
          </a:xfrm>
          <a:prstGeom prst="rect">
            <a:avLst/>
          </a:prstGeom>
          <a:solidFill>
            <a:srgbClr val="F5EFFA"/>
          </a:solidFill>
          <a:ln w="6350">
            <a:solidFill>
              <a:srgbClr val="E6D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89520" y="1965960"/>
            <a:ext cx="73152" cy="32004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8120" y="219456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300">
                <a:solidFill>
                  <a:srgbClr val="A100FF"/>
                </a:solidFill>
                <a:latin typeface="Calibri"/>
              </a:rPr>
              <a:t>VOICE FROM THE FIELD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2560320"/>
            <a:ext cx="3749039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4A4A5E"/>
                </a:solidFill>
                <a:latin typeface="Calibri"/>
              </a:rPr>
              <a:t>“Like anyone who has a white collar job these days, I'm 100% concerned, pretty much 24/7 concerned about losing my job eventually to A.I.”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754879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460073"/>
                </a:solidFill>
                <a:latin typeface="Calibri"/>
              </a:rPr>
              <a:t>— Software engineer · survey respondent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349240"/>
            <a:ext cx="11247120" cy="105156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513831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300">
                <a:solidFill>
                  <a:srgbClr val="00BFA5"/>
                </a:solidFill>
                <a:latin typeface="Calibri"/>
              </a:rPr>
              <a:t>WHY THIS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Workers can feel the diffusion of AI in their own occupations long before formal labor statistics show displacement. The fear is rational — and concentrated where Claude is most active.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510528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6B80"/>
                </a:solidFill>
                <a:latin typeface="Calibri"/>
              </a:rPr>
              <a:t>Curated by aidigest.club  ·  AI Daily Reads  ·  Executive Brief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65392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6B80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accenture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783080" y="310896"/>
            <a:ext cx="118872" cy="11887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A100FF"/>
                </a:solidFill>
                <a:latin typeface="Calibri"/>
              </a:rPr>
              <a:t>ACT 02 ·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  <a:latin typeface="Calibri"/>
              </a:rPr>
              <a:t>Three Patterns Behind the Headlines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44752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4A4A5E"/>
                </a:solidFill>
                <a:latin typeface="Calibri"/>
              </a:rPr>
              <a:t>Productivity, threat perception, and benefit flow each follow distinct distributions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362712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011680"/>
            <a:ext cx="3627120" cy="45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212848"/>
            <a:ext cx="1371600" cy="25603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21284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spc="200">
                <a:solidFill>
                  <a:srgbClr val="FFFFFF"/>
                </a:solidFill>
                <a:latin typeface="Calibri"/>
              </a:rPr>
              <a:t>PATTERN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78608"/>
            <a:ext cx="316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Exposure → Threat Perception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429000"/>
            <a:ext cx="3169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4A5E"/>
                </a:solidFill>
                <a:latin typeface="Calibri"/>
              </a:rPr>
              <a:t>The more AI does in your occupation, the more you fear displacement. Linear, measurable, and consistent.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937760"/>
            <a:ext cx="3169920" cy="9144"/>
          </a:xfrm>
          <a:prstGeom prst="rect">
            <a:avLst/>
          </a:prstGeom>
          <a:solidFill>
            <a:srgbClr val="D9D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029200"/>
            <a:ext cx="3169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300">
                <a:solidFill>
                  <a:srgbClr val="A100FF"/>
                </a:solidFill>
                <a:latin typeface="Calibri"/>
              </a:rPr>
              <a:t>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85232"/>
            <a:ext cx="316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4A4A5E"/>
                </a:solidFill>
                <a:latin typeface="Calibri"/>
              </a:rPr>
              <a:t>+1.3pt threat per 10pt exposure. Top quartile mentions worry 3× as often as bottom quartile.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108192"/>
            <a:ext cx="3169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80"/>
                </a:solidFill>
                <a:latin typeface="Calibri"/>
              </a:rPr>
              <a:t>Source: Figure 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67200" y="2011680"/>
            <a:ext cx="362712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67200" y="2011680"/>
            <a:ext cx="3627120" cy="45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95800" y="2212848"/>
            <a:ext cx="1371600" cy="25603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5800" y="221284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spc="200">
                <a:solidFill>
                  <a:srgbClr val="FFFFFF"/>
                </a:solidFill>
                <a:latin typeface="Calibri"/>
              </a:rPr>
              <a:t>PATTERN 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5800" y="2578608"/>
            <a:ext cx="316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Wage Distribution Is Bimodal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5800" y="3429000"/>
            <a:ext cx="3169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4A5E"/>
                </a:solidFill>
                <a:latin typeface="Calibri"/>
              </a:rPr>
              <a:t>Highest- and lowest-wage occupations report the largest productivity gains. Middle-wage gains least.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5800" y="4937760"/>
            <a:ext cx="3169920" cy="9144"/>
          </a:xfrm>
          <a:prstGeom prst="rect">
            <a:avLst/>
          </a:prstGeom>
          <a:solidFill>
            <a:srgbClr val="D9D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95800" y="5029200"/>
            <a:ext cx="3169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300">
                <a:solidFill>
                  <a:srgbClr val="A100FF"/>
                </a:solidFill>
                <a:latin typeface="Calibri"/>
              </a:rPr>
              <a:t>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5800" y="5285232"/>
            <a:ext cx="316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4A4A5E"/>
                </a:solidFill>
                <a:latin typeface="Calibri"/>
              </a:rPr>
              <a:t>Software developers report top gains — but so do customer service reps building side businesses.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95800" y="6108192"/>
            <a:ext cx="3169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80"/>
                </a:solidFill>
                <a:latin typeface="Calibri"/>
              </a:rPr>
              <a:t>Source: Figure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77200" y="2011680"/>
            <a:ext cx="362712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77200" y="2011680"/>
            <a:ext cx="3627120" cy="45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305800" y="2212848"/>
            <a:ext cx="1371600" cy="25603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05800" y="221284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spc="200">
                <a:solidFill>
                  <a:srgbClr val="FFFFFF"/>
                </a:solidFill>
                <a:latin typeface="Calibri"/>
              </a:rPr>
              <a:t>PATTERN 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5800" y="2578608"/>
            <a:ext cx="316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Career Stage Splits Beneficiaries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5800" y="3429000"/>
            <a:ext cx="3169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4A5E"/>
                </a:solidFill>
                <a:latin typeface="Calibri"/>
              </a:rPr>
              <a:t>Early-career workers are simultaneously more anxious and less confident they personally benefit.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05800" y="4937760"/>
            <a:ext cx="3169920" cy="9144"/>
          </a:xfrm>
          <a:prstGeom prst="rect">
            <a:avLst/>
          </a:prstGeom>
          <a:solidFill>
            <a:srgbClr val="D9D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05800" y="5029200"/>
            <a:ext cx="3169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300">
                <a:solidFill>
                  <a:srgbClr val="A100FF"/>
                </a:solidFill>
                <a:latin typeface="Calibri"/>
              </a:rPr>
              <a:t>EVIDENCE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5800" y="5285232"/>
            <a:ext cx="316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4A4A5E"/>
                </a:solidFill>
                <a:latin typeface="Calibri"/>
              </a:rPr>
              <a:t>Only 60% of early-career say they personally benefit, vs 80% of senior professionals.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5800" y="6108192"/>
            <a:ext cx="3169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80"/>
                </a:solidFill>
                <a:latin typeface="Calibri"/>
              </a:rPr>
              <a:t>Source: Figure 2 &amp;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510528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6B80"/>
                </a:solidFill>
                <a:latin typeface="Calibri"/>
              </a:rPr>
              <a:t>Curated by aidigest.club  ·  AI Daily Reads  ·  Executive Brief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565392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6B80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500">
                <a:solidFill>
                  <a:srgbClr val="FFFFFF"/>
                </a:solidFill>
                <a:latin typeface="Calibri"/>
              </a:rPr>
              <a:t>ACT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33832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Thematic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828800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A4A5E"/>
                </a:solidFill>
                <a:latin typeface="Calibri"/>
              </a:rPr>
              <a:t>How AI restructures who wins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92608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A100FF"/>
                </a:solidFill>
                <a:latin typeface="Calibri"/>
              </a:rPr>
              <a:t>WHAT'S IN THIS 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3291840"/>
            <a:ext cx="71323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A100FF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1A1A2E"/>
                </a:solidFill>
                <a:latin typeface="Calibri"/>
              </a:rPr>
              <a:t>Scope before speed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A100FF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1A1A2E"/>
                </a:solidFill>
                <a:latin typeface="Calibri"/>
              </a:rPr>
              <a:t>U-shape: speedup ↔ anxiety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A100FF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1A1A2E"/>
                </a:solidFill>
                <a:latin typeface="Calibri"/>
              </a:rPr>
              <a:t>Beneficiary ≠ 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510528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6B80"/>
                </a:solidFill>
                <a:latin typeface="Calibri"/>
              </a:rPr>
              <a:t>Curated by aidigest.club  ·  AI Daily Reads  ·  Executive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65392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6B80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accenture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783080" y="310896"/>
            <a:ext cx="118872" cy="11887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A100FF"/>
                </a:solidFill>
                <a:latin typeface="Calibri"/>
              </a:rPr>
              <a:t>ACT 03 · THEME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  <a:latin typeface="Calibri"/>
              </a:rPr>
              <a:t>Scope and Speed — Not Just Speed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44752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4A4A5E"/>
                </a:solidFill>
                <a:latin typeface="Calibri"/>
              </a:rPr>
              <a:t>Most users describe AI unlocking new abilities, not just faster execution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548640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011680"/>
            <a:ext cx="5486400" cy="45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212848"/>
            <a:ext cx="1645920" cy="274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1284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 spc="200">
                <a:solidFill>
                  <a:srgbClr val="FFFFFF"/>
                </a:solidFill>
                <a:latin typeface="Calibri"/>
              </a:rPr>
              <a:t>SCOPE · 48%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06040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Calibri"/>
              </a:rPr>
              <a:t>Access to new capabilities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00400"/>
            <a:ext cx="4937760" cy="2148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>
                <a:solidFill>
                  <a:srgbClr val="A100FF"/>
                </a:solidFill>
                <a:latin typeface="Calibri"/>
              </a:rPr>
              <a:t>●  </a:t>
            </a:r>
            <a:r>
              <a:rPr sz="1050" b="0" i="0">
                <a:solidFill>
                  <a:srgbClr val="4A4A5E"/>
                </a:solidFill>
                <a:latin typeface="Calibri"/>
              </a:rPr>
              <a:t>“I'm a non-tech guy but now I'm a full-stack developer”</a:t>
            </a:r>
          </a:p>
          <a:p>
            <a:pPr algn="l">
              <a:lnSpc>
                <a:spcPct val="135000"/>
              </a:lnSpc>
            </a:pPr>
            <a:r>
              <a:rPr sz="1050">
                <a:solidFill>
                  <a:srgbClr val="A100FF"/>
                </a:solidFill>
                <a:latin typeface="Calibri"/>
              </a:rPr>
              <a:t>●  </a:t>
            </a:r>
            <a:r>
              <a:rPr sz="1050" b="0" i="0">
                <a:solidFill>
                  <a:srgbClr val="4A4A5E"/>
                </a:solidFill>
                <a:latin typeface="Calibri"/>
              </a:rPr>
              <a:t>Customer service rep starts e-commerce business</a:t>
            </a:r>
          </a:p>
          <a:p>
            <a:pPr algn="l">
              <a:lnSpc>
                <a:spcPct val="135000"/>
              </a:lnSpc>
            </a:pPr>
            <a:r>
              <a:rPr sz="1050">
                <a:solidFill>
                  <a:srgbClr val="A100FF"/>
                </a:solidFill>
                <a:latin typeface="Calibri"/>
              </a:rPr>
              <a:t>●  </a:t>
            </a:r>
            <a:r>
              <a:rPr sz="1050" b="0" i="0">
                <a:solidFill>
                  <a:srgbClr val="4A4A5E"/>
                </a:solidFill>
                <a:latin typeface="Calibri"/>
              </a:rPr>
              <a:t>Landscaper builds a music application</a:t>
            </a:r>
          </a:p>
          <a:p>
            <a:pPr algn="l">
              <a:lnSpc>
                <a:spcPct val="135000"/>
              </a:lnSpc>
            </a:pPr>
            <a:r>
              <a:rPr sz="1050">
                <a:solidFill>
                  <a:srgbClr val="A100FF"/>
                </a:solidFill>
                <a:latin typeface="Calibri"/>
              </a:rPr>
              <a:t>●  </a:t>
            </a:r>
            <a:r>
              <a:rPr sz="1050" b="0" i="0">
                <a:solidFill>
                  <a:srgbClr val="4A4A5E"/>
                </a:solidFill>
                <a:latin typeface="Calibri"/>
              </a:rPr>
              <a:t>Users attempt tasks they could not do before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011680"/>
            <a:ext cx="548640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2011680"/>
            <a:ext cx="5486400" cy="45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92240" y="2212848"/>
            <a:ext cx="1645920" cy="274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21284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 spc="200">
                <a:solidFill>
                  <a:srgbClr val="FFFFFF"/>
                </a:solidFill>
                <a:latin typeface="Calibri"/>
              </a:rPr>
              <a:t>SPEED · 40%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606040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Calibri"/>
              </a:rPr>
              <a:t>Faster execution of existing 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00400"/>
            <a:ext cx="4937760" cy="2148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>
                <a:solidFill>
                  <a:srgbClr val="A100FF"/>
                </a:solidFill>
                <a:latin typeface="Calibri"/>
              </a:rPr>
              <a:t>●  </a:t>
            </a:r>
            <a:r>
              <a:rPr sz="1050" b="0" i="0">
                <a:solidFill>
                  <a:srgbClr val="4A4A5E"/>
                </a:solidFill>
                <a:latin typeface="Calibri"/>
              </a:rPr>
              <a:t>“15 minutes that used to take 2 hours” — accountant</a:t>
            </a:r>
          </a:p>
          <a:p>
            <a:pPr algn="l">
              <a:lnSpc>
                <a:spcPct val="135000"/>
              </a:lnSpc>
            </a:pPr>
            <a:r>
              <a:rPr sz="1050">
                <a:solidFill>
                  <a:srgbClr val="A100FF"/>
                </a:solidFill>
                <a:latin typeface="Calibri"/>
              </a:rPr>
              <a:t>●  </a:t>
            </a:r>
            <a:r>
              <a:rPr sz="1050" b="0" i="0">
                <a:solidFill>
                  <a:srgbClr val="4A4A5E"/>
                </a:solidFill>
                <a:latin typeface="Calibri"/>
              </a:rPr>
              <a:t>Faster code reviews, contract checks, paperwork</a:t>
            </a:r>
          </a:p>
          <a:p>
            <a:pPr algn="l">
              <a:lnSpc>
                <a:spcPct val="135000"/>
              </a:lnSpc>
            </a:pPr>
            <a:r>
              <a:rPr sz="1050">
                <a:solidFill>
                  <a:srgbClr val="A100FF"/>
                </a:solidFill>
                <a:latin typeface="Calibri"/>
              </a:rPr>
              <a:t>●  </a:t>
            </a:r>
            <a:r>
              <a:rPr sz="1050" b="0" i="0">
                <a:solidFill>
                  <a:srgbClr val="4A4A5E"/>
                </a:solidFill>
                <a:latin typeface="Calibri"/>
              </a:rPr>
              <a:t>Quality gains via more thorough verification</a:t>
            </a:r>
          </a:p>
          <a:p>
            <a:pPr algn="l">
              <a:lnSpc>
                <a:spcPct val="135000"/>
              </a:lnSpc>
            </a:pPr>
            <a:r>
              <a:rPr sz="1050">
                <a:solidFill>
                  <a:srgbClr val="A100FF"/>
                </a:solidFill>
                <a:latin typeface="Calibri"/>
              </a:rPr>
              <a:t>●  </a:t>
            </a:r>
            <a:r>
              <a:rPr sz="1050" b="0" i="0">
                <a:solidFill>
                  <a:srgbClr val="4A4A5E"/>
                </a:solidFill>
                <a:latin typeface="Calibri"/>
              </a:rPr>
              <a:t>Cost gains: replace work that exceeded budget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623560"/>
            <a:ext cx="11247120" cy="77724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715000"/>
            <a:ext cx="10789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300">
                <a:solidFill>
                  <a:srgbClr val="00BFA5"/>
                </a:solidFill>
                <a:latin typeface="Calibri"/>
              </a:rPr>
              <a:t>WHY THIS MATTERS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971032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AI is not just an efficiency tool — for many users, it is an access tool. The distinction shapes who gains and how.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00800"/>
            <a:ext cx="11247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80"/>
                </a:solidFill>
                <a:latin typeface="Calibri"/>
              </a:rPr>
              <a:t>Source: §Scope and speed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510528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6B80"/>
                </a:solidFill>
                <a:latin typeface="Calibri"/>
              </a:rPr>
              <a:t>Curated by aidigest.club  ·  AI Daily Reads  ·  Executive Brief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65392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6B80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accenture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783080" y="310896"/>
            <a:ext cx="118872" cy="11887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A100FF"/>
                </a:solidFill>
                <a:latin typeface="Calibri"/>
              </a:rPr>
              <a:t>ACT 03 · THEME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  <a:latin typeface="Calibri"/>
              </a:rPr>
              <a:t>Speedup and Anxiety Form a U-Shape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44752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4A4A5E"/>
                </a:solidFill>
                <a:latin typeface="Calibri"/>
              </a:rPr>
              <a:t>Both extremes — being slowed down and being sped up the most — correlate with the highest job threat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548640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011680"/>
            <a:ext cx="5486400" cy="45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212848"/>
            <a:ext cx="1645920" cy="274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1284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 spc="200">
                <a:solidFill>
                  <a:srgbClr val="FFFFFF"/>
                </a:solidFill>
                <a:latin typeface="Calibri"/>
              </a:rPr>
              <a:t>LEFT TAIL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06040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Calibri"/>
              </a:rPr>
              <a:t>Slowed-down users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00400"/>
            <a:ext cx="4937760" cy="2148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>
                <a:solidFill>
                  <a:srgbClr val="A100FF"/>
                </a:solidFill>
                <a:latin typeface="Calibri"/>
              </a:rPr>
              <a:t>●  </a:t>
            </a:r>
            <a:r>
              <a:rPr sz="1050" b="0" i="0">
                <a:solidFill>
                  <a:srgbClr val="4A4A5E"/>
                </a:solidFill>
                <a:latin typeface="Calibri"/>
              </a:rPr>
              <a:t>Creative workers find AI stifling and rigid</a:t>
            </a:r>
          </a:p>
          <a:p>
            <a:pPr algn="l">
              <a:lnSpc>
                <a:spcPct val="135000"/>
              </a:lnSpc>
            </a:pPr>
            <a:r>
              <a:rPr sz="1050">
                <a:solidFill>
                  <a:srgbClr val="A100FF"/>
                </a:solidFill>
                <a:latin typeface="Calibri"/>
              </a:rPr>
              <a:t>●  </a:t>
            </a:r>
            <a:r>
              <a:rPr sz="1050" b="0" i="0">
                <a:solidFill>
                  <a:srgbClr val="4A4A5E"/>
                </a:solidFill>
                <a:latin typeface="Calibri"/>
              </a:rPr>
              <a:t>Still fear AI diffusion into their field</a:t>
            </a:r>
          </a:p>
          <a:p>
            <a:pPr algn="l">
              <a:lnSpc>
                <a:spcPct val="135000"/>
              </a:lnSpc>
            </a:pPr>
            <a:r>
              <a:rPr sz="1050">
                <a:solidFill>
                  <a:srgbClr val="A100FF"/>
                </a:solidFill>
                <a:latin typeface="Calibri"/>
              </a:rPr>
              <a:t>●  </a:t>
            </a:r>
            <a:r>
              <a:rPr sz="1050" b="0" i="0">
                <a:solidFill>
                  <a:srgbClr val="4A4A5E"/>
                </a:solidFill>
                <a:latin typeface="Calibri"/>
              </a:rPr>
              <a:t>Examples: fine artists, certain writers</a:t>
            </a:r>
          </a:p>
          <a:p>
            <a:pPr algn="l">
              <a:lnSpc>
                <a:spcPct val="135000"/>
              </a:lnSpc>
            </a:pPr>
            <a:r>
              <a:rPr sz="1050">
                <a:solidFill>
                  <a:srgbClr val="A100FF"/>
                </a:solidFill>
                <a:latin typeface="Calibri"/>
              </a:rPr>
              <a:t>●  </a:t>
            </a:r>
            <a:r>
              <a:rPr sz="1050" b="0" i="0">
                <a:solidFill>
                  <a:srgbClr val="4A4A5E"/>
                </a:solidFill>
                <a:latin typeface="Calibri"/>
              </a:rPr>
              <a:t>Highest threat perception among groups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011680"/>
            <a:ext cx="548640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2011680"/>
            <a:ext cx="5486400" cy="45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92240" y="2212848"/>
            <a:ext cx="1645920" cy="274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21284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 spc="200">
                <a:solidFill>
                  <a:srgbClr val="FFFFFF"/>
                </a:solidFill>
                <a:latin typeface="Calibri"/>
              </a:rPr>
              <a:t>RIGHT TAIL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606040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Calibri"/>
              </a:rPr>
              <a:t>Sped-up users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00400"/>
            <a:ext cx="4937760" cy="2148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>
                <a:solidFill>
                  <a:srgbClr val="A100FF"/>
                </a:solidFill>
                <a:latin typeface="Calibri"/>
              </a:rPr>
              <a:t>●  </a:t>
            </a:r>
            <a:r>
              <a:rPr sz="1050" b="0" i="0">
                <a:solidFill>
                  <a:srgbClr val="4A4A5E"/>
                </a:solidFill>
                <a:latin typeface="Calibri"/>
              </a:rPr>
              <a:t>Largest measured productivity gains</a:t>
            </a:r>
          </a:p>
          <a:p>
            <a:pPr algn="l">
              <a:lnSpc>
                <a:spcPct val="135000"/>
              </a:lnSpc>
            </a:pPr>
            <a:r>
              <a:rPr sz="1050">
                <a:solidFill>
                  <a:srgbClr val="A100FF"/>
                </a:solidFill>
                <a:latin typeface="Calibri"/>
              </a:rPr>
              <a:t>●  </a:t>
            </a:r>
            <a:r>
              <a:rPr sz="1050" b="0" i="0">
                <a:solidFill>
                  <a:srgbClr val="4A4A5E"/>
                </a:solidFill>
                <a:latin typeface="Calibri"/>
              </a:rPr>
              <a:t>Above-baseline threat perception</a:t>
            </a:r>
          </a:p>
          <a:p>
            <a:pPr algn="l">
              <a:lnSpc>
                <a:spcPct val="135000"/>
              </a:lnSpc>
            </a:pPr>
            <a:r>
              <a:rPr sz="1050">
                <a:solidFill>
                  <a:srgbClr val="A100FF"/>
                </a:solidFill>
                <a:latin typeface="Calibri"/>
              </a:rPr>
              <a:t>●  </a:t>
            </a:r>
            <a:r>
              <a:rPr sz="1050" b="0" i="0">
                <a:solidFill>
                  <a:srgbClr val="4A4A5E"/>
                </a:solidFill>
                <a:latin typeface="Calibri"/>
              </a:rPr>
              <a:t>Logic: if tasks shrink rapidly, what is left?</a:t>
            </a:r>
          </a:p>
          <a:p>
            <a:pPr algn="l">
              <a:lnSpc>
                <a:spcPct val="135000"/>
              </a:lnSpc>
            </a:pPr>
            <a:r>
              <a:rPr sz="1050">
                <a:solidFill>
                  <a:srgbClr val="A100FF"/>
                </a:solidFill>
                <a:latin typeface="Calibri"/>
              </a:rPr>
              <a:t>●  </a:t>
            </a:r>
            <a:r>
              <a:rPr sz="1050" b="0" i="0">
                <a:solidFill>
                  <a:srgbClr val="4A4A5E"/>
                </a:solidFill>
                <a:latin typeface="Calibri"/>
              </a:rPr>
              <a:t>Speed gain does not equal job security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623560"/>
            <a:ext cx="11247120" cy="77724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715000"/>
            <a:ext cx="10789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300">
                <a:solidFill>
                  <a:srgbClr val="00BFA5"/>
                </a:solidFill>
                <a:latin typeface="Calibri"/>
              </a:rPr>
              <a:t>STRATEGIC IMPLICATION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971032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The narrative “AI just makes good workers more productive” misses half the story. The most-empowered users are also the most worried.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00800"/>
            <a:ext cx="11247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80"/>
                </a:solidFill>
                <a:latin typeface="Calibri"/>
              </a:rPr>
              <a:t>Source: Figure 6 · U-shaped relationship between speedup level and perceived job threat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510528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6B80"/>
                </a:solidFill>
                <a:latin typeface="Calibri"/>
              </a:rPr>
              <a:t>Curated by aidigest.club  ·  AI Daily Reads  ·  Executive Brief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65392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6B80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500">
                <a:solidFill>
                  <a:srgbClr val="FFFFFF"/>
                </a:solidFill>
                <a:latin typeface="Calibri"/>
              </a:rPr>
              <a:t>ACT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33832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Strategic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828800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A4A5E"/>
                </a:solidFill>
                <a:latin typeface="Calibri"/>
              </a:rPr>
              <a:t>Hidden structural risks behind the positive top-line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92608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A100FF"/>
                </a:solidFill>
                <a:latin typeface="Calibri"/>
              </a:rPr>
              <a:t>WHAT'S IN THIS 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3291840"/>
            <a:ext cx="71323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A100FF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1A1A2E"/>
                </a:solidFill>
                <a:latin typeface="Calibri"/>
              </a:rPr>
              <a:t>Beneficiary capture by employers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A100FF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1A1A2E"/>
                </a:solidFill>
                <a:latin typeface="Calibri"/>
              </a:rPr>
              <a:t>Early-career squeeze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A100FF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1A1A2E"/>
                </a:solidFill>
                <a:latin typeface="Calibri"/>
              </a:rPr>
              <a:t>Bargaining power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510528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6B80"/>
                </a:solidFill>
                <a:latin typeface="Calibri"/>
              </a:rPr>
              <a:t>Curated by aidigest.club  ·  AI Daily Reads  ·  Executive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65392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6B80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accenture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783080" y="310896"/>
            <a:ext cx="118872" cy="11887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A100FF"/>
                </a:solidFill>
                <a:latin typeface="Calibri"/>
              </a:rPr>
              <a:t>ACT 04 ·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  <a:latin typeface="Calibri"/>
              </a:rPr>
              <a:t>Two Long-Term Structural Risks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44752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4A4A5E"/>
                </a:solidFill>
                <a:latin typeface="Calibri"/>
              </a:rPr>
              <a:t>Today's positive sentiment hides questions about who actually captures the gains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548640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011680"/>
            <a:ext cx="91440" cy="420624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240280"/>
            <a:ext cx="1371600" cy="274320"/>
          </a:xfrm>
          <a:prstGeom prst="rect">
            <a:avLst/>
          </a:prstGeom>
          <a:solidFill>
            <a:srgbClr val="00B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402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 spc="200">
                <a:solidFill>
                  <a:srgbClr val="FFFFFF"/>
                </a:solidFill>
                <a:latin typeface="Calibri"/>
              </a:rPr>
              <a:t>RISK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Calibri"/>
              </a:rPr>
              <a:t>Beneficiary Capture by Employers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38328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4A5E"/>
                </a:solidFill>
                <a:latin typeface="Calibri"/>
              </a:rPr>
              <a:t>Most workers say benefits flow to themselves — but a meaningful share report employers extracting the gains.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434840"/>
            <a:ext cx="4937760" cy="9144"/>
          </a:xfrm>
          <a:prstGeom prst="rect">
            <a:avLst/>
          </a:prstGeom>
          <a:solidFill>
            <a:srgbClr val="D9D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526280"/>
            <a:ext cx="4937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300">
                <a:solidFill>
                  <a:srgbClr val="A100FF"/>
                </a:solidFill>
                <a:latin typeface="Calibri"/>
              </a:rPr>
              <a:t>SIGNAL IN THE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73168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4A4A5E"/>
                </a:solidFill>
                <a:latin typeface="Calibri"/>
              </a:rPr>
              <a:t>10% of respondents who named a beneficiary said their employer or clients were the ones getting more work from them.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212079"/>
            <a:ext cx="5303520" cy="868680"/>
          </a:xfrm>
          <a:prstGeom prst="rect">
            <a:avLst/>
          </a:prstGeom>
          <a:solidFill>
            <a:srgbClr val="F5EFFA"/>
          </a:solidFill>
          <a:ln w="6350">
            <a:solidFill>
              <a:srgbClr val="E6D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285231"/>
            <a:ext cx="4937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300">
                <a:solidFill>
                  <a:srgbClr val="460073"/>
                </a:solidFill>
                <a:latin typeface="Calibri"/>
              </a:rPr>
              <a:t>IMPLICATION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504688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60073"/>
                </a:solidFill>
                <a:latin typeface="Calibri"/>
              </a:rPr>
              <a:t>Productivity gain ≠ wage gain. Without bargaining power, the surplus accrues to firms, not workers.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2011680"/>
            <a:ext cx="548640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2011680"/>
            <a:ext cx="91440" cy="420624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92240" y="2240280"/>
            <a:ext cx="1371600" cy="274320"/>
          </a:xfrm>
          <a:prstGeom prst="rect">
            <a:avLst/>
          </a:prstGeom>
          <a:solidFill>
            <a:srgbClr val="00B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2402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 spc="200">
                <a:solidFill>
                  <a:srgbClr val="FFFFFF"/>
                </a:solidFill>
                <a:latin typeface="Calibri"/>
              </a:rPr>
              <a:t>RISK 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651760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Calibri"/>
              </a:rPr>
              <a:t>Early-Career Squeeze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38328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4A5E"/>
                </a:solidFill>
                <a:latin typeface="Calibri"/>
              </a:rPr>
              <a:t>The cohort with the most anxiety is also the cohort least confident they personally benefit — a structural mismatch.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4434840"/>
            <a:ext cx="4937760" cy="9144"/>
          </a:xfrm>
          <a:prstGeom prst="rect">
            <a:avLst/>
          </a:prstGeom>
          <a:solidFill>
            <a:srgbClr val="D9D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4526280"/>
            <a:ext cx="4937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300">
                <a:solidFill>
                  <a:srgbClr val="A100FF"/>
                </a:solidFill>
                <a:latin typeface="Calibri"/>
              </a:rPr>
              <a:t>AUTHOR FRAMING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773168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4A4A5E"/>
                </a:solidFill>
                <a:latin typeface="Calibri"/>
              </a:rPr>
              <a:t>Only 60% of early-career workers see themselves benefiting (vs 80% of senior). Hiring of recent grads already slowing in the U.S.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59" y="5212079"/>
            <a:ext cx="5303520" cy="868680"/>
          </a:xfrm>
          <a:prstGeom prst="rect">
            <a:avLst/>
          </a:prstGeom>
          <a:solidFill>
            <a:srgbClr val="F5EFFA"/>
          </a:solidFill>
          <a:ln w="6350">
            <a:solidFill>
              <a:srgbClr val="E6D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5285231"/>
            <a:ext cx="4937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300">
                <a:solidFill>
                  <a:srgbClr val="460073"/>
                </a:solidFill>
                <a:latin typeface="Calibri"/>
              </a:rPr>
              <a:t>IMPLICATION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504688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60073"/>
                </a:solidFill>
                <a:latin typeface="Calibri"/>
              </a:rPr>
              <a:t>The traditional ‘climb the ladder’ career path may be eroding from the bottom rungs first.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263640"/>
            <a:ext cx="11247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80"/>
                </a:solidFill>
                <a:latin typeface="Calibri"/>
              </a:rPr>
              <a:t>Source: Figure 4 · Discussion section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510528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6B80"/>
                </a:solidFill>
                <a:latin typeface="Calibri"/>
              </a:rPr>
              <a:t>Curated by aidigest.club  ·  AI Daily Reads  ·  Executive Brief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565392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6B80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500">
                <a:solidFill>
                  <a:srgbClr val="FFFFFF"/>
                </a:solidFill>
                <a:latin typeface="Calibri"/>
              </a:rPr>
              <a:t>ACT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33832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Actions &amp;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828800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A4A5E"/>
                </a:solidFill>
                <a:latin typeface="Calibri"/>
              </a:rPr>
              <a:t>What enterprise leaders should do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92608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A100FF"/>
                </a:solidFill>
                <a:latin typeface="Calibri"/>
              </a:rPr>
              <a:t>WHAT'S IN THIS 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3291840"/>
            <a:ext cx="71323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A100FF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1A1A2E"/>
                </a:solidFill>
                <a:latin typeface="Calibri"/>
              </a:rPr>
              <a:t>Map internal exposure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A100FF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1A1A2E"/>
                </a:solidFill>
                <a:latin typeface="Calibri"/>
              </a:rPr>
              <a:t>Reframe AI as access tool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A100FF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1A1A2E"/>
                </a:solidFill>
                <a:latin typeface="Calibri"/>
              </a:rPr>
              <a:t>Share productivity upside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510528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6B80"/>
                </a:solidFill>
                <a:latin typeface="Calibri"/>
              </a:rPr>
              <a:t>Curated by aidigest.club  ·  AI Daily Reads  ·  Executive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65392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6B80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accenture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783080" y="310896"/>
            <a:ext cx="118872" cy="11887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A100FF"/>
                </a:solidFill>
                <a:latin typeface="Calibri"/>
              </a:rPr>
              <a:t>ACT 05 ·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  <a:latin typeface="Calibri"/>
              </a:rPr>
              <a:t>Five Moves for Enterprise Leaders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44752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4A4A5E"/>
                </a:solidFill>
                <a:latin typeface="Calibri"/>
              </a:rPr>
              <a:t>Workers' fear of AI is rational and predictable — you can act on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65960"/>
            <a:ext cx="11247120" cy="36576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411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30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965960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300">
                <a:solidFill>
                  <a:srgbClr val="FFFFFF"/>
                </a:solidFill>
                <a:latin typeface="Calibri"/>
              </a:rPr>
              <a:t>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965960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300">
                <a:solidFill>
                  <a:srgbClr val="FFFFFF"/>
                </a:solidFill>
                <a:latin typeface="Calibri"/>
              </a:rPr>
              <a:t>WHAT TO 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19659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300">
                <a:solidFill>
                  <a:srgbClr val="FFFFFF"/>
                </a:solidFill>
                <a:latin typeface="Calibri"/>
              </a:rPr>
              <a:t>VALUE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04872"/>
            <a:ext cx="11247120" cy="716889"/>
          </a:xfrm>
          <a:prstGeom prst="rect">
            <a:avLst/>
          </a:prstGeom>
          <a:solidFill>
            <a:srgbClr val="FFFFFF"/>
          </a:solidFill>
          <a:ln w="3810">
            <a:solidFill>
              <a:srgbClr val="D9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404872"/>
            <a:ext cx="502920" cy="7168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A100FF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478024"/>
            <a:ext cx="3337560" cy="5797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Calibri"/>
              </a:rPr>
              <a:t>Measure Exposure Internally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478024"/>
            <a:ext cx="3611880" cy="5797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4A4A5E"/>
                </a:solidFill>
                <a:latin typeface="Calibri"/>
              </a:rPr>
              <a:t>Build your own observed-exposure map: % of each role's tasks done by AI today.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19" y="2478024"/>
            <a:ext cx="3154679" cy="5797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1">
                <a:solidFill>
                  <a:srgbClr val="460073"/>
                </a:solidFill>
                <a:latin typeface="Calibri"/>
              </a:rPr>
              <a:t>Identify which teams will feel threatened first · prioritize change management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13201"/>
            <a:ext cx="11247120" cy="716889"/>
          </a:xfrm>
          <a:prstGeom prst="rect">
            <a:avLst/>
          </a:prstGeom>
          <a:solidFill>
            <a:srgbClr val="FAFAFC"/>
          </a:solidFill>
          <a:ln w="3810">
            <a:solidFill>
              <a:srgbClr val="D9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213201"/>
            <a:ext cx="502920" cy="7168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A100FF"/>
                </a:solidFill>
                <a:latin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286353"/>
            <a:ext cx="3337560" cy="5797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Calibri"/>
              </a:rPr>
              <a:t>Focus on Scope, Not Just Speed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3286353"/>
            <a:ext cx="3611880" cy="5797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4A4A5E"/>
                </a:solidFill>
                <a:latin typeface="Calibri"/>
              </a:rPr>
              <a:t>Position AI as an access tool enabling new tasks — rather than a labor-cost cutter.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3286353"/>
            <a:ext cx="3154679" cy="5797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1">
                <a:solidFill>
                  <a:srgbClr val="460073"/>
                </a:solidFill>
                <a:latin typeface="Calibri"/>
              </a:rPr>
              <a:t>Aligns with the 48% who frame AI as scope-expansion · reduces displacement framing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021531"/>
            <a:ext cx="11247120" cy="716889"/>
          </a:xfrm>
          <a:prstGeom prst="rect">
            <a:avLst/>
          </a:prstGeom>
          <a:solidFill>
            <a:srgbClr val="FFFFFF"/>
          </a:solidFill>
          <a:ln w="3810">
            <a:solidFill>
              <a:srgbClr val="D9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021531"/>
            <a:ext cx="502920" cy="7168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A100FF"/>
                </a:solidFill>
                <a:latin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094683"/>
            <a:ext cx="3337560" cy="5797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Calibri"/>
              </a:rPr>
              <a:t>Re-design Junior Pathways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4094683"/>
            <a:ext cx="3611880" cy="5797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4A4A5E"/>
                </a:solidFill>
                <a:latin typeface="Calibri"/>
              </a:rPr>
              <a:t>Create AI-augmented apprenticeship programs that explicitly protect early-career development.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094683"/>
            <a:ext cx="3154679" cy="5797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1">
                <a:solidFill>
                  <a:srgbClr val="460073"/>
                </a:solidFill>
                <a:latin typeface="Calibri"/>
              </a:rPr>
              <a:t>Counters the early-career squeeze · preserves the future senior pipeline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829860"/>
            <a:ext cx="11247120" cy="716889"/>
          </a:xfrm>
          <a:prstGeom prst="rect">
            <a:avLst/>
          </a:prstGeom>
          <a:solidFill>
            <a:srgbClr val="FAFAFC"/>
          </a:solidFill>
          <a:ln w="3810">
            <a:solidFill>
              <a:srgbClr val="D9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829860"/>
            <a:ext cx="502920" cy="7168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A100FF"/>
                </a:solidFill>
                <a:latin typeface="Calibri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903012"/>
            <a:ext cx="3337560" cy="5797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Calibri"/>
              </a:rPr>
              <a:t>Share Productivity Upside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4903012"/>
            <a:ext cx="3611880" cy="5797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4A4A5E"/>
                </a:solidFill>
                <a:latin typeface="Calibri"/>
              </a:rPr>
              <a:t>Explicit gain-sharing schemes — bonuses, equity, or time-off — tied to AI-driven productivity wins.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4903012"/>
            <a:ext cx="3154679" cy="5797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1">
                <a:solidFill>
                  <a:srgbClr val="460073"/>
                </a:solidFill>
                <a:latin typeface="Calibri"/>
              </a:rPr>
              <a:t>Closes the employer-capture gap · converts anxiety into engagement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638190"/>
            <a:ext cx="11247120" cy="716889"/>
          </a:xfrm>
          <a:prstGeom prst="rect">
            <a:avLst/>
          </a:prstGeom>
          <a:solidFill>
            <a:srgbClr val="FFFFFF"/>
          </a:solidFill>
          <a:ln w="3810">
            <a:solidFill>
              <a:srgbClr val="D9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638190"/>
            <a:ext cx="502920" cy="7168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A100FF"/>
                </a:solidFill>
                <a:latin typeface="Calibri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5711342"/>
            <a:ext cx="3337560" cy="5797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Calibri"/>
              </a:rPr>
              <a:t>Listen to Anxious Top Performers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5711342"/>
            <a:ext cx="3611880" cy="5797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4A4A5E"/>
                </a:solidFill>
                <a:latin typeface="Calibri"/>
              </a:rPr>
              <a:t>Run sentiment listening explicitly with highest-speedup workers. Don't assume they feel safest.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19" y="5711342"/>
            <a:ext cx="3154679" cy="5797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1">
                <a:solidFill>
                  <a:srgbClr val="460073"/>
                </a:solidFill>
                <a:latin typeface="Calibri"/>
              </a:rPr>
              <a:t>Heads off attrition in highest-leverage staff · turns U-shape insight into retention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510528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6B80"/>
                </a:solidFill>
                <a:latin typeface="Calibri"/>
              </a:rPr>
              <a:t>Curated by aidigest.club  ·  AI Daily Reads  ·  Executive Brief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565392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6B80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accenture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783080" y="310896"/>
            <a:ext cx="118872" cy="11887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A100FF"/>
                </a:solidFill>
                <a:latin typeface="Calibri"/>
              </a:rPr>
              <a:t>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  <a:latin typeface="Calibri"/>
              </a:rPr>
              <a:t>The Big Picture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44752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4A4A5E"/>
                </a:solidFill>
                <a:latin typeface="Calibri"/>
              </a:rPr>
              <a:t>AI is empowering and unsettling its users at the same time — the two feelings live in the same people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3627120" cy="3291840"/>
          </a:xfrm>
          <a:prstGeom prst="rect">
            <a:avLst/>
          </a:prstGeom>
          <a:solidFill>
            <a:srgbClr val="F5EFFA"/>
          </a:solidFill>
          <a:ln w="6350">
            <a:solidFill>
              <a:srgbClr val="E6D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307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A100FF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307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460073"/>
                </a:solidFill>
                <a:latin typeface="Calibri"/>
              </a:rPr>
              <a:t>What changed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39312"/>
            <a:ext cx="457200" cy="2743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794760"/>
            <a:ext cx="30784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E"/>
                </a:solidFill>
                <a:latin typeface="Calibri"/>
              </a:rPr>
              <a:t>The first large-scale qualitative data linking observed AI usage to user sentiment. Productivity gains are real, broad-based, and skewed bimodally across the wage distribution.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67200" y="2011680"/>
            <a:ext cx="3627120" cy="3291840"/>
          </a:xfrm>
          <a:prstGeom prst="rect">
            <a:avLst/>
          </a:prstGeom>
          <a:solidFill>
            <a:srgbClr val="F5EFFA"/>
          </a:solidFill>
          <a:ln w="6350">
            <a:solidFill>
              <a:srgbClr val="E6D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1520" y="2240280"/>
            <a:ext cx="307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A100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1520" y="3017520"/>
            <a:ext cx="307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460073"/>
                </a:solidFill>
                <a:latin typeface="Calibri"/>
              </a:rPr>
              <a:t>What it means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41520" y="3639312"/>
            <a:ext cx="457200" cy="2743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3794760"/>
            <a:ext cx="30784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E"/>
                </a:solidFill>
                <a:latin typeface="Calibri"/>
              </a:rPr>
              <a:t>Worker anxiety is not paranoia — it tracks measurable exposure. The most-empowered users are simultaneously the most worried. Career stage shapes who benefits.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77200" y="2011680"/>
            <a:ext cx="3627120" cy="3291840"/>
          </a:xfrm>
          <a:prstGeom prst="rect">
            <a:avLst/>
          </a:prstGeom>
          <a:solidFill>
            <a:srgbClr val="F5EFFA"/>
          </a:solidFill>
          <a:ln w="6350">
            <a:solidFill>
              <a:srgbClr val="E6D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1520" y="2240280"/>
            <a:ext cx="307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A100FF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1520" y="3017520"/>
            <a:ext cx="307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460073"/>
                </a:solidFill>
                <a:latin typeface="Calibri"/>
              </a:rPr>
              <a:t>What to watch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51520" y="3639312"/>
            <a:ext cx="457200" cy="2743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51520" y="3794760"/>
            <a:ext cx="30784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E"/>
                </a:solidFill>
                <a:latin typeface="Calibri"/>
              </a:rPr>
              <a:t>Beneficiary capture (who keeps the surplus) and the early-career squeeze (who gets in) are the two structural risks behind the positive top-line numbers.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577840"/>
            <a:ext cx="11247120" cy="77724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5778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1">
                <a:solidFill>
                  <a:srgbClr val="FFFFFF"/>
                </a:solidFill>
                <a:latin typeface="Calibri"/>
              </a:rPr>
              <a:t>The opportunity is not just to deploy AI — it is to do so in a way that lets the workforce share both the upside and the certainty.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510528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6B80"/>
                </a:solidFill>
                <a:latin typeface="Calibri"/>
              </a:rPr>
              <a:t>Curated by aidigest.club  ·  AI Daily Reads  ·  Executive Brief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565392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6B80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accenture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783080" y="310896"/>
            <a:ext cx="118872" cy="11887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A100FF"/>
                </a:solidFill>
                <a:latin typeface="Calibri"/>
              </a:rPr>
              <a:t>SOURCES &amp; CITATIONS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  <a:latin typeface="Calibri"/>
              </a:rP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44752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4A4A5E"/>
                </a:solidFill>
                <a:latin typeface="Calibri"/>
              </a:rPr>
              <a:t>Primary source, methodology, and where each statistic appears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362712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011680"/>
            <a:ext cx="3627120" cy="45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94560"/>
            <a:ext cx="316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A100FF"/>
                </a:solidFill>
                <a:latin typeface="Calibri"/>
              </a:rPr>
              <a:t>PRIMARY 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697480"/>
            <a:ext cx="3169920" cy="3428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>
                <a:solidFill>
                  <a:srgbClr val="A100FF"/>
                </a:solidFill>
                <a:latin typeface="Calibri"/>
              </a:rPr>
              <a:t>●  </a:t>
            </a:r>
            <a:r>
              <a:rPr sz="950" b="0" i="0">
                <a:solidFill>
                  <a:srgbClr val="4A4A5E"/>
                </a:solidFill>
                <a:latin typeface="Calibri"/>
              </a:rPr>
              <a:t>Massenkoff, M. &amp; Huang, S. (2026). What 81,000 people told us about the economics of AI. Anthropic Research / Economic Index.</a:t>
            </a:r>
          </a:p>
          <a:p>
            <a:pPr algn="l">
              <a:lnSpc>
                <a:spcPct val="140000"/>
              </a:lnSpc>
            </a:pPr>
            <a:r>
              <a:rPr sz="950">
                <a:solidFill>
                  <a:srgbClr val="A100FF"/>
                </a:solidFill>
                <a:latin typeface="Calibri"/>
              </a:rPr>
              <a:t>●  </a:t>
            </a:r>
            <a:r>
              <a:rPr sz="950" b="0" i="0">
                <a:solidFill>
                  <a:srgbClr val="4A4A5E"/>
                </a:solidFill>
                <a:latin typeface="Calibri"/>
              </a:rPr>
              <a:t>Companion: Anthropic Economic Index March 2026 Report.</a:t>
            </a:r>
          </a:p>
          <a:p>
            <a:pPr algn="l">
              <a:lnSpc>
                <a:spcPct val="140000"/>
              </a:lnSpc>
            </a:pPr>
            <a:r>
              <a:rPr sz="950">
                <a:solidFill>
                  <a:srgbClr val="A100FF"/>
                </a:solidFill>
                <a:latin typeface="Calibri"/>
              </a:rPr>
              <a:t>●  </a:t>
            </a:r>
            <a:r>
              <a:rPr sz="950" b="0" i="0">
                <a:solidFill>
                  <a:srgbClr val="4A4A5E"/>
                </a:solidFill>
                <a:latin typeface="Calibri"/>
              </a:rPr>
              <a:t>URL: https://www.anthropic.com/research/81k-economics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67200" y="2011680"/>
            <a:ext cx="362712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67200" y="2011680"/>
            <a:ext cx="3627120" cy="45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5800" y="2194560"/>
            <a:ext cx="316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A100FF"/>
                </a:solidFill>
                <a:latin typeface="Calibri"/>
              </a:rPr>
              <a:t>METHODOLOGY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5800" y="2697480"/>
            <a:ext cx="3169920" cy="3428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>
                <a:solidFill>
                  <a:srgbClr val="A100FF"/>
                </a:solidFill>
                <a:latin typeface="Calibri"/>
              </a:rPr>
              <a:t>●  </a:t>
            </a:r>
            <a:r>
              <a:rPr sz="950" b="0" i="0">
                <a:solidFill>
                  <a:srgbClr val="4A4A5E"/>
                </a:solidFill>
                <a:latin typeface="Calibri"/>
              </a:rPr>
              <a:t>Sample: 81,000 self-selected Claude.ai personal-account users (acknowledgements cite 80,508).</a:t>
            </a:r>
          </a:p>
          <a:p>
            <a:pPr algn="l">
              <a:lnSpc>
                <a:spcPct val="140000"/>
              </a:lnSpc>
            </a:pPr>
            <a:r>
              <a:rPr sz="950">
                <a:solidFill>
                  <a:srgbClr val="A100FF"/>
                </a:solidFill>
                <a:latin typeface="Calibri"/>
              </a:rPr>
              <a:t>●  </a:t>
            </a:r>
            <a:r>
              <a:rPr sz="950" b="0" i="0">
                <a:solidFill>
                  <a:srgbClr val="4A4A5E"/>
                </a:solidFill>
                <a:latin typeface="Calibri"/>
              </a:rPr>
              <a:t>Format: Open-ended interview embedded in Anthropic Interviewer inside Claude.ai.</a:t>
            </a:r>
          </a:p>
          <a:p>
            <a:pPr algn="l">
              <a:lnSpc>
                <a:spcPct val="140000"/>
              </a:lnSpc>
            </a:pPr>
            <a:r>
              <a:rPr sz="950">
                <a:solidFill>
                  <a:srgbClr val="A100FF"/>
                </a:solidFill>
                <a:latin typeface="Calibri"/>
              </a:rPr>
              <a:t>●  </a:t>
            </a:r>
            <a:r>
              <a:rPr sz="950" b="0" i="0">
                <a:solidFill>
                  <a:srgbClr val="4A4A5E"/>
                </a:solidFill>
                <a:latin typeface="Calibri"/>
              </a:rPr>
              <a:t>Inference: Claude-powered classifiers extract occupation, career stage, productivity, threat, beneficiary.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7200" y="2011680"/>
            <a:ext cx="362712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77200" y="2011680"/>
            <a:ext cx="3627120" cy="45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5800" y="2194560"/>
            <a:ext cx="316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A100FF"/>
                </a:solidFill>
                <a:latin typeface="Calibri"/>
              </a:rPr>
              <a:t>WHERE EACH STATISTIC APPEARS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5800" y="2697480"/>
            <a:ext cx="3169920" cy="3428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>
                <a:solidFill>
                  <a:srgbClr val="A100FF"/>
                </a:solidFill>
                <a:latin typeface="Calibri"/>
              </a:rPr>
              <a:t>●  </a:t>
            </a:r>
            <a:r>
              <a:rPr sz="950" b="0" i="0">
                <a:solidFill>
                  <a:srgbClr val="4A4A5E"/>
                </a:solidFill>
                <a:latin typeface="Calibri"/>
              </a:rPr>
              <a:t>5.1 mean productivity rating — §Who benefits from AI?</a:t>
            </a:r>
          </a:p>
          <a:p>
            <a:pPr algn="l">
              <a:lnSpc>
                <a:spcPct val="140000"/>
              </a:lnSpc>
            </a:pPr>
            <a:r>
              <a:rPr sz="950">
                <a:solidFill>
                  <a:srgbClr val="A100FF"/>
                </a:solidFill>
                <a:latin typeface="Calibri"/>
              </a:rPr>
              <a:t>●  </a:t>
            </a:r>
            <a:r>
              <a:rPr sz="950" b="0" i="0">
                <a:solidFill>
                  <a:srgbClr val="4A4A5E"/>
                </a:solidFill>
                <a:latin typeface="Calibri"/>
              </a:rPr>
              <a:t>1 in 5 voice job-loss concern — §Who worries about displacement?</a:t>
            </a:r>
          </a:p>
          <a:p>
            <a:pPr algn="l">
              <a:lnSpc>
                <a:spcPct val="140000"/>
              </a:lnSpc>
            </a:pPr>
            <a:r>
              <a:rPr sz="950">
                <a:solidFill>
                  <a:srgbClr val="A100FF"/>
                </a:solidFill>
                <a:latin typeface="Calibri"/>
              </a:rPr>
              <a:t>●  </a:t>
            </a:r>
            <a:r>
              <a:rPr sz="950" b="0" i="0">
                <a:solidFill>
                  <a:srgbClr val="4A4A5E"/>
                </a:solidFill>
                <a:latin typeface="Calibri"/>
              </a:rPr>
              <a:t>+1.3pt threat per 10pt exposure · 3× top-vs-bottom — Figure 1</a:t>
            </a:r>
          </a:p>
          <a:p>
            <a:pPr algn="l">
              <a:lnSpc>
                <a:spcPct val="140000"/>
              </a:lnSpc>
            </a:pPr>
            <a:r>
              <a:rPr sz="950">
                <a:solidFill>
                  <a:srgbClr val="A100FF"/>
                </a:solidFill>
                <a:latin typeface="Calibri"/>
              </a:rPr>
              <a:t>●  </a:t>
            </a:r>
            <a:r>
              <a:rPr sz="950" b="0" i="0">
                <a:solidFill>
                  <a:srgbClr val="4A4A5E"/>
                </a:solidFill>
                <a:latin typeface="Calibri"/>
              </a:rPr>
              <a:t>48% scope · 40% speed — §Scope and speed</a:t>
            </a:r>
          </a:p>
          <a:p>
            <a:pPr algn="l">
              <a:lnSpc>
                <a:spcPct val="140000"/>
              </a:lnSpc>
            </a:pPr>
            <a:r>
              <a:rPr sz="950">
                <a:solidFill>
                  <a:srgbClr val="A100FF"/>
                </a:solidFill>
                <a:latin typeface="Calibri"/>
              </a:rPr>
              <a:t>●  </a:t>
            </a:r>
            <a:r>
              <a:rPr sz="950" b="0" i="0">
                <a:solidFill>
                  <a:srgbClr val="4A4A5E"/>
                </a:solidFill>
                <a:latin typeface="Calibri"/>
              </a:rPr>
              <a:t>60% early-career vs 80% senior benefit — Figure 4</a:t>
            </a:r>
          </a:p>
          <a:p>
            <a:pPr algn="l">
              <a:lnSpc>
                <a:spcPct val="140000"/>
              </a:lnSpc>
            </a:pPr>
            <a:r>
              <a:rPr sz="950">
                <a:solidFill>
                  <a:srgbClr val="A100FF"/>
                </a:solidFill>
                <a:latin typeface="Calibri"/>
              </a:rPr>
              <a:t>●  </a:t>
            </a:r>
            <a:r>
              <a:rPr sz="950" b="0" i="0">
                <a:solidFill>
                  <a:srgbClr val="4A4A5E"/>
                </a:solidFill>
                <a:latin typeface="Calibri"/>
              </a:rPr>
              <a:t>U-shape between speedup and threat — Figure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510528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Calibri"/>
              </a:rPr>
              <a:t>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6B80"/>
                </a:solidFill>
                <a:latin typeface="Calibri"/>
              </a:rPr>
              <a:t>Curated by aidigest.club  ·  AI Daily Reads  ·  Executive Brief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565392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6B80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accenture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2240280" y="676656"/>
            <a:ext cx="146304" cy="146304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500">
                <a:solidFill>
                  <a:srgbClr val="A100FF"/>
                </a:solidFill>
                <a:latin typeface="Calibri"/>
              </a:rPr>
              <a:t>AI DAILY READS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6400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 i="0">
                <a:solidFill>
                  <a:srgbClr val="1A1A2E"/>
                </a:solidFill>
                <a:latin typeface="Calibri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9768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4A4A5E"/>
                </a:solidFill>
                <a:latin typeface="Calibri"/>
              </a:rPr>
              <a:t>Curated executive briefs · aidigest.club / reads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1206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300">
                <a:solidFill>
                  <a:srgbClr val="A100FF"/>
                </a:solidFill>
                <a:latin typeface="Calibri"/>
              </a:rPr>
              <a:t>READ THE FULL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44068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https://www.anthropic.com/research/81k-economics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37744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FFFFFF"/>
                </a:solidFill>
                <a:latin typeface="Calibri"/>
              </a:rPr>
              <a:t>VISIT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834640"/>
            <a:ext cx="3931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aidigest.club / reads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3840480"/>
            <a:ext cx="3931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Daily curated AI signals · Deep-read briefs · GitHub trending · LMArena monthly rankings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